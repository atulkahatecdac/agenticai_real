
<file path=[Content_Types].xml><?xml version="1.0" encoding="utf-8"?>
<Types xmlns="http://schemas.openxmlformats.org/package/2006/content-types">
  <Default Extension="img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2" r:id="rId3"/>
    <p:sldId id="2708" r:id="rId4"/>
    <p:sldId id="2709" r:id="rId5"/>
    <p:sldId id="2710" r:id="rId6"/>
    <p:sldId id="2711" r:id="rId7"/>
    <p:sldId id="271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4EC36-DA29-F1ED-F660-F15AB5571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CB4885-2E30-9DDE-CC0A-0861DDA9D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48305-3F87-F9E9-A038-4DFD69CB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6BEF-66EF-46E1-9C53-8C89142BB6DC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34B13-B37F-E9D3-C6FB-728C31ADB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75D84-3EF6-3BE5-A882-9B50BFF26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37A1-67DA-4D41-9A2F-4075AA6C6E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320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CD6FF-C5CD-CB9A-D0B8-F89E00CE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30BE0-7326-CE53-2784-04FA6EE81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A2B02-9930-71E6-E3E1-F912B0B44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6BEF-66EF-46E1-9C53-8C89142BB6DC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46F78-7082-3471-4AC5-3FE3F8243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D1B12-3E14-EE9F-9C01-AC64E5ABC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37A1-67DA-4D41-9A2F-4075AA6C6E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296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21501-AE93-51E7-7B78-2E0713772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AB1FB-6316-68B8-41C4-817CA2175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14238-80C4-93F6-ACEB-520F91FC5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6BEF-66EF-46E1-9C53-8C89142BB6DC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FBCF0-7F0D-FB4D-61AA-AD7DD9B81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B7876-309C-371E-9241-71334CD21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37A1-67DA-4D41-9A2F-4075AA6C6E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5309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8654A-A915-9CB3-4976-89832E8E1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14EED-9979-F555-54D9-59D7271320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85893-6A25-B079-ADCA-58FCADCC0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832B4-AF5E-FBF4-221F-7F1F92CF1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6BEF-66EF-46E1-9C53-8C89142BB6DC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1DD95-FBC5-E589-C2C5-AB06989EE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BCAAB-E012-92BB-3F9A-F372C1075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37A1-67DA-4D41-9A2F-4075AA6C6E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916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439EB-5BC0-B3FF-3936-790E94737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D68A2-2072-EA93-382D-0721CCEB2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00025-1641-2F8F-989B-0B389FC7F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2C24DF-6AC3-A7A8-4559-97C628702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5FB3A-2330-BE8F-C0DD-5AD832F1F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9710DA-0189-E8FC-4062-1E625A9A8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6BEF-66EF-46E1-9C53-8C89142BB6DC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64BA4D-0893-627B-8A6F-DF61CF8DB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A6047-977B-2A84-79D2-F54FF6F91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37A1-67DA-4D41-9A2F-4075AA6C6E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313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BCDB7-236E-0688-0279-7CDDA002B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6C5402-B4B4-82F7-06BF-91B1A14D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6BEF-66EF-46E1-9C53-8C89142BB6DC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8F86D-A55B-B15D-BC0D-4AEFF82F5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C7EED1-FBCF-E20D-F59A-620926CA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37A1-67DA-4D41-9A2F-4075AA6C6E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319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96112D-71E5-B3F3-3985-F5A1BEA5C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6BEF-66EF-46E1-9C53-8C89142BB6DC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3E0069-BE60-613A-0D3D-DFC80C036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A4D2D-818B-6233-04F7-6A52EA660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37A1-67DA-4D41-9A2F-4075AA6C6E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17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054EB-25E0-09B0-BD30-182E6E9A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AA09A-48F7-6B5D-49CA-CF7B64DB3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DE9B8-88A3-4CEE-0739-209A81921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DAE8A-97F5-561B-214A-7D911DD55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6BEF-66EF-46E1-9C53-8C89142BB6DC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C7231-6497-663C-CB0B-16FA53CF6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AF6A6-9371-9272-06AF-6E0BE5C5E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37A1-67DA-4D41-9A2F-4075AA6C6E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98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001E9-9C5C-2EEE-DBF3-35FA07FF5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C69B21-C238-3023-5DB5-A4267E03B1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619F9A-279D-2645-8A49-03CED905B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B6637-9AE7-7679-DD92-9C3A61510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6BEF-66EF-46E1-9C53-8C89142BB6DC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DAB0D-F47D-A7D3-DF78-F6453CC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32786-5730-A9B1-41F2-F252A609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37A1-67DA-4D41-9A2F-4075AA6C6E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9382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27126-4432-693F-5A9C-6393848E3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606CF-E1CE-F327-0F8E-B96F1A53B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7CCAF-8EE3-413F-DB2D-CCA84CE7F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6BEF-66EF-46E1-9C53-8C89142BB6DC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D0A0C-672E-F7DE-762D-B1AD4AEB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CCEB4-ACE7-9F40-3EE4-BC4D3741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37A1-67DA-4D41-9A2F-4075AA6C6E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92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9A260A-C4DB-011B-9409-B29CD2584E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D4B8CA-A954-FCA5-5498-7DBF08493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A2FBC-8DD7-E74E-5EC2-8CAB428C6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6BEF-66EF-46E1-9C53-8C89142BB6DC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D48EC-18C4-DECB-F81C-56965F411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AB928-C67A-5920-14CB-29829969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37A1-67DA-4D41-9A2F-4075AA6C6E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274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CC7B0-DD85-6F2B-5B8D-62B1E6F35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E53D2-8128-02F5-BF2A-A5A8F116E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4F2C1-EC58-11DB-29E2-28AAD44615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C6BEF-66EF-46E1-9C53-8C89142BB6DC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716EE-2080-422F-F2DB-0155BA4616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55B11-C41B-8D6D-317C-DA043ED41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837A1-67DA-4D41-9A2F-4075AA6C6E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97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netindia.com/full-stack-web-developer-course-kolkata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t.wikipedia.org/wiki/Macintosh_II" TargetMode="Externa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13" Type="http://schemas.openxmlformats.org/officeDocument/2006/relationships/hyperlink" Target="https://creativecommons.org/licenses/by-nd/3.0/" TargetMode="External"/><Relationship Id="rId18" Type="http://schemas.openxmlformats.org/officeDocument/2006/relationships/image" Target="../media/image10.img"/><Relationship Id="rId3" Type="http://schemas.openxmlformats.org/officeDocument/2006/relationships/hyperlink" Target="https://navatel.ir/blog/what-is-api/" TargetMode="External"/><Relationship Id="rId21" Type="http://schemas.openxmlformats.org/officeDocument/2006/relationships/hyperlink" Target="https://www.telegraphindia.com/west-bengal/kolkata/go-slow-reflective-tape-on-guardrails-used-by-police-for-road-safety-at-night-prnt/cid/2140363" TargetMode="External"/><Relationship Id="rId7" Type="http://schemas.openxmlformats.org/officeDocument/2006/relationships/hyperlink" Target="https://cloudnetindia.com/full-stack-web-developer-course-kolkata/" TargetMode="External"/><Relationship Id="rId12" Type="http://schemas.openxmlformats.org/officeDocument/2006/relationships/hyperlink" Target="https://www.programandoamedianoche.com/2009/07/enlace-a-data-objects-en-wpf/" TargetMode="External"/><Relationship Id="rId17" Type="http://schemas.openxmlformats.org/officeDocument/2006/relationships/hyperlink" Target="https://openclipart.org/detail/15042/stick-figure-female" TargetMode="External"/><Relationship Id="rId2" Type="http://schemas.openxmlformats.org/officeDocument/2006/relationships/image" Target="../media/image3.png"/><Relationship Id="rId16" Type="http://schemas.openxmlformats.org/officeDocument/2006/relationships/image" Target="../media/image9.png"/><Relationship Id="rId20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11" Type="http://schemas.openxmlformats.org/officeDocument/2006/relationships/image" Target="../media/image7.jpg"/><Relationship Id="rId5" Type="http://schemas.openxmlformats.org/officeDocument/2006/relationships/hyperlink" Target="https://freesvg.org/sandisk-cruzer-micro-4gb-flash-drive-vector-image" TargetMode="External"/><Relationship Id="rId15" Type="http://schemas.openxmlformats.org/officeDocument/2006/relationships/hyperlink" Target="https://medium.com/@facubozzi/building-a-vector-database-from-scratch-in-typescript-a009cee67dc0" TargetMode="External"/><Relationship Id="rId10" Type="http://schemas.openxmlformats.org/officeDocument/2006/relationships/image" Target="../media/image6.jpeg"/><Relationship Id="rId19" Type="http://schemas.openxmlformats.org/officeDocument/2006/relationships/hyperlink" Target="https://www.msn.com/en-us/health/mindandbody/the-1-habit-to-start-to-improve-your-memory-recommended-by-brain-experts/ar-AA1Tk0gZ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techtootalk.com/learn-ai-agents-step-by-step" TargetMode="External"/><Relationship Id="rId1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0DFF8-C0A9-D7A9-C620-084E49BBB9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Agentic AI</a:t>
            </a:r>
            <a:br>
              <a:rPr lang="en-IN" dirty="0"/>
            </a:br>
            <a:r>
              <a:rPr lang="en-IN" dirty="0"/>
              <a:t>No Code-Low Code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F1621B-1B76-A684-E123-F7A35CB221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Atul Kahate</a:t>
            </a:r>
          </a:p>
          <a:p>
            <a:endParaRPr lang="en-IN" dirty="0"/>
          </a:p>
          <a:p>
            <a:r>
              <a:rPr lang="en-GB" dirty="0"/>
              <a:t>https://www.linkedin.com/in/atulkahate/</a:t>
            </a:r>
          </a:p>
        </p:txBody>
      </p:sp>
    </p:spTree>
    <p:extLst>
      <p:ext uri="{BB962C8B-B14F-4D97-AF65-F5344CB8AC3E}">
        <p14:creationId xmlns:p14="http://schemas.microsoft.com/office/powerpoint/2010/main" val="322520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903CC9-15EC-9643-0562-850AC5E8E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Traditional</a:t>
            </a:r>
            <a:r>
              <a:rPr lang="en-IN" dirty="0"/>
              <a:t> Versus Today’s Programming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FC952CD-93DD-67B0-3270-50DBD4AB0E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38564" y="3117814"/>
            <a:ext cx="1575753" cy="999258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D0C0C9-0968-BD98-40D3-CFB24B29FF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995659" y="3136899"/>
            <a:ext cx="1193897" cy="9610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D784555-C4C4-2E5E-104B-7BA07A9F9EE2}"/>
              </a:ext>
            </a:extLst>
          </p:cNvPr>
          <p:cNvSpPr txBox="1"/>
          <p:nvPr/>
        </p:nvSpPr>
        <p:spPr>
          <a:xfrm>
            <a:off x="4348635" y="2002940"/>
            <a:ext cx="2498894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Instructions in a Programming Language</a:t>
            </a:r>
            <a:endParaRPr lang="en-GB" b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A8A6ADB-D181-22F7-6175-0D31428F9F41}"/>
              </a:ext>
            </a:extLst>
          </p:cNvPr>
          <p:cNvCxnSpPr>
            <a:cxnSpLocks/>
          </p:cNvCxnSpPr>
          <p:nvPr/>
        </p:nvCxnSpPr>
        <p:spPr>
          <a:xfrm flipV="1">
            <a:off x="4627841" y="2695001"/>
            <a:ext cx="0" cy="355988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F962DD-E5A4-ABF0-9A6E-EE8AB792AC0E}"/>
              </a:ext>
            </a:extLst>
          </p:cNvPr>
          <p:cNvCxnSpPr>
            <a:cxnSpLocks/>
          </p:cNvCxnSpPr>
          <p:nvPr/>
        </p:nvCxnSpPr>
        <p:spPr>
          <a:xfrm>
            <a:off x="6442680" y="2695001"/>
            <a:ext cx="0" cy="307787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627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0DBE7-8717-CEDC-0812-5F49ECAD1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0168D6-22D9-B7DE-85B7-F87D63D1A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Traditional Versus </a:t>
            </a:r>
            <a:r>
              <a:rPr lang="en-IN" b="1" dirty="0"/>
              <a:t>Today’s</a:t>
            </a:r>
            <a:r>
              <a:rPr lang="en-IN" dirty="0"/>
              <a:t> Programming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A593B0-CA6B-57B7-06E6-6859285AEAA1}"/>
              </a:ext>
            </a:extLst>
          </p:cNvPr>
          <p:cNvSpPr txBox="1"/>
          <p:nvPr/>
        </p:nvSpPr>
        <p:spPr>
          <a:xfrm>
            <a:off x="1485610" y="2182604"/>
            <a:ext cx="2498894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Instructions in a Natural Human Language</a:t>
            </a:r>
            <a:endParaRPr lang="en-GB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CB840B-A7BC-339E-861E-DA450F1B9F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157157" y="1435964"/>
            <a:ext cx="1343970" cy="8959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082F6B-F936-8F34-2C7D-E9523CBB8B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255382" y="1413207"/>
            <a:ext cx="901775" cy="901775"/>
          </a:xfrm>
          <a:prstGeom prst="rect">
            <a:avLst/>
          </a:prstGeom>
        </p:spPr>
      </p:pic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EED379AA-5109-A7E8-8305-5C15709691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75540" y="3406648"/>
            <a:ext cx="1575753" cy="9992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548F3-3AC6-30F7-D0D6-CAE2374A8B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3036659" y="3319834"/>
            <a:ext cx="1211056" cy="1211056"/>
          </a:xfrm>
          <a:prstGeom prst="rect">
            <a:avLst/>
          </a:prstGeom>
        </p:spPr>
      </p:pic>
      <p:pic>
        <p:nvPicPr>
          <p:cNvPr id="14" name="Picture 2" descr="New Mindset Needed for Large Language Models">
            <a:extLst>
              <a:ext uri="{FF2B5EF4-FFF2-40B4-BE49-F238E27FC236}">
                <a16:creationId xmlns:a16="http://schemas.microsoft.com/office/drawing/2014/main" id="{058C2001-EEC4-836B-517C-05565B2BD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739" y="3401250"/>
            <a:ext cx="2019916" cy="1141255"/>
          </a:xfrm>
          <a:prstGeom prst="rect">
            <a:avLst/>
          </a:prstGeom>
          <a:solidFill>
            <a:srgbClr val="FF0000"/>
          </a:solidFill>
        </p:spPr>
      </p:pic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8548B157-B4D5-C8E9-4EA0-C73C52581142}"/>
              </a:ext>
            </a:extLst>
          </p:cNvPr>
          <p:cNvSpPr/>
          <p:nvPr/>
        </p:nvSpPr>
        <p:spPr>
          <a:xfrm>
            <a:off x="4360311" y="3823945"/>
            <a:ext cx="463889" cy="25128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AA7337-C316-3C91-37DE-23B321D73548}"/>
              </a:ext>
            </a:extLst>
          </p:cNvPr>
          <p:cNvCxnSpPr>
            <a:cxnSpLocks/>
          </p:cNvCxnSpPr>
          <p:nvPr/>
        </p:nvCxnSpPr>
        <p:spPr>
          <a:xfrm flipV="1">
            <a:off x="1799716" y="2898134"/>
            <a:ext cx="0" cy="355988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C9FD21-4B12-1A7B-09C4-D1145CA73AF1}"/>
              </a:ext>
            </a:extLst>
          </p:cNvPr>
          <p:cNvCxnSpPr>
            <a:cxnSpLocks/>
          </p:cNvCxnSpPr>
          <p:nvPr/>
        </p:nvCxnSpPr>
        <p:spPr>
          <a:xfrm>
            <a:off x="3614555" y="2898134"/>
            <a:ext cx="0" cy="307787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81275433-1F6F-EAE9-6B79-1B1FA718A0C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9455624" y="2407134"/>
            <a:ext cx="1250044" cy="92371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1E563D5-AA20-D2A3-7ADC-49A805906C81}"/>
              </a:ext>
            </a:extLst>
          </p:cNvPr>
          <p:cNvSpPr txBox="1"/>
          <p:nvPr/>
        </p:nvSpPr>
        <p:spPr>
          <a:xfrm>
            <a:off x="9136912" y="7832610"/>
            <a:ext cx="160652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>
                <a:hlinkClick r:id="rId12" tooltip="https://www.programandoamedianoche.com/2009/07/enlace-a-data-objects-en-wpf/"/>
              </a:rPr>
              <a:t>This Photo</a:t>
            </a:r>
            <a:r>
              <a:rPr lang="en-GB" sz="900"/>
              <a:t> by Unknown Author is licensed under </a:t>
            </a:r>
            <a:r>
              <a:rPr lang="en-GB" sz="900">
                <a:hlinkClick r:id="rId13" tooltip="https://creativecommons.org/licenses/by-nd/3.0/"/>
              </a:rPr>
              <a:t>CC BY-ND</a:t>
            </a:r>
            <a:endParaRPr lang="en-GB" sz="90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F63431C-C112-B93B-BBA9-135B05F63FE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9455624" y="3429000"/>
            <a:ext cx="2160963" cy="1411829"/>
          </a:xfrm>
          <a:prstGeom prst="rect">
            <a:avLst/>
          </a:prstGeom>
        </p:spPr>
      </p:pic>
      <p:sp>
        <p:nvSpPr>
          <p:cNvPr id="33" name="Arrow: Striped Right 32">
            <a:extLst>
              <a:ext uri="{FF2B5EF4-FFF2-40B4-BE49-F238E27FC236}">
                <a16:creationId xmlns:a16="http://schemas.microsoft.com/office/drawing/2014/main" id="{AB5B1EF0-73E9-0398-5129-970BEF0564C5}"/>
              </a:ext>
            </a:extLst>
          </p:cNvPr>
          <p:cNvSpPr/>
          <p:nvPr/>
        </p:nvSpPr>
        <p:spPr>
          <a:xfrm>
            <a:off x="7316500" y="3890365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RAG</a:t>
            </a:r>
            <a:endParaRPr lang="en-GB" b="1" dirty="0"/>
          </a:p>
        </p:txBody>
      </p:sp>
      <p:sp>
        <p:nvSpPr>
          <p:cNvPr id="35" name="Thought Bubble: Cloud 34">
            <a:extLst>
              <a:ext uri="{FF2B5EF4-FFF2-40B4-BE49-F238E27FC236}">
                <a16:creationId xmlns:a16="http://schemas.microsoft.com/office/drawing/2014/main" id="{EDC6A13B-A72F-5A25-F60C-4D50CB602102}"/>
              </a:ext>
            </a:extLst>
          </p:cNvPr>
          <p:cNvSpPr/>
          <p:nvPr/>
        </p:nvSpPr>
        <p:spPr>
          <a:xfrm>
            <a:off x="4118290" y="2093182"/>
            <a:ext cx="1423951" cy="1000896"/>
          </a:xfrm>
          <a:prstGeom prst="cloudCallout">
            <a:avLst>
              <a:gd name="adj1" fmla="val -59068"/>
              <a:gd name="adj2" fmla="val 59013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Think, Act, Review</a:t>
            </a:r>
            <a:endParaRPr lang="en-GB" b="1" dirty="0"/>
          </a:p>
        </p:txBody>
      </p:sp>
      <p:sp>
        <p:nvSpPr>
          <p:cNvPr id="8" name="Arrow: Striped Right 7">
            <a:extLst>
              <a:ext uri="{FF2B5EF4-FFF2-40B4-BE49-F238E27FC236}">
                <a16:creationId xmlns:a16="http://schemas.microsoft.com/office/drawing/2014/main" id="{8F99A91D-42E7-32D6-1D66-5E5574ED713D}"/>
              </a:ext>
            </a:extLst>
          </p:cNvPr>
          <p:cNvSpPr/>
          <p:nvPr/>
        </p:nvSpPr>
        <p:spPr>
          <a:xfrm>
            <a:off x="7316500" y="1631487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MCP</a:t>
            </a:r>
            <a:endParaRPr lang="en-GB" b="1" dirty="0"/>
          </a:p>
        </p:txBody>
      </p:sp>
      <p:sp>
        <p:nvSpPr>
          <p:cNvPr id="9" name="Arrow: Striped Right 8">
            <a:extLst>
              <a:ext uri="{FF2B5EF4-FFF2-40B4-BE49-F238E27FC236}">
                <a16:creationId xmlns:a16="http://schemas.microsoft.com/office/drawing/2014/main" id="{F8022CD5-B5B5-0372-D4D7-B8299450A020}"/>
              </a:ext>
            </a:extLst>
          </p:cNvPr>
          <p:cNvSpPr/>
          <p:nvPr/>
        </p:nvSpPr>
        <p:spPr>
          <a:xfrm>
            <a:off x="7316500" y="2629476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Tool Calling</a:t>
            </a:r>
            <a:endParaRPr lang="en-GB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4167932-488F-C8D0-35A1-FA0F6C42762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>
            <a:off x="9733340" y="4841335"/>
            <a:ext cx="347306" cy="692304"/>
          </a:xfrm>
          <a:prstGeom prst="rect">
            <a:avLst/>
          </a:prstGeom>
        </p:spPr>
      </p:pic>
      <p:sp>
        <p:nvSpPr>
          <p:cNvPr id="21" name="Arrow: Striped Right 20">
            <a:extLst>
              <a:ext uri="{FF2B5EF4-FFF2-40B4-BE49-F238E27FC236}">
                <a16:creationId xmlns:a16="http://schemas.microsoft.com/office/drawing/2014/main" id="{9F56DE1B-0D83-3960-6A21-3AEC68AE5068}"/>
              </a:ext>
            </a:extLst>
          </p:cNvPr>
          <p:cNvSpPr/>
          <p:nvPr/>
        </p:nvSpPr>
        <p:spPr>
          <a:xfrm>
            <a:off x="7316500" y="4960853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HITL</a:t>
            </a:r>
            <a:endParaRPr lang="en-GB" b="1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F55FA86-709A-7D65-59AE-1DA96825713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9"/>
              </a:ext>
            </a:extLst>
          </a:blip>
          <a:stretch>
            <a:fillRect/>
          </a:stretch>
        </p:blipFill>
        <p:spPr>
          <a:xfrm>
            <a:off x="9519429" y="5642784"/>
            <a:ext cx="1275455" cy="850091"/>
          </a:xfrm>
          <a:prstGeom prst="rect">
            <a:avLst/>
          </a:prstGeom>
        </p:spPr>
      </p:pic>
      <p:sp>
        <p:nvSpPr>
          <p:cNvPr id="26" name="Arrow: Striped Right 25">
            <a:extLst>
              <a:ext uri="{FF2B5EF4-FFF2-40B4-BE49-F238E27FC236}">
                <a16:creationId xmlns:a16="http://schemas.microsoft.com/office/drawing/2014/main" id="{7E4A2460-4CC9-ABA6-0669-3EB267DAEBC0}"/>
              </a:ext>
            </a:extLst>
          </p:cNvPr>
          <p:cNvSpPr/>
          <p:nvPr/>
        </p:nvSpPr>
        <p:spPr>
          <a:xfrm>
            <a:off x="7316500" y="5749341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Memory</a:t>
            </a:r>
            <a:endParaRPr lang="en-GB" b="1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F6BF5F7-5E9E-4308-ED16-B7819F885D6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1"/>
              </a:ext>
            </a:extLst>
          </a:blip>
          <a:stretch>
            <a:fillRect/>
          </a:stretch>
        </p:blipFill>
        <p:spPr>
          <a:xfrm>
            <a:off x="5434485" y="5931522"/>
            <a:ext cx="1434712" cy="956475"/>
          </a:xfrm>
          <a:prstGeom prst="rect">
            <a:avLst/>
          </a:prstGeom>
        </p:spPr>
      </p:pic>
      <p:sp>
        <p:nvSpPr>
          <p:cNvPr id="37" name="Arrow: Striped Right 36">
            <a:extLst>
              <a:ext uri="{FF2B5EF4-FFF2-40B4-BE49-F238E27FC236}">
                <a16:creationId xmlns:a16="http://schemas.microsoft.com/office/drawing/2014/main" id="{31D42ABF-C266-CD9C-AE58-AC03126CD0BF}"/>
              </a:ext>
            </a:extLst>
          </p:cNvPr>
          <p:cNvSpPr/>
          <p:nvPr/>
        </p:nvSpPr>
        <p:spPr>
          <a:xfrm rot="5400000">
            <a:off x="5414749" y="5054173"/>
            <a:ext cx="1346531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Guardrails</a:t>
            </a:r>
            <a:endParaRPr lang="en-GB" b="1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3DF3F03-9286-8D21-DEF0-D3C2DFF030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2046251" y="4808594"/>
            <a:ext cx="1211056" cy="121105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87EF9E2-F49F-FD41-6F29-FA29175D75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3551680" y="4775441"/>
            <a:ext cx="1211056" cy="1211056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E3E1077-9AD9-917B-E48F-B54DAA3D7D75}"/>
              </a:ext>
            </a:extLst>
          </p:cNvPr>
          <p:cNvCxnSpPr>
            <a:cxnSpLocks/>
          </p:cNvCxnSpPr>
          <p:nvPr/>
        </p:nvCxnSpPr>
        <p:spPr>
          <a:xfrm flipH="1">
            <a:off x="2649872" y="4405906"/>
            <a:ext cx="346680" cy="281214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F789D65-6ADE-86F2-EED1-1EDF2AE70833}"/>
              </a:ext>
            </a:extLst>
          </p:cNvPr>
          <p:cNvCxnSpPr>
            <a:cxnSpLocks/>
          </p:cNvCxnSpPr>
          <p:nvPr/>
        </p:nvCxnSpPr>
        <p:spPr>
          <a:xfrm flipH="1" flipV="1">
            <a:off x="4295694" y="4405906"/>
            <a:ext cx="256993" cy="315052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9D570E-C40D-7106-1E6C-675F50C628A2}"/>
              </a:ext>
            </a:extLst>
          </p:cNvPr>
          <p:cNvCxnSpPr>
            <a:cxnSpLocks/>
          </p:cNvCxnSpPr>
          <p:nvPr/>
        </p:nvCxnSpPr>
        <p:spPr>
          <a:xfrm flipH="1">
            <a:off x="3257307" y="5533639"/>
            <a:ext cx="294373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606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6F7CD3-E5EC-D591-F849-1BD7D17E2E11}"/>
              </a:ext>
            </a:extLst>
          </p:cNvPr>
          <p:cNvSpPr txBox="1"/>
          <p:nvPr/>
        </p:nvSpPr>
        <p:spPr>
          <a:xfrm>
            <a:off x="181484" y="146583"/>
            <a:ext cx="4048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Chatbots versus Workflows versus Agents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160165-51C9-4981-35BC-1ACCAC66D064}"/>
              </a:ext>
            </a:extLst>
          </p:cNvPr>
          <p:cNvSpPr txBox="1"/>
          <p:nvPr/>
        </p:nvSpPr>
        <p:spPr>
          <a:xfrm>
            <a:off x="181483" y="515915"/>
            <a:ext cx="3897251" cy="33239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Chatbot</a:t>
            </a:r>
          </a:p>
          <a:p>
            <a:r>
              <a:rPr lang="en-US" sz="1400" dirty="0"/>
              <a:t>System that responds to user input conversationally, usually in a request–response pattern</a:t>
            </a:r>
          </a:p>
          <a:p>
            <a:endParaRPr lang="en-US" sz="1400" dirty="0"/>
          </a:p>
          <a:p>
            <a:r>
              <a:rPr lang="en-US" sz="1400" dirty="0"/>
              <a:t>Characteristics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Reactive (waits for user input)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Usually single-step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Limited or no long-term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May call tools but only when prompted</a:t>
            </a:r>
          </a:p>
          <a:p>
            <a:endParaRPr lang="en-US" sz="1400" dirty="0"/>
          </a:p>
          <a:p>
            <a:r>
              <a:rPr lang="en-US" sz="1400" dirty="0"/>
              <a:t>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FAQ bot on a website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Customer support chat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GPT-based assistant answering questions</a:t>
            </a:r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1DA0FD-3B9C-D968-F185-4AE2B7C8FF82}"/>
              </a:ext>
            </a:extLst>
          </p:cNvPr>
          <p:cNvSpPr txBox="1"/>
          <p:nvPr/>
        </p:nvSpPr>
        <p:spPr>
          <a:xfrm>
            <a:off x="4186928" y="515915"/>
            <a:ext cx="3897251" cy="33239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Workflow</a:t>
            </a:r>
          </a:p>
          <a:p>
            <a:r>
              <a:rPr lang="en-US" sz="1400" dirty="0"/>
              <a:t>Predefined sequence of steps executed in a fixed order to complete a task</a:t>
            </a:r>
          </a:p>
          <a:p>
            <a:endParaRPr lang="en-US" sz="1400" dirty="0"/>
          </a:p>
          <a:p>
            <a:r>
              <a:rPr lang="en-US" sz="1400" dirty="0"/>
              <a:t>Characteristics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Deterministic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Steps are predefined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 autonomous decision-making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Often event-driven</a:t>
            </a:r>
          </a:p>
          <a:p>
            <a:endParaRPr lang="en-US" sz="1400" dirty="0"/>
          </a:p>
          <a:p>
            <a:r>
              <a:rPr lang="en-US" sz="1400" dirty="0"/>
              <a:t>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CI/CD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ETL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Zapier automation: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Trigger → Process → Send email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854B27-B5AC-6EE8-1DC4-7DC85C6D4310}"/>
              </a:ext>
            </a:extLst>
          </p:cNvPr>
          <p:cNvSpPr txBox="1"/>
          <p:nvPr/>
        </p:nvSpPr>
        <p:spPr>
          <a:xfrm>
            <a:off x="8192373" y="515915"/>
            <a:ext cx="3897251" cy="37548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Agent</a:t>
            </a:r>
          </a:p>
          <a:p>
            <a:r>
              <a:rPr lang="en-US" sz="1400" dirty="0"/>
              <a:t>system that can plan, decide, and act autonomously to achieve a goal</a:t>
            </a:r>
          </a:p>
          <a:p>
            <a:endParaRPr lang="en-US" sz="1400" dirty="0"/>
          </a:p>
          <a:p>
            <a:r>
              <a:rPr lang="en-US" sz="1400" dirty="0"/>
              <a:t>Characteristics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Goal-driven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Decides next steps dynamically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Uses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Iterative reasoning (plan → act → observe → repeat)</a:t>
            </a:r>
          </a:p>
          <a:p>
            <a:endParaRPr lang="en-US" sz="1400" dirty="0"/>
          </a:p>
          <a:p>
            <a:r>
              <a:rPr lang="en-US" sz="1400" dirty="0"/>
              <a:t>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Research agent that: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Searches web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Summarizes results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Writes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Coding agent fixing bugs automatically</a:t>
            </a:r>
            <a:endParaRPr lang="en-GB" sz="1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CEF28B3-AE6E-3EE4-9B8E-7D327277C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69245"/>
              </p:ext>
            </p:extLst>
          </p:nvPr>
        </p:nvGraphicFramePr>
        <p:xfrm>
          <a:off x="423753" y="4597398"/>
          <a:ext cx="7612439" cy="219456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981781">
                  <a:extLst>
                    <a:ext uri="{9D8B030D-6E8A-4147-A177-3AD203B41FA5}">
                      <a16:colId xmlns:a16="http://schemas.microsoft.com/office/drawing/2014/main" val="2926690646"/>
                    </a:ext>
                  </a:extLst>
                </a:gridCol>
                <a:gridCol w="1570534">
                  <a:extLst>
                    <a:ext uri="{9D8B030D-6E8A-4147-A177-3AD203B41FA5}">
                      <a16:colId xmlns:a16="http://schemas.microsoft.com/office/drawing/2014/main" val="3857051738"/>
                    </a:ext>
                  </a:extLst>
                </a:gridCol>
                <a:gridCol w="1940483">
                  <a:extLst>
                    <a:ext uri="{9D8B030D-6E8A-4147-A177-3AD203B41FA5}">
                      <a16:colId xmlns:a16="http://schemas.microsoft.com/office/drawing/2014/main" val="3864404051"/>
                    </a:ext>
                  </a:extLst>
                </a:gridCol>
                <a:gridCol w="2119641">
                  <a:extLst>
                    <a:ext uri="{9D8B030D-6E8A-4147-A177-3AD203B41FA5}">
                      <a16:colId xmlns:a16="http://schemas.microsoft.com/office/drawing/2014/main" val="37609220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Chatbot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Workflow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9953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Interaction style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Conversational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Process-driven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Goal-driven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6081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Autonomy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279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Steps predefined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269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Decision making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Minimal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672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Planning 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5827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Iterative reasoning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Rare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806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FAQ bot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CI/CD pipeline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Research assistant 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402999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44234B0-95F2-A8AF-ABAB-FF7A5DDED067}"/>
              </a:ext>
            </a:extLst>
          </p:cNvPr>
          <p:cNvSpPr txBox="1"/>
          <p:nvPr/>
        </p:nvSpPr>
        <p:spPr>
          <a:xfrm>
            <a:off x="335048" y="4263809"/>
            <a:ext cx="1172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Comparison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848602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71A8FA-2CD5-81A0-B42D-935D44CB8196}"/>
              </a:ext>
            </a:extLst>
          </p:cNvPr>
          <p:cNvSpPr txBox="1"/>
          <p:nvPr/>
        </p:nvSpPr>
        <p:spPr>
          <a:xfrm>
            <a:off x="181484" y="146583"/>
            <a:ext cx="4048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No-Code versus Low-Code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7AAD5-944C-B136-F3D4-2CEFD78B2BEF}"/>
              </a:ext>
            </a:extLst>
          </p:cNvPr>
          <p:cNvSpPr txBox="1"/>
          <p:nvPr/>
        </p:nvSpPr>
        <p:spPr>
          <a:xfrm>
            <a:off x="181483" y="515915"/>
            <a:ext cx="3897251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No-Code</a:t>
            </a:r>
          </a:p>
          <a:p>
            <a:r>
              <a:rPr lang="en-US" sz="1400" dirty="0"/>
              <a:t>Allow users to build applications without writing any code, using drag-and-drop interfaces and configuration</a:t>
            </a:r>
          </a:p>
          <a:p>
            <a:endParaRPr lang="en-US" sz="1400" dirty="0"/>
          </a:p>
          <a:p>
            <a:r>
              <a:rPr lang="en-US" sz="1400" dirty="0"/>
              <a:t>Meant for business users, analysts, non-programmers</a:t>
            </a:r>
          </a:p>
          <a:p>
            <a:endParaRPr lang="en-US" sz="1400" dirty="0"/>
          </a:p>
          <a:p>
            <a:r>
              <a:rPr lang="en-US" sz="1400" dirty="0"/>
              <a:t>Characteristics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Visual builders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Prebuilt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Limited customization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Fast to develop simple apps</a:t>
            </a:r>
          </a:p>
          <a:p>
            <a:endParaRPr lang="en-US" sz="1400" dirty="0"/>
          </a:p>
          <a:p>
            <a:r>
              <a:rPr lang="en-US" sz="1400" dirty="0"/>
              <a:t>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Zapier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err="1"/>
              <a:t>Airtable</a:t>
            </a:r>
            <a:r>
              <a:rPr lang="en-GB" sz="1400" dirty="0"/>
              <a:t> automation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Microsoft Power Automate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Google </a:t>
            </a:r>
            <a:r>
              <a:rPr lang="en-GB" sz="1400" dirty="0" err="1"/>
              <a:t>AppSheet</a:t>
            </a:r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Example</a:t>
            </a:r>
          </a:p>
          <a:p>
            <a:r>
              <a:rPr lang="en-GB" sz="1400" dirty="0"/>
              <a:t>New form submission -&gt; Send email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E4138E-97A9-FB2F-17D4-B33C200FD505}"/>
              </a:ext>
            </a:extLst>
          </p:cNvPr>
          <p:cNvSpPr txBox="1"/>
          <p:nvPr/>
        </p:nvSpPr>
        <p:spPr>
          <a:xfrm>
            <a:off x="4229973" y="515915"/>
            <a:ext cx="3897251" cy="44012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Low-Code</a:t>
            </a:r>
          </a:p>
          <a:p>
            <a:r>
              <a:rPr lang="en-US" sz="1400" dirty="0"/>
              <a:t>Allow development using visual tools plus some programming when needed</a:t>
            </a:r>
          </a:p>
          <a:p>
            <a:endParaRPr lang="en-US" sz="1400" dirty="0"/>
          </a:p>
          <a:p>
            <a:r>
              <a:rPr lang="en-US" sz="1400" dirty="0"/>
              <a:t>Meant for developers, technical users, DevOps engineers</a:t>
            </a:r>
          </a:p>
          <a:p>
            <a:endParaRPr lang="en-US" sz="1400" dirty="0"/>
          </a:p>
          <a:p>
            <a:r>
              <a:rPr lang="en-US" sz="1400" dirty="0"/>
              <a:t>Characteristics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Visual development + Custom scripts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More flexibility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Can build complex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Requires some coding knowledge</a:t>
            </a:r>
          </a:p>
          <a:p>
            <a:endParaRPr lang="en-US" sz="1400" dirty="0"/>
          </a:p>
          <a:p>
            <a:r>
              <a:rPr lang="en-US" sz="1400" dirty="0"/>
              <a:t>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N8n/Zapier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OpenAI Agent Builder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Google Vertex AI Agent Builder</a:t>
            </a:r>
          </a:p>
          <a:p>
            <a:endParaRPr lang="en-GB" sz="1400" dirty="0"/>
          </a:p>
          <a:p>
            <a:r>
              <a:rPr lang="en-GB" sz="1400" dirty="0"/>
              <a:t>Example</a:t>
            </a:r>
          </a:p>
          <a:p>
            <a:r>
              <a:rPr lang="en-GB" sz="1400" dirty="0"/>
              <a:t>Create a dashboard for API integration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131753-70C5-38F8-EEAB-247222F82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456" y="4995065"/>
            <a:ext cx="7671188" cy="171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981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BB092D-2B81-4871-E7F5-101CA6AC91BA}"/>
              </a:ext>
            </a:extLst>
          </p:cNvPr>
          <p:cNvSpPr txBox="1"/>
          <p:nvPr/>
        </p:nvSpPr>
        <p:spPr>
          <a:xfrm>
            <a:off x="181484" y="146583"/>
            <a:ext cx="4048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Core Building Blocks of AI Agents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3BA68A-ACC3-5DD2-A80B-6B773F174639}"/>
              </a:ext>
            </a:extLst>
          </p:cNvPr>
          <p:cNvSpPr txBox="1"/>
          <p:nvPr/>
        </p:nvSpPr>
        <p:spPr>
          <a:xfrm>
            <a:off x="3378393" y="193561"/>
            <a:ext cx="4146212" cy="307777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Goals, Tools, Memory, Actions, Reasoning/Planning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97165A-A4ED-F440-25D0-67A378384B16}"/>
              </a:ext>
            </a:extLst>
          </p:cNvPr>
          <p:cNvSpPr txBox="1"/>
          <p:nvPr/>
        </p:nvSpPr>
        <p:spPr>
          <a:xfrm>
            <a:off x="87944" y="738662"/>
            <a:ext cx="2714587" cy="33239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Goals</a:t>
            </a:r>
          </a:p>
          <a:p>
            <a:r>
              <a:rPr lang="en-US" sz="1400" dirty="0"/>
              <a:t>Objective/task the agent must complete</a:t>
            </a:r>
          </a:p>
          <a:p>
            <a:endParaRPr lang="en-US" sz="1400" dirty="0"/>
          </a:p>
          <a:p>
            <a:r>
              <a:rPr lang="en-IN" sz="1400" dirty="0"/>
              <a:t>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“Summarize today’s news”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“Find the best mutual fund and generate a report”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“Answer customer support queries”</a:t>
            </a:r>
          </a:p>
          <a:p>
            <a:endParaRPr lang="en-US" sz="1400" dirty="0"/>
          </a:p>
          <a:p>
            <a:r>
              <a:rPr lang="en-US" sz="1400" dirty="0"/>
              <a:t>Why goals matter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They guide decision-making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They determine what tools and actions are needed</a:t>
            </a:r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0482B3-815A-18A6-1A61-50807E8951A3}"/>
              </a:ext>
            </a:extLst>
          </p:cNvPr>
          <p:cNvSpPr txBox="1"/>
          <p:nvPr/>
        </p:nvSpPr>
        <p:spPr>
          <a:xfrm>
            <a:off x="3109659" y="738662"/>
            <a:ext cx="2844413" cy="3754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Tools</a:t>
            </a:r>
          </a:p>
          <a:p>
            <a:r>
              <a:rPr lang="en-US" sz="1400" dirty="0"/>
              <a:t>External capabilities the agent can call to get information or perform tasks</a:t>
            </a:r>
          </a:p>
          <a:p>
            <a:endParaRPr lang="en-US" sz="1400" dirty="0"/>
          </a:p>
          <a:p>
            <a:r>
              <a:rPr lang="en-IN" sz="1400" dirty="0"/>
              <a:t>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Web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Database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Calculator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Python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Send email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Call an API</a:t>
            </a:r>
          </a:p>
          <a:p>
            <a:endParaRPr lang="en-US" sz="1400" dirty="0"/>
          </a:p>
          <a:p>
            <a:r>
              <a:rPr lang="en-US" sz="1400" dirty="0"/>
              <a:t>Why goals matter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LLMs cannot access real-time or external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Tools extend an agent’s abilities</a:t>
            </a:r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3B746C-9AA5-64DE-0739-3D29D352965C}"/>
              </a:ext>
            </a:extLst>
          </p:cNvPr>
          <p:cNvSpPr txBox="1"/>
          <p:nvPr/>
        </p:nvSpPr>
        <p:spPr>
          <a:xfrm>
            <a:off x="6201865" y="738662"/>
            <a:ext cx="2844413" cy="3754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Memory</a:t>
            </a:r>
          </a:p>
          <a:p>
            <a:r>
              <a:rPr lang="en-US" sz="1400" dirty="0"/>
              <a:t>Stored information the agent uses to maintain context or learn from past interactions</a:t>
            </a:r>
          </a:p>
          <a:p>
            <a:endParaRPr lang="en-US" sz="1400" dirty="0"/>
          </a:p>
          <a:p>
            <a:r>
              <a:rPr lang="en-IN" sz="1400" dirty="0"/>
              <a:t>Short-term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Conversation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Current task steps</a:t>
            </a:r>
          </a:p>
          <a:p>
            <a:endParaRPr lang="en-US" sz="1400" dirty="0"/>
          </a:p>
          <a:p>
            <a:r>
              <a:rPr lang="en-US" sz="1400" dirty="0"/>
              <a:t>Long-term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User preferences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Knowledge embeddings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Past results</a:t>
            </a:r>
          </a:p>
          <a:p>
            <a:endParaRPr lang="en-US" sz="1400" dirty="0"/>
          </a:p>
          <a:p>
            <a:r>
              <a:rPr lang="en-US" sz="1400" dirty="0"/>
              <a:t>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Remembering a user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Remembering previous queries</a:t>
            </a:r>
            <a:endParaRPr lang="en-GB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1AD3FA-8814-9F0F-86C6-727A10A691A4}"/>
              </a:ext>
            </a:extLst>
          </p:cNvPr>
          <p:cNvSpPr txBox="1"/>
          <p:nvPr/>
        </p:nvSpPr>
        <p:spPr>
          <a:xfrm>
            <a:off x="9294071" y="738662"/>
            <a:ext cx="2844413" cy="33239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Actions</a:t>
            </a:r>
          </a:p>
          <a:p>
            <a:r>
              <a:rPr lang="en-US" sz="1400" dirty="0"/>
              <a:t>Steps the agent performs to progress towards the goal</a:t>
            </a:r>
          </a:p>
          <a:p>
            <a:endParaRPr lang="en-US" sz="1400" dirty="0"/>
          </a:p>
          <a:p>
            <a:r>
              <a:rPr lang="en-US" sz="1400" dirty="0"/>
              <a:t>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Call a 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Query a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Generate a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Send an email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Update memory</a:t>
            </a:r>
          </a:p>
          <a:p>
            <a:endParaRPr lang="en-US" sz="1400" dirty="0"/>
          </a:p>
          <a:p>
            <a:r>
              <a:rPr lang="en-US" sz="1400" dirty="0"/>
              <a:t>Difference from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Tools are capabilities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Actions are decisions to use those capabilities</a:t>
            </a:r>
            <a:endParaRPr lang="en-GB" sz="1400" dirty="0"/>
          </a:p>
        </p:txBody>
      </p:sp>
      <p:sp>
        <p:nvSpPr>
          <p:cNvPr id="10" name="Callout: Up Arrow 9">
            <a:extLst>
              <a:ext uri="{FF2B5EF4-FFF2-40B4-BE49-F238E27FC236}">
                <a16:creationId xmlns:a16="http://schemas.microsoft.com/office/drawing/2014/main" id="{8FAB3C39-D1C9-68BF-5DDD-A37E5BB84A76}"/>
              </a:ext>
            </a:extLst>
          </p:cNvPr>
          <p:cNvSpPr/>
          <p:nvPr/>
        </p:nvSpPr>
        <p:spPr>
          <a:xfrm>
            <a:off x="1535633" y="4858186"/>
            <a:ext cx="8557667" cy="1694570"/>
          </a:xfrm>
          <a:prstGeom prst="upArrowCallou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Reasoning/Planning (Plan -&gt; Act -&gt; Observe -&gt; Reflect)</a:t>
            </a:r>
            <a:endParaRPr lang="en-IN" sz="1400" dirty="0"/>
          </a:p>
          <a:p>
            <a:pPr algn="ctr"/>
            <a:endParaRPr lang="en-IN" sz="1400" b="1" dirty="0"/>
          </a:p>
          <a:p>
            <a:pPr algn="ctr"/>
            <a:r>
              <a:rPr lang="en-IN" sz="1400" dirty="0"/>
              <a:t>Connects everything </a:t>
            </a:r>
          </a:p>
          <a:p>
            <a:pPr algn="ctr"/>
            <a:r>
              <a:rPr lang="en-IN" sz="1400" dirty="0"/>
              <a:t>Understand goal -&gt; Plan next step -&gt; Use tool -&gt; Observe result -&gt; Repeat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202940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29A3CC-9B2B-4AA5-EC71-417A790A6DE0}"/>
              </a:ext>
            </a:extLst>
          </p:cNvPr>
          <p:cNvSpPr txBox="1"/>
          <p:nvPr/>
        </p:nvSpPr>
        <p:spPr>
          <a:xfrm>
            <a:off x="181484" y="146583"/>
            <a:ext cx="4048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Business Use Cases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B12264-F14D-4572-BA9B-FC18F3CFBAA8}"/>
              </a:ext>
            </a:extLst>
          </p:cNvPr>
          <p:cNvSpPr txBox="1"/>
          <p:nvPr/>
        </p:nvSpPr>
        <p:spPr>
          <a:xfrm>
            <a:off x="87944" y="738662"/>
            <a:ext cx="2714587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Customer Support Automation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Read customer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Retrieve order or account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Search knowledge 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Draft/Send response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Escalate if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Why agents work well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Repetitive but valuable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Requires reasoning + retrieval +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Business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Reduces support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Faster response times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E5FD8F-2541-3AC1-7225-0A07CD1CA95C}"/>
              </a:ext>
            </a:extLst>
          </p:cNvPr>
          <p:cNvSpPr txBox="1"/>
          <p:nvPr/>
        </p:nvSpPr>
        <p:spPr>
          <a:xfrm>
            <a:off x="2872679" y="738662"/>
            <a:ext cx="2714587" cy="33239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IT and DevOps Operations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Monitor logs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Detect anomalies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Query dashboards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Suggest fixes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Trigger remediation workflows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Why agents work well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Many tools and dashboards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Diagnosis requires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Business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Faster incident resolution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Reduced downtime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CB934-241E-CA46-5823-6F82F4B21FF7}"/>
              </a:ext>
            </a:extLst>
          </p:cNvPr>
          <p:cNvSpPr txBox="1"/>
          <p:nvPr/>
        </p:nvSpPr>
        <p:spPr>
          <a:xfrm>
            <a:off x="5657414" y="738661"/>
            <a:ext cx="2714587" cy="28931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Enterprise Knowledge Assistant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Search internal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Answer employee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Generate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Summarize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Why agents work well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RAG +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Business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Saves employee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Improves knowledge access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2E0C76-44C1-75D9-B7ED-3EF596ED3800}"/>
              </a:ext>
            </a:extLst>
          </p:cNvPr>
          <p:cNvSpPr txBox="1"/>
          <p:nvPr/>
        </p:nvSpPr>
        <p:spPr>
          <a:xfrm>
            <a:off x="8456109" y="738661"/>
            <a:ext cx="2714587" cy="24622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Financial and Business Analysis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Pull data from databases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Analyze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Generate dashboards or summaries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Answer business questions</a:t>
            </a:r>
          </a:p>
          <a:p>
            <a:endParaRPr lang="en-US" sz="1400" dirty="0"/>
          </a:p>
          <a:p>
            <a:r>
              <a:rPr lang="en-US" sz="1400" dirty="0"/>
              <a:t>Business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Faster decision-making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Reduces manual reporting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EC74C7-1B62-1CC7-F187-135001138013}"/>
              </a:ext>
            </a:extLst>
          </p:cNvPr>
          <p:cNvSpPr txBox="1"/>
          <p:nvPr/>
        </p:nvSpPr>
        <p:spPr>
          <a:xfrm>
            <a:off x="87944" y="4346237"/>
            <a:ext cx="2714587" cy="246221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Document Processing and Workflow Automation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Read invoices, contracts, 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Extract 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Validate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Enter into systems</a:t>
            </a:r>
          </a:p>
          <a:p>
            <a:endParaRPr lang="en-US" sz="1400" dirty="0"/>
          </a:p>
          <a:p>
            <a:r>
              <a:rPr lang="en-US" sz="1400" dirty="0"/>
              <a:t>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Insurance claims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Loan applications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3D348F-1162-9A09-1D18-AF61541821A2}"/>
              </a:ext>
            </a:extLst>
          </p:cNvPr>
          <p:cNvSpPr txBox="1"/>
          <p:nvPr/>
        </p:nvSpPr>
        <p:spPr>
          <a:xfrm>
            <a:off x="2872679" y="4114728"/>
            <a:ext cx="2714587" cy="224676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Software Development Assistant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Review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Generate test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Fix bugs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Explain code</a:t>
            </a:r>
          </a:p>
          <a:p>
            <a:endParaRPr lang="en-US" sz="1400" dirty="0"/>
          </a:p>
          <a:p>
            <a:r>
              <a:rPr lang="en-US" sz="1400" dirty="0"/>
              <a:t>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CI/CD assistants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Code assistants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AEC9F4-6049-6A07-9EA0-437F0B3C47EF}"/>
              </a:ext>
            </a:extLst>
          </p:cNvPr>
          <p:cNvSpPr txBox="1"/>
          <p:nvPr/>
        </p:nvSpPr>
        <p:spPr>
          <a:xfrm>
            <a:off x="5657413" y="3694755"/>
            <a:ext cx="2714587" cy="2246769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Supply Chain and Operations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Monitor inventory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Predict shortages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Suggest reorder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Optimize logistics</a:t>
            </a:r>
          </a:p>
          <a:p>
            <a:endParaRPr lang="en-US" sz="1400" dirty="0"/>
          </a:p>
          <a:p>
            <a:r>
              <a:rPr lang="en-US" sz="1400" dirty="0"/>
              <a:t>Business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Cost savings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Fewer stockouts</a:t>
            </a:r>
          </a:p>
        </p:txBody>
      </p:sp>
    </p:spTree>
    <p:extLst>
      <p:ext uri="{BB962C8B-B14F-4D97-AF65-F5344CB8AC3E}">
        <p14:creationId xmlns:p14="http://schemas.microsoft.com/office/powerpoint/2010/main" val="3318323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763</Words>
  <Application>Microsoft Office PowerPoint</Application>
  <PresentationFormat>Widescreen</PresentationFormat>
  <Paragraphs>273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 Agentic AI No Code-Low Code</vt:lpstr>
      <vt:lpstr>Traditional Versus Today’s Programming</vt:lpstr>
      <vt:lpstr>Traditional Versus Today’s Programming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6</cp:revision>
  <dcterms:created xsi:type="dcterms:W3CDTF">2026-02-07T04:53:09Z</dcterms:created>
  <dcterms:modified xsi:type="dcterms:W3CDTF">2026-02-09T01:31:18Z</dcterms:modified>
</cp:coreProperties>
</file>