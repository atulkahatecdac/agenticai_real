
<file path=[Content_Types].xml><?xml version="1.0" encoding="utf-8"?>
<Types xmlns="http://schemas.openxmlformats.org/package/2006/content-types">
  <Default Extension="img" ContentType="image/jpeg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22"/>
  </p:notesMasterIdLst>
  <p:sldIdLst>
    <p:sldId id="256" r:id="rId2"/>
    <p:sldId id="257" r:id="rId3"/>
    <p:sldId id="417" r:id="rId4"/>
    <p:sldId id="2711" r:id="rId5"/>
    <p:sldId id="2677" r:id="rId6"/>
    <p:sldId id="2709" r:id="rId7"/>
    <p:sldId id="2710" r:id="rId8"/>
    <p:sldId id="2708" r:id="rId9"/>
    <p:sldId id="2712" r:id="rId10"/>
    <p:sldId id="2713" r:id="rId11"/>
    <p:sldId id="2714" r:id="rId12"/>
    <p:sldId id="2715" r:id="rId13"/>
    <p:sldId id="2716" r:id="rId14"/>
    <p:sldId id="2804" r:id="rId15"/>
    <p:sldId id="2805" r:id="rId16"/>
    <p:sldId id="2717" r:id="rId17"/>
    <p:sldId id="2782" r:id="rId18"/>
    <p:sldId id="2774" r:id="rId19"/>
    <p:sldId id="2775" r:id="rId20"/>
    <p:sldId id="2776" r:id="rId21"/>
    <p:sldId id="2777" r:id="rId22"/>
    <p:sldId id="2778" r:id="rId23"/>
    <p:sldId id="2779" r:id="rId24"/>
    <p:sldId id="2780" r:id="rId25"/>
    <p:sldId id="2781" r:id="rId26"/>
    <p:sldId id="423" r:id="rId27"/>
    <p:sldId id="424" r:id="rId28"/>
    <p:sldId id="2783" r:id="rId29"/>
    <p:sldId id="2784" r:id="rId30"/>
    <p:sldId id="707" r:id="rId31"/>
    <p:sldId id="708" r:id="rId32"/>
    <p:sldId id="593" r:id="rId33"/>
    <p:sldId id="2669" r:id="rId34"/>
    <p:sldId id="2785" r:id="rId35"/>
    <p:sldId id="2765" r:id="rId36"/>
    <p:sldId id="805" r:id="rId37"/>
    <p:sldId id="2689" r:id="rId38"/>
    <p:sldId id="2662" r:id="rId39"/>
    <p:sldId id="307" r:id="rId40"/>
    <p:sldId id="2786" r:id="rId41"/>
    <p:sldId id="2718" r:id="rId42"/>
    <p:sldId id="2719" r:id="rId43"/>
    <p:sldId id="2720" r:id="rId44"/>
    <p:sldId id="2787" r:id="rId45"/>
    <p:sldId id="2663" r:id="rId46"/>
    <p:sldId id="779" r:id="rId47"/>
    <p:sldId id="306" r:id="rId48"/>
    <p:sldId id="2789" r:id="rId49"/>
    <p:sldId id="2790" r:id="rId50"/>
    <p:sldId id="2788" r:id="rId51"/>
    <p:sldId id="2791" r:id="rId52"/>
    <p:sldId id="2792" r:id="rId53"/>
    <p:sldId id="2793" r:id="rId54"/>
    <p:sldId id="2794" r:id="rId55"/>
    <p:sldId id="2795" r:id="rId56"/>
    <p:sldId id="594" r:id="rId57"/>
    <p:sldId id="595" r:id="rId58"/>
    <p:sldId id="596" r:id="rId59"/>
    <p:sldId id="597" r:id="rId60"/>
    <p:sldId id="598" r:id="rId61"/>
    <p:sldId id="599" r:id="rId62"/>
    <p:sldId id="2796" r:id="rId63"/>
    <p:sldId id="2797" r:id="rId64"/>
    <p:sldId id="2798" r:id="rId65"/>
    <p:sldId id="2799" r:id="rId66"/>
    <p:sldId id="2800" r:id="rId67"/>
    <p:sldId id="2801" r:id="rId68"/>
    <p:sldId id="2802" r:id="rId69"/>
    <p:sldId id="711" r:id="rId70"/>
    <p:sldId id="258" r:id="rId71"/>
    <p:sldId id="2806" r:id="rId72"/>
    <p:sldId id="780" r:id="rId73"/>
    <p:sldId id="2807" r:id="rId74"/>
    <p:sldId id="492" r:id="rId75"/>
    <p:sldId id="684" r:id="rId76"/>
    <p:sldId id="453" r:id="rId77"/>
    <p:sldId id="473" r:id="rId78"/>
    <p:sldId id="474" r:id="rId79"/>
    <p:sldId id="496" r:id="rId80"/>
    <p:sldId id="261" r:id="rId81"/>
    <p:sldId id="685" r:id="rId82"/>
    <p:sldId id="493" r:id="rId83"/>
    <p:sldId id="419" r:id="rId84"/>
    <p:sldId id="420" r:id="rId85"/>
    <p:sldId id="495" r:id="rId86"/>
    <p:sldId id="680" r:id="rId87"/>
    <p:sldId id="497" r:id="rId88"/>
    <p:sldId id="498" r:id="rId89"/>
    <p:sldId id="477" r:id="rId90"/>
    <p:sldId id="436" r:id="rId91"/>
    <p:sldId id="444" r:id="rId92"/>
    <p:sldId id="699" r:id="rId93"/>
    <p:sldId id="681" r:id="rId94"/>
    <p:sldId id="461" r:id="rId95"/>
    <p:sldId id="462" r:id="rId96"/>
    <p:sldId id="506" r:id="rId97"/>
    <p:sldId id="464" r:id="rId98"/>
    <p:sldId id="480" r:id="rId99"/>
    <p:sldId id="481" r:id="rId100"/>
    <p:sldId id="465" r:id="rId101"/>
    <p:sldId id="2808" r:id="rId102"/>
    <p:sldId id="2809" r:id="rId103"/>
    <p:sldId id="482" r:id="rId104"/>
    <p:sldId id="2688" r:id="rId105"/>
    <p:sldId id="2744" r:id="rId106"/>
    <p:sldId id="2745" r:id="rId107"/>
    <p:sldId id="2746" r:id="rId108"/>
    <p:sldId id="2747" r:id="rId109"/>
    <p:sldId id="2810" r:id="rId110"/>
    <p:sldId id="2748" r:id="rId111"/>
    <p:sldId id="2749" r:id="rId112"/>
    <p:sldId id="502" r:id="rId113"/>
    <p:sldId id="504" r:id="rId114"/>
    <p:sldId id="505" r:id="rId115"/>
    <p:sldId id="503" r:id="rId116"/>
    <p:sldId id="2691" r:id="rId117"/>
    <p:sldId id="2692" r:id="rId118"/>
    <p:sldId id="2693" r:id="rId119"/>
    <p:sldId id="803" r:id="rId120"/>
    <p:sldId id="2700" r:id="rId12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3704" autoAdjust="0"/>
    <p:restoredTop sz="94660"/>
  </p:normalViewPr>
  <p:slideViewPr>
    <p:cSldViewPr snapToGrid="0">
      <p:cViewPr varScale="1">
        <p:scale>
          <a:sx n="91" d="100"/>
          <a:sy n="91" d="100"/>
        </p:scale>
        <p:origin x="864" y="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2240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6" Type="http://schemas.openxmlformats.org/officeDocument/2006/relationships/slide" Target="slides/slide15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presProps" Target="presProps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18" Type="http://schemas.openxmlformats.org/officeDocument/2006/relationships/slide" Target="slides/slide117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slide" Target="slides/slide107.xml"/><Relationship Id="rId124" Type="http://schemas.openxmlformats.org/officeDocument/2006/relationships/viewProps" Target="viewProps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120" Type="http://schemas.openxmlformats.org/officeDocument/2006/relationships/slide" Target="slides/slide119.xml"/><Relationship Id="rId125" Type="http://schemas.openxmlformats.org/officeDocument/2006/relationships/theme" Target="theme/theme1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slide" Target="slides/slide114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126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9C75978-95ED-42CB-885D-FE3D3F54F514}" type="datetimeFigureOut">
              <a:rPr lang="en-GB" smtClean="0"/>
              <a:t>26/01/2026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C08A140-A7AC-4CD6-9D56-8FFA9C61BCE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3974989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DA3FE73-CC94-4F23-B51B-5E3E293A6B94}" type="slidenum">
              <a:rPr lang="en-GB" smtClean="0"/>
              <a:t>36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5018595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FA5120-1FF5-3485-EB2C-7103A1867E9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193FA97-FD3E-EE67-BFF4-0EEBB2AF36B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0BF2140-428B-4D4E-93AB-2EF353DD76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2B9C6C-0EAB-4CD0-9115-8023772ED0F3}" type="datetimeFigureOut">
              <a:rPr lang="en-GB" smtClean="0"/>
              <a:t>26/01/2026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DAC3414-F8EB-B5E8-7189-5B76300C3A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62F9C38-7A37-3FCF-ECBF-95D8E45CC7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2AF74E-779B-4E4F-BE95-B83BAA4B2BC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16728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66C993-EE6D-4A3E-E7A5-2BB7B7CDD9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97185B-6097-E3BC-E76C-DF6E4DB405E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425931-50CF-32C9-1ACC-3C630FF085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2B9C6C-0EAB-4CD0-9115-8023772ED0F3}" type="datetimeFigureOut">
              <a:rPr lang="en-GB" smtClean="0"/>
              <a:t>26/01/2026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E96F32D-CC0E-00E1-6E2D-E19A53B813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D664506-18DA-0E24-B7B5-F53DEE97C9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2AF74E-779B-4E4F-BE95-B83BAA4B2BC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965427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A8B6B3-6B70-221D-AF36-1E9A33195A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51EE239-AABE-4051-43C1-F9D9CB10C3D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0B0276C-37ED-0767-BCE9-D43BB64A95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2B9C6C-0EAB-4CD0-9115-8023772ED0F3}" type="datetimeFigureOut">
              <a:rPr lang="en-GB" smtClean="0"/>
              <a:t>26/01/2026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BB349ED-5E79-10F4-CE4C-AE6DC3D6E9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A6496E-3C05-9099-1746-51C9F89CCB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2AF74E-779B-4E4F-BE95-B83BAA4B2BC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844176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25C4CC-E0A4-5D12-749B-DA19680DC2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51BB02-3205-B623-47F3-D481268178B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6A7DFB1-D6F4-9F56-E978-4255289F4F9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62DA6C4-3FFD-CD46-EB74-F3FC7812DE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2B9C6C-0EAB-4CD0-9115-8023772ED0F3}" type="datetimeFigureOut">
              <a:rPr lang="en-GB" smtClean="0"/>
              <a:t>26/01/2026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9AA56E6-0ABF-FDD6-C273-4D50169570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3894914-AF9C-FEF2-D985-23D47B2A3B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2AF74E-779B-4E4F-BE95-B83BAA4B2BC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7251109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2E654F-5965-D715-D248-C012948D25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B3C81FF-E507-6507-24AB-9AC5A0F138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0AB8E01-B705-2D9C-27FC-AF329B3468A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DD61D6-9FC6-87E8-6475-7038441D0AB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73A6000-1E85-4791-CF57-05ABE65BD17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09F5401-01B5-CB77-9542-2BC7CD46CD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2B9C6C-0EAB-4CD0-9115-8023772ED0F3}" type="datetimeFigureOut">
              <a:rPr lang="en-GB" smtClean="0"/>
              <a:t>26/01/2026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92671B0-6D76-A6EC-7327-877EB3CC4A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077E5E6-59C9-F3F0-1B26-DA4A7A2161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2AF74E-779B-4E4F-BE95-B83BAA4B2BC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9486121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22302F-935B-37CC-EC9A-762E97AD0E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2B524BF-F351-5B40-70CD-3143C5B438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2B9C6C-0EAB-4CD0-9115-8023772ED0F3}" type="datetimeFigureOut">
              <a:rPr lang="en-GB" smtClean="0"/>
              <a:t>26/01/2026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77F7CF0-6FD6-C632-0C4B-86FF0982C2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19A5CF8-7960-52DD-9534-33604905AE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2AF74E-779B-4E4F-BE95-B83BAA4B2BC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7748208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7ABDAC7-8F17-7ABB-C1D2-DE0043F5BE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2B9C6C-0EAB-4CD0-9115-8023772ED0F3}" type="datetimeFigureOut">
              <a:rPr lang="en-GB" smtClean="0"/>
              <a:t>26/01/2026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C8B05A0-AEDE-BC2A-D3E3-CBA70D52ED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171F46-77AF-6AB2-8A06-2034390CE6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2AF74E-779B-4E4F-BE95-B83BAA4B2BC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29582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07833D-CDED-D5E8-4AE0-C9683959DB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FF65A7-633A-D71D-5506-391F6CDD0D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D4E466B-6DB6-9F77-5962-D67392D66E3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BC659AD-FE7C-0CF4-89B5-B867E2D584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2B9C6C-0EAB-4CD0-9115-8023772ED0F3}" type="datetimeFigureOut">
              <a:rPr lang="en-GB" smtClean="0"/>
              <a:t>26/01/2026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4E4523A-CCCB-E5DA-AE15-1CB8151163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DAFBCAD-FE2E-7C9A-4C3F-EE622E06B2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2AF74E-779B-4E4F-BE95-B83BAA4B2BC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2722185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F3B2EA-E907-2989-BB37-BDF7E874EB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BEFCA6E-0813-A541-83A7-79CE9FBC019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BF9E567-ED17-8C9C-A72F-597DDF6DE67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619801A-1991-9FED-C632-21940ECF49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2B9C6C-0EAB-4CD0-9115-8023772ED0F3}" type="datetimeFigureOut">
              <a:rPr lang="en-GB" smtClean="0"/>
              <a:t>26/01/2026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36D5310-8CE5-4084-0907-DE7712FF24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400F741-2DAC-C2BA-9E9A-FBD72A214E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2AF74E-779B-4E4F-BE95-B83BAA4B2BC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7931072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FBF81D-348C-ECFE-B97A-53B08523E3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7473606-3CFA-01AD-8A6D-6159F90E540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F6FDC4-F9C1-D0E5-7207-A4DB8ADA66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2B9C6C-0EAB-4CD0-9115-8023772ED0F3}" type="datetimeFigureOut">
              <a:rPr lang="en-GB" smtClean="0"/>
              <a:t>26/01/2026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6CE370-03C0-5868-51BC-960DEF6554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40F401-ED22-C23F-5CD5-8BAF2B64CC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2AF74E-779B-4E4F-BE95-B83BAA4B2BC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0382712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BFE8101-0075-88E2-F387-242D744AED3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B84C030-5FC5-7D9A-F1A7-B273C565427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E9F0291-8D3E-08A9-E9BD-90861DB666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2B9C6C-0EAB-4CD0-9115-8023772ED0F3}" type="datetimeFigureOut">
              <a:rPr lang="en-GB" smtClean="0"/>
              <a:t>26/01/2026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CE8A7C-E5DA-0E94-D0FA-8F5C47789A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256943-61C5-D2FD-CC28-A1EED83856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2AF74E-779B-4E4F-BE95-B83BAA4B2BC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6174364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8C13AD4-C8F1-E4FF-A867-83AB23FF09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D369E6E-5B0E-04A3-656A-13CE7C53E8D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AABC26-8654-DB25-0F80-36DFAC08D41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D2B9C6C-0EAB-4CD0-9115-8023772ED0F3}" type="datetimeFigureOut">
              <a:rPr lang="en-GB" smtClean="0"/>
              <a:t>26/01/2026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55DF2B4-29A2-5D62-37D0-879E7BDB526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6EC446F-731F-85D9-BFA5-FAE1EC3A5D9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2AF74E-779B-4E4F-BE95-B83BAA4B2BC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6229233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jpg"/><Relationship Id="rId13" Type="http://schemas.openxmlformats.org/officeDocument/2006/relationships/hyperlink" Target="https://creativecommons.org/licenses/by-nd/3.0/" TargetMode="External"/><Relationship Id="rId18" Type="http://schemas.openxmlformats.org/officeDocument/2006/relationships/image" Target="../media/image10.img"/><Relationship Id="rId3" Type="http://schemas.openxmlformats.org/officeDocument/2006/relationships/hyperlink" Target="https://navatel.ir/blog/what-is-api/" TargetMode="External"/><Relationship Id="rId21" Type="http://schemas.openxmlformats.org/officeDocument/2006/relationships/hyperlink" Target="https://www.telegraphindia.com/west-bengal/kolkata/go-slow-reflective-tape-on-guardrails-used-by-police-for-road-safety-at-night-prnt/cid/2140363" TargetMode="External"/><Relationship Id="rId7" Type="http://schemas.openxmlformats.org/officeDocument/2006/relationships/hyperlink" Target="https://cloudnetindia.com/full-stack-web-developer-course-kolkata/" TargetMode="External"/><Relationship Id="rId12" Type="http://schemas.openxmlformats.org/officeDocument/2006/relationships/hyperlink" Target="https://www.programandoamedianoche.com/2009/07/enlace-a-data-objects-en-wpf/" TargetMode="External"/><Relationship Id="rId17" Type="http://schemas.openxmlformats.org/officeDocument/2006/relationships/hyperlink" Target="https://openclipart.org/detail/15042/stick-figure-female" TargetMode="External"/><Relationship Id="rId2" Type="http://schemas.openxmlformats.org/officeDocument/2006/relationships/image" Target="../media/image2.png"/><Relationship Id="rId16" Type="http://schemas.openxmlformats.org/officeDocument/2006/relationships/image" Target="../media/image9.png"/><Relationship Id="rId20" Type="http://schemas.openxmlformats.org/officeDocument/2006/relationships/image" Target="../media/image11.jp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jpg"/><Relationship Id="rId11" Type="http://schemas.openxmlformats.org/officeDocument/2006/relationships/image" Target="../media/image7.jpg"/><Relationship Id="rId5" Type="http://schemas.openxmlformats.org/officeDocument/2006/relationships/hyperlink" Target="https://freesvg.org/sandisk-cruzer-micro-4gb-flash-drive-vector-image" TargetMode="External"/><Relationship Id="rId15" Type="http://schemas.openxmlformats.org/officeDocument/2006/relationships/hyperlink" Target="https://medium.com/@facubozzi/building-a-vector-database-from-scratch-in-typescript-a009cee67dc0" TargetMode="External"/><Relationship Id="rId10" Type="http://schemas.openxmlformats.org/officeDocument/2006/relationships/image" Target="../media/image6.jpeg"/><Relationship Id="rId19" Type="http://schemas.openxmlformats.org/officeDocument/2006/relationships/hyperlink" Target="https://www.msn.com/en-us/health/mindandbody/the-1-habit-to-start-to-improve-your-memory-recommended-by-brain-experts/ar-AA1Tk0gZ" TargetMode="External"/><Relationship Id="rId4" Type="http://schemas.openxmlformats.org/officeDocument/2006/relationships/image" Target="../media/image3.png"/><Relationship Id="rId9" Type="http://schemas.openxmlformats.org/officeDocument/2006/relationships/hyperlink" Target="https://techtootalk.com/learn-ai-agents-step-by-step" TargetMode="External"/><Relationship Id="rId14" Type="http://schemas.openxmlformats.org/officeDocument/2006/relationships/image" Target="../media/image8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code.visualstudio.com/download" TargetMode="External"/><Relationship Id="rId2" Type="http://schemas.openxmlformats.org/officeDocument/2006/relationships/hyperlink" Target="https://www.python.org/downloads/" TargetMode="Externa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hyperlink" Target="http://localhost:8000/note/playground/" TargetMode="External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hyperlink" Target="http://localhost:8000/ask/playground/" TargetMode="External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hyperlink" Target="https://ollama.com/" TargetMode="External"/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eg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2.xml"/></Relationships>
</file>

<file path=ppt/slides/_rels/slide10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eg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2.xml"/></Relationships>
</file>

<file path=ppt/slides/_rels/slide10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eg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2.xml"/></Relationships>
</file>

<file path=ppt/slides/_rels/slide10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eg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2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eg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2.xml"/></Relationships>
</file>

<file path=ppt/slides/_rels/slide1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eg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2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7" Type="http://schemas.openxmlformats.org/officeDocument/2006/relationships/hyperlink" Target="https://svgsilh.com/image/151791.html" TargetMode="External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svg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FE35C7-B37F-556E-8E4E-F239C3747C8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noProof="0" dirty="0"/>
              <a:t>Agentic AI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7ABB7E8-9F5D-941D-DDFF-B35E9214A4A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noProof="0" dirty="0"/>
              <a:t>Atul Kahate</a:t>
            </a:r>
          </a:p>
          <a:p>
            <a:r>
              <a:rPr lang="en-US" dirty="0"/>
              <a:t>https://www.linkedin.com/in/atulkahate/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68247758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9237687-FE1F-0D6C-1202-AE2AEAFF03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Module 1: Agentic AI Fundamentals and LLM Access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07A2805-3081-62E8-13AF-71EC4870336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9949958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BCFE38-5A8F-14F7-412E-3F2D51D666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AI Agent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FE71C1-A590-FA90-7F94-95CABEAD7C0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b="1" noProof="0" dirty="0"/>
              <a:t>AI Agent</a:t>
            </a:r>
            <a:r>
              <a:rPr lang="en-US" noProof="0" dirty="0"/>
              <a:t>: It is a system that uses AI models to perform tasks</a:t>
            </a:r>
          </a:p>
          <a:p>
            <a:r>
              <a:rPr lang="en-US" noProof="0" dirty="0"/>
              <a:t>Can perceive its environment, make decisions, and take actions in order to achieve specific goals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158DA12A-F307-3446-D90F-4B07BF6E287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24373"/>
              </p:ext>
            </p:extLst>
          </p:nvPr>
        </p:nvGraphicFramePr>
        <p:xfrm>
          <a:off x="900729" y="3380003"/>
          <a:ext cx="10139253" cy="3200400"/>
        </p:xfrm>
        <a:graphic>
          <a:graphicData uri="http://schemas.openxmlformats.org/drawingml/2006/table">
            <a:tbl>
              <a:tblPr>
                <a:tableStyleId>{E8B1032C-EA38-4F05-BA0D-38AFFFC7BED3}</a:tableStyleId>
              </a:tblPr>
              <a:tblGrid>
                <a:gridCol w="2498604">
                  <a:extLst>
                    <a:ext uri="{9D8B030D-6E8A-4147-A177-3AD203B41FA5}">
                      <a16:colId xmlns:a16="http://schemas.microsoft.com/office/drawing/2014/main" val="1808843905"/>
                    </a:ext>
                  </a:extLst>
                </a:gridCol>
                <a:gridCol w="2806021">
                  <a:extLst>
                    <a:ext uri="{9D8B030D-6E8A-4147-A177-3AD203B41FA5}">
                      <a16:colId xmlns:a16="http://schemas.microsoft.com/office/drawing/2014/main" val="2298010791"/>
                    </a:ext>
                  </a:extLst>
                </a:gridCol>
                <a:gridCol w="4834628">
                  <a:extLst>
                    <a:ext uri="{9D8B030D-6E8A-4147-A177-3AD203B41FA5}">
                      <a16:colId xmlns:a16="http://schemas.microsoft.com/office/drawing/2014/main" val="2089804425"/>
                    </a:ext>
                  </a:extLst>
                </a:gridCol>
              </a:tblGrid>
              <a:tr h="16986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noProof="0" dirty="0"/>
                        <a:t>Capability</a:t>
                      </a:r>
                      <a:endParaRPr lang="en-US" sz="1800" noProof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noProof="0" dirty="0"/>
                        <a:t>Definition</a:t>
                      </a:r>
                      <a:endParaRPr lang="en-US" sz="1800" noProof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noProof="0" dirty="0"/>
                        <a:t>Examples</a:t>
                      </a:r>
                      <a:endParaRPr lang="en-US" sz="1800" noProof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18492454"/>
                  </a:ext>
                </a:extLst>
              </a:tr>
              <a:tr h="29726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noProof="0" dirty="0"/>
                        <a:t>Perception</a:t>
                      </a:r>
                      <a:endParaRPr lang="en-US" sz="1800" noProof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Takes input from the environment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Camera images, text, audio, sensor data, user queries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70860088"/>
                  </a:ext>
                </a:extLst>
              </a:tr>
              <a:tr h="42466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noProof="0" dirty="0"/>
                        <a:t>Reasoning / Decision-making</a:t>
                      </a:r>
                      <a:endParaRPr lang="en-US" sz="1800" noProof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Decides what to do using rules, logic, or machine learning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Choosing the best move in chess, planning a route, selecting a response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71334458"/>
                  </a:ext>
                </a:extLst>
              </a:tr>
              <a:tr h="42466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noProof="0" dirty="0"/>
                        <a:t>Action</a:t>
                      </a:r>
                      <a:endParaRPr lang="en-US" sz="1800" noProof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Performs tasks based on decisions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Moving a robot arm, answering a question, executing a command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92044297"/>
                  </a:ext>
                </a:extLst>
              </a:tr>
              <a:tr h="42466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noProof="0" dirty="0"/>
                        <a:t>Learning (optional)</a:t>
                      </a:r>
                      <a:endParaRPr lang="en-US" sz="1800" noProof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Improves performance over time using feedback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Updating chatbot responses, refining recommendations, improving accuracy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71612737"/>
                  </a:ext>
                </a:extLst>
              </a:tr>
            </a:tbl>
          </a:graphicData>
        </a:graphic>
      </p:graphicFrame>
      <p:pic>
        <p:nvPicPr>
          <p:cNvPr id="6" name="Picture 5">
            <a:extLst>
              <a:ext uri="{FF2B5EF4-FFF2-40B4-BE49-F238E27FC236}">
                <a16:creationId xmlns:a16="http://schemas.microsoft.com/office/drawing/2014/main" id="{7DD4E9FE-5393-F975-F2C2-E967B5B639F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93975" y="78390"/>
            <a:ext cx="1881689" cy="20970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146707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BD8142-0951-03E4-3ADD-CB65907DE3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Real World Need of AI Agents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5CD708-4A67-B9ED-ACA6-31388599EA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US" noProof="0" dirty="0"/>
              <a:t>Scale: Too much data, too many decisions – Humans cannot do it</a:t>
            </a:r>
          </a:p>
          <a:p>
            <a:pPr lvl="1"/>
            <a:r>
              <a:rPr lang="en-US" noProof="0" dirty="0"/>
              <a:t>Bank frauds, Cloud server management</a:t>
            </a:r>
          </a:p>
          <a:p>
            <a:r>
              <a:rPr lang="en-US" noProof="0" dirty="0"/>
              <a:t>Speed: Decisions must be instant</a:t>
            </a:r>
          </a:p>
          <a:p>
            <a:pPr lvl="1"/>
            <a:r>
              <a:rPr lang="en-US" noProof="0" dirty="0"/>
              <a:t>Stock trading, Network intrusion detection</a:t>
            </a:r>
          </a:p>
          <a:p>
            <a:r>
              <a:rPr lang="en-US" noProof="0" dirty="0"/>
              <a:t>24x7 operation: Humans need breaks – systems do not</a:t>
            </a:r>
          </a:p>
          <a:p>
            <a:pPr lvl="1"/>
            <a:r>
              <a:rPr lang="en-US" noProof="0" dirty="0"/>
              <a:t>Customer support, System monitoring</a:t>
            </a:r>
          </a:p>
          <a:p>
            <a:r>
              <a:rPr lang="en-US" noProof="0" dirty="0"/>
              <a:t>Complexity: Too many variables</a:t>
            </a:r>
          </a:p>
          <a:p>
            <a:pPr lvl="1"/>
            <a:r>
              <a:rPr lang="en-US" noProof="0" dirty="0"/>
              <a:t>Supply chain, Smart grids</a:t>
            </a:r>
          </a:p>
          <a:p>
            <a:r>
              <a:rPr lang="en-US" noProof="0" dirty="0"/>
              <a:t>Adaptability: Changing environment</a:t>
            </a:r>
          </a:p>
          <a:p>
            <a:pPr lvl="1"/>
            <a:r>
              <a:rPr lang="en-US" noProof="0" dirty="0"/>
              <a:t>Recommendation systems, Cyber attacks</a:t>
            </a:r>
          </a:p>
          <a:p>
            <a:r>
              <a:rPr lang="en-US" noProof="0" dirty="0"/>
              <a:t>Autonomy: Reduce human dependence</a:t>
            </a:r>
          </a:p>
          <a:p>
            <a:pPr lvl="1"/>
            <a:r>
              <a:rPr lang="en-US" noProof="0" dirty="0"/>
              <a:t>Auto-healing of cloud infrastructure, Robotic Process Automation (RPA)</a:t>
            </a:r>
          </a:p>
          <a:p>
            <a:r>
              <a:rPr lang="en-US" noProof="0" dirty="0"/>
              <a:t>Decision support: Not just automation</a:t>
            </a:r>
          </a:p>
          <a:p>
            <a:pPr lvl="1"/>
            <a:r>
              <a:rPr lang="en-US" noProof="0" dirty="0"/>
              <a:t>Diagnostic agents for doctors, Investment agents for investment managers</a:t>
            </a:r>
          </a:p>
        </p:txBody>
      </p:sp>
    </p:spTree>
    <p:extLst>
      <p:ext uri="{BB962C8B-B14F-4D97-AF65-F5344CB8AC3E}">
        <p14:creationId xmlns:p14="http://schemas.microsoft.com/office/powerpoint/2010/main" val="221771002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395D1D-2B28-9282-4662-24D3F692B5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5841"/>
            <a:ext cx="10515600" cy="865539"/>
          </a:xfrm>
        </p:spPr>
        <p:txBody>
          <a:bodyPr/>
          <a:lstStyle/>
          <a:p>
            <a:r>
              <a:rPr lang="en-US" noProof="0" dirty="0"/>
              <a:t>Traditional, Generative, Agentic AI</a:t>
            </a:r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B90019AA-D2CA-C86F-A08F-74ACEE6DD88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81964202"/>
              </p:ext>
            </p:extLst>
          </p:nvPr>
        </p:nvGraphicFramePr>
        <p:xfrm>
          <a:off x="947305" y="1316072"/>
          <a:ext cx="10730492" cy="5316462"/>
        </p:xfrm>
        <a:graphic>
          <a:graphicData uri="http://schemas.openxmlformats.org/drawingml/2006/table">
            <a:tbl>
              <a:tblPr firstRow="1">
                <a:tableStyleId>{69012ECD-51FC-41F1-AA8D-1B2483CD663E}</a:tableStyleId>
              </a:tblPr>
              <a:tblGrid>
                <a:gridCol w="2682623">
                  <a:extLst>
                    <a:ext uri="{9D8B030D-6E8A-4147-A177-3AD203B41FA5}">
                      <a16:colId xmlns:a16="http://schemas.microsoft.com/office/drawing/2014/main" val="4193657813"/>
                    </a:ext>
                  </a:extLst>
                </a:gridCol>
                <a:gridCol w="2682623">
                  <a:extLst>
                    <a:ext uri="{9D8B030D-6E8A-4147-A177-3AD203B41FA5}">
                      <a16:colId xmlns:a16="http://schemas.microsoft.com/office/drawing/2014/main" val="3553674402"/>
                    </a:ext>
                  </a:extLst>
                </a:gridCol>
                <a:gridCol w="2682623">
                  <a:extLst>
                    <a:ext uri="{9D8B030D-6E8A-4147-A177-3AD203B41FA5}">
                      <a16:colId xmlns:a16="http://schemas.microsoft.com/office/drawing/2014/main" val="2187027560"/>
                    </a:ext>
                  </a:extLst>
                </a:gridCol>
                <a:gridCol w="2682623">
                  <a:extLst>
                    <a:ext uri="{9D8B030D-6E8A-4147-A177-3AD203B41FA5}">
                      <a16:colId xmlns:a16="http://schemas.microsoft.com/office/drawing/2014/main" val="3123300298"/>
                    </a:ext>
                  </a:extLst>
                </a:gridCol>
              </a:tblGrid>
              <a:tr h="28533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Aspect</a:t>
                      </a:r>
                    </a:p>
                  </a:txBody>
                  <a:tcPr marL="71333" marR="71333" marT="35667" marB="356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Traditional AI</a:t>
                      </a:r>
                    </a:p>
                  </a:txBody>
                  <a:tcPr marL="71333" marR="71333" marT="35667" marB="356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Generative AI</a:t>
                      </a:r>
                    </a:p>
                  </a:txBody>
                  <a:tcPr marL="71333" marR="71333" marT="35667" marB="356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Agentic AI</a:t>
                      </a:r>
                    </a:p>
                  </a:txBody>
                  <a:tcPr marL="71333" marR="71333" marT="35667" marB="356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13854453"/>
                  </a:ext>
                </a:extLst>
              </a:tr>
              <a:tr h="49933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Core idea</a:t>
                      </a:r>
                    </a:p>
                  </a:txBody>
                  <a:tcPr marL="71333" marR="71333" marT="35667" marB="356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Rules and prediction</a:t>
                      </a:r>
                    </a:p>
                  </a:txBody>
                  <a:tcPr marL="71333" marR="71333" marT="35667" marB="356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Content generation</a:t>
                      </a:r>
                    </a:p>
                  </a:txBody>
                  <a:tcPr marL="71333" marR="71333" marT="35667" marB="356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Autonomous goal execution</a:t>
                      </a:r>
                    </a:p>
                  </a:txBody>
                  <a:tcPr marL="71333" marR="71333" marT="35667" marB="356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76022760"/>
                  </a:ext>
                </a:extLst>
              </a:tr>
              <a:tr h="28533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Main output</a:t>
                      </a:r>
                    </a:p>
                  </a:txBody>
                  <a:tcPr marL="71333" marR="71333" marT="35667" marB="356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Labels / scores</a:t>
                      </a:r>
                    </a:p>
                  </a:txBody>
                  <a:tcPr marL="71333" marR="71333" marT="35667" marB="356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New content</a:t>
                      </a:r>
                    </a:p>
                  </a:txBody>
                  <a:tcPr marL="71333" marR="71333" marT="35667" marB="356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Actions and outcomes</a:t>
                      </a:r>
                    </a:p>
                  </a:txBody>
                  <a:tcPr marL="71333" marR="71333" marT="35667" marB="356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74012179"/>
                  </a:ext>
                </a:extLst>
              </a:tr>
              <a:tr h="28533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Creativity</a:t>
                      </a:r>
                    </a:p>
                  </a:txBody>
                  <a:tcPr marL="71333" marR="71333" marT="35667" marB="356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None</a:t>
                      </a:r>
                    </a:p>
                  </a:txBody>
                  <a:tcPr marL="71333" marR="71333" marT="35667" marB="356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High</a:t>
                      </a:r>
                    </a:p>
                  </a:txBody>
                  <a:tcPr marL="71333" marR="71333" marT="35667" marB="356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Moderate–High</a:t>
                      </a:r>
                    </a:p>
                  </a:txBody>
                  <a:tcPr marL="71333" marR="71333" marT="35667" marB="356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06542558"/>
                  </a:ext>
                </a:extLst>
              </a:tr>
              <a:tr h="28533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Autonomy</a:t>
                      </a:r>
                    </a:p>
                  </a:txBody>
                  <a:tcPr marL="71333" marR="71333" marT="35667" marB="356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Low</a:t>
                      </a:r>
                    </a:p>
                  </a:txBody>
                  <a:tcPr marL="71333" marR="71333" marT="35667" marB="356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Low–Medium</a:t>
                      </a:r>
                    </a:p>
                  </a:txBody>
                  <a:tcPr marL="71333" marR="71333" marT="35667" marB="356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High</a:t>
                      </a:r>
                    </a:p>
                  </a:txBody>
                  <a:tcPr marL="71333" marR="71333" marT="35667" marB="356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96651195"/>
                  </a:ext>
                </a:extLst>
              </a:tr>
              <a:tr h="28533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Goal handling</a:t>
                      </a:r>
                    </a:p>
                  </a:txBody>
                  <a:tcPr marL="71333" marR="71333" marT="35667" marB="356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Fixed objectives</a:t>
                      </a:r>
                    </a:p>
                  </a:txBody>
                  <a:tcPr marL="71333" marR="71333" marT="35667" marB="356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Prompt-driven</a:t>
                      </a:r>
                    </a:p>
                  </a:txBody>
                  <a:tcPr marL="71333" marR="71333" marT="35667" marB="356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Plans and sub-goals</a:t>
                      </a:r>
                    </a:p>
                  </a:txBody>
                  <a:tcPr marL="71333" marR="71333" marT="35667" marB="356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20440719"/>
                  </a:ext>
                </a:extLst>
              </a:tr>
              <a:tr h="28533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Interaction</a:t>
                      </a:r>
                    </a:p>
                  </a:txBody>
                  <a:tcPr marL="71333" marR="71333" marT="35667" marB="356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Predefined inputs</a:t>
                      </a:r>
                    </a:p>
                  </a:txBody>
                  <a:tcPr marL="71333" marR="71333" marT="35667" marB="356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Prompts</a:t>
                      </a:r>
                    </a:p>
                  </a:txBody>
                  <a:tcPr marL="71333" marR="71333" marT="35667" marB="356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Continuous loop</a:t>
                      </a:r>
                    </a:p>
                  </a:txBody>
                  <a:tcPr marL="71333" marR="71333" marT="35667" marB="356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43384873"/>
                  </a:ext>
                </a:extLst>
              </a:tr>
              <a:tr h="49933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Tool usage</a:t>
                      </a:r>
                    </a:p>
                  </a:txBody>
                  <a:tcPr marL="71333" marR="71333" marT="35667" marB="356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Minimal</a:t>
                      </a:r>
                    </a:p>
                  </a:txBody>
                  <a:tcPr marL="71333" marR="71333" marT="35667" marB="356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When prompted</a:t>
                      </a:r>
                    </a:p>
                  </a:txBody>
                  <a:tcPr marL="71333" marR="71333" marT="35667" marB="356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Self-selected and orchestrated</a:t>
                      </a:r>
                    </a:p>
                  </a:txBody>
                  <a:tcPr marL="71333" marR="71333" marT="35667" marB="356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97070433"/>
                  </a:ext>
                </a:extLst>
              </a:tr>
              <a:tr h="28533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Memory</a:t>
                      </a:r>
                    </a:p>
                  </a:txBody>
                  <a:tcPr marL="71333" marR="71333" marT="35667" marB="356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Minimal</a:t>
                      </a:r>
                    </a:p>
                  </a:txBody>
                  <a:tcPr marL="71333" marR="71333" marT="35667" marB="356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Context-based</a:t>
                      </a:r>
                    </a:p>
                  </a:txBody>
                  <a:tcPr marL="71333" marR="71333" marT="35667" marB="356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Short + long-term</a:t>
                      </a:r>
                    </a:p>
                  </a:txBody>
                  <a:tcPr marL="71333" marR="71333" marT="35667" marB="356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65801300"/>
                  </a:ext>
                </a:extLst>
              </a:tr>
              <a:tr h="28533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Adaptability</a:t>
                      </a:r>
                    </a:p>
                  </a:txBody>
                  <a:tcPr marL="71333" marR="71333" marT="35667" marB="356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Low</a:t>
                      </a:r>
                    </a:p>
                  </a:txBody>
                  <a:tcPr marL="71333" marR="71333" marT="35667" marB="356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Medium</a:t>
                      </a:r>
                    </a:p>
                  </a:txBody>
                  <a:tcPr marL="71333" marR="71333" marT="35667" marB="356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High</a:t>
                      </a:r>
                    </a:p>
                  </a:txBody>
                  <a:tcPr marL="71333" marR="71333" marT="35667" marB="356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56642686"/>
                  </a:ext>
                </a:extLst>
              </a:tr>
              <a:tr h="28533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Human involvement</a:t>
                      </a:r>
                    </a:p>
                  </a:txBody>
                  <a:tcPr marL="71333" marR="71333" marT="35667" marB="356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High</a:t>
                      </a:r>
                    </a:p>
                  </a:txBody>
                  <a:tcPr marL="71333" marR="71333" marT="35667" marB="356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Medium</a:t>
                      </a:r>
                    </a:p>
                  </a:txBody>
                  <a:tcPr marL="71333" marR="71333" marT="35667" marB="356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Low</a:t>
                      </a:r>
                    </a:p>
                  </a:txBody>
                  <a:tcPr marL="71333" marR="71333" marT="35667" marB="356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84314760"/>
                  </a:ext>
                </a:extLst>
              </a:tr>
              <a:tr h="28533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Examples</a:t>
                      </a:r>
                    </a:p>
                  </a:txBody>
                  <a:tcPr marL="71333" marR="71333" marT="35667" marB="356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Spam filter</a:t>
                      </a:r>
                    </a:p>
                  </a:txBody>
                  <a:tcPr marL="71333" marR="71333" marT="35667" marB="356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ChatGPT</a:t>
                      </a:r>
                    </a:p>
                  </a:txBody>
                  <a:tcPr marL="71333" marR="71333" marT="35667" marB="356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Auto-GPT / </a:t>
                      </a:r>
                      <a:r>
                        <a:rPr lang="en-US" sz="1800" noProof="0" dirty="0" err="1"/>
                        <a:t>LangGraph</a:t>
                      </a:r>
                      <a:endParaRPr lang="en-US" sz="1800" noProof="0" dirty="0"/>
                    </a:p>
                  </a:txBody>
                  <a:tcPr marL="71333" marR="71333" marT="35667" marB="356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92295719"/>
                  </a:ext>
                </a:extLst>
              </a:tr>
              <a:tr h="49933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Use cases</a:t>
                      </a:r>
                    </a:p>
                  </a:txBody>
                  <a:tcPr marL="71333" marR="71333" marT="35667" marB="356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Prediction</a:t>
                      </a:r>
                    </a:p>
                  </a:txBody>
                  <a:tcPr marL="71333" marR="71333" marT="35667" marB="356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Content creation</a:t>
                      </a:r>
                    </a:p>
                  </a:txBody>
                  <a:tcPr marL="71333" marR="71333" marT="35667" marB="356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Automation and decision-making</a:t>
                      </a:r>
                    </a:p>
                  </a:txBody>
                  <a:tcPr marL="71333" marR="71333" marT="35667" marB="356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9357761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8654416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BD26FA-9AC7-0D88-E8C1-3812B6DA6F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Agent Types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3309C4-976B-AB22-89FF-3B28BBEB531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US" noProof="0" dirty="0"/>
              <a:t>Reactive Agent: Sense -&gt; Act (No planning)</a:t>
            </a:r>
          </a:p>
          <a:p>
            <a:pPr lvl="1"/>
            <a:r>
              <a:rPr lang="en-US" noProof="0" dirty="0"/>
              <a:t>Respond immediately to the current environment</a:t>
            </a:r>
          </a:p>
          <a:p>
            <a:pPr lvl="1"/>
            <a:r>
              <a:rPr lang="en-US" noProof="0" dirty="0"/>
              <a:t>No memory of past actions</a:t>
            </a:r>
          </a:p>
          <a:p>
            <a:pPr lvl="1"/>
            <a:r>
              <a:rPr lang="en-US" noProof="0" dirty="0"/>
              <a:t>No future planning</a:t>
            </a:r>
          </a:p>
          <a:p>
            <a:pPr lvl="1"/>
            <a:r>
              <a:rPr lang="en-US" noProof="0" dirty="0"/>
              <a:t>Rule-based bots, Simple if-else systems</a:t>
            </a:r>
          </a:p>
          <a:p>
            <a:pPr lvl="1"/>
            <a:r>
              <a:rPr lang="en-US" noProof="0" dirty="0"/>
              <a:t>Example: When an input file is received, process it and create a report</a:t>
            </a:r>
          </a:p>
          <a:p>
            <a:r>
              <a:rPr lang="en-US" noProof="0" dirty="0"/>
              <a:t>Proactive Agents: Goal-driven Behavior</a:t>
            </a:r>
          </a:p>
          <a:p>
            <a:pPr lvl="1"/>
            <a:r>
              <a:rPr lang="en-US" noProof="0" dirty="0"/>
              <a:t>Act to achieve specific goals</a:t>
            </a:r>
          </a:p>
          <a:p>
            <a:pPr lvl="1"/>
            <a:r>
              <a:rPr lang="en-US" noProof="0" dirty="0"/>
              <a:t>Can plan ahead</a:t>
            </a:r>
          </a:p>
          <a:p>
            <a:pPr lvl="1"/>
            <a:r>
              <a:rPr lang="en-US" noProof="0" dirty="0"/>
              <a:t>May consider future states</a:t>
            </a:r>
          </a:p>
          <a:p>
            <a:pPr lvl="1"/>
            <a:r>
              <a:rPr lang="en-US" noProof="0" dirty="0"/>
              <a:t>Planning agents, Goal-based decision systems</a:t>
            </a:r>
          </a:p>
          <a:p>
            <a:pPr lvl="1"/>
            <a:r>
              <a:rPr lang="en-US" noProof="0" dirty="0"/>
              <a:t>Example: A stock market agent that alerts you to sell a stock because price may fall</a:t>
            </a:r>
          </a:p>
          <a:p>
            <a:r>
              <a:rPr lang="en-US" noProof="0" dirty="0"/>
              <a:t>Autonomous Agents: Self-directed and Adaptive</a:t>
            </a:r>
          </a:p>
          <a:p>
            <a:pPr lvl="1"/>
            <a:r>
              <a:rPr lang="en-US" noProof="0" dirty="0"/>
              <a:t>Operate independently without constant human control</a:t>
            </a:r>
          </a:p>
          <a:p>
            <a:pPr lvl="1"/>
            <a:r>
              <a:rPr lang="en-US" noProof="0" dirty="0"/>
              <a:t>Learn from experience</a:t>
            </a:r>
          </a:p>
          <a:p>
            <a:pPr lvl="1"/>
            <a:r>
              <a:rPr lang="en-US" noProof="0" dirty="0"/>
              <a:t>Combine reactive + proactive behavior</a:t>
            </a:r>
          </a:p>
          <a:p>
            <a:pPr lvl="1"/>
            <a:r>
              <a:rPr lang="en-US" noProof="0" dirty="0"/>
              <a:t>Example: A research agent finds out the best sources of information, handles failures, and comes up with a report</a:t>
            </a:r>
          </a:p>
          <a:p>
            <a:pPr lvl="1"/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99664278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F14DF0-0D71-8249-FE44-C9C30A735A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Summary: Agent Types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BFC738AE-FE22-290E-C8C5-CF7D5D430313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857538139"/>
              </p:ext>
            </p:extLst>
          </p:nvPr>
        </p:nvGraphicFramePr>
        <p:xfrm>
          <a:off x="789339" y="2171098"/>
          <a:ext cx="10515600" cy="2194560"/>
        </p:xfrm>
        <a:graphic>
          <a:graphicData uri="http://schemas.openxmlformats.org/drawingml/2006/table">
            <a:tbl>
              <a:tblPr firstRow="1">
                <a:tableStyleId>{9DCAF9ED-07DC-4A11-8D7F-57B35C25682E}</a:tableStyleId>
              </a:tblPr>
              <a:tblGrid>
                <a:gridCol w="2628900">
                  <a:extLst>
                    <a:ext uri="{9D8B030D-6E8A-4147-A177-3AD203B41FA5}">
                      <a16:colId xmlns:a16="http://schemas.microsoft.com/office/drawing/2014/main" val="511096248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2937345171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1887806541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120154352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Feature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Reactive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Proactive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Autonomous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232306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Decision style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Immediate response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Goal-oriented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Self-directed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3409958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Planning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No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Yes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Yes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918332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Learning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No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Sometimes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Yes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2534806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Human control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High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Medium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Low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3584746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Adaptability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Low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Medium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High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561812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1097433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00DBE7-8717-CEDC-0812-5F49ECAD10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D70168D6-22D9-B7DE-85B7-F87D63D1A1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Foundational Components of an AI Agent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5A593B0-CA6B-57B7-06E6-6859285AEAA1}"/>
              </a:ext>
            </a:extLst>
          </p:cNvPr>
          <p:cNvSpPr txBox="1"/>
          <p:nvPr/>
        </p:nvSpPr>
        <p:spPr>
          <a:xfrm>
            <a:off x="1485610" y="2182604"/>
            <a:ext cx="2498894" cy="646331"/>
          </a:xfrm>
          <a:prstGeom prst="rect">
            <a:avLst/>
          </a:prstGeom>
          <a:solidFill>
            <a:schemeClr val="accent4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noProof="0" dirty="0"/>
              <a:t>Instructions in a Natural Human Language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9CB840B-A7BC-339E-861E-DA450F1B9FC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0157157" y="1435964"/>
            <a:ext cx="1343970" cy="89598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DD082F6B-F936-8F34-2C7D-E9523CBB8B4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9255382" y="1413207"/>
            <a:ext cx="901775" cy="901775"/>
          </a:xfrm>
          <a:prstGeom prst="rect">
            <a:avLst/>
          </a:prstGeom>
        </p:spPr>
      </p:pic>
      <p:pic>
        <p:nvPicPr>
          <p:cNvPr id="10" name="Content Placeholder 6">
            <a:extLst>
              <a:ext uri="{FF2B5EF4-FFF2-40B4-BE49-F238E27FC236}">
                <a16:creationId xmlns:a16="http://schemas.microsoft.com/office/drawing/2014/main" id="{EED379AA-5109-A7E8-8305-5C157096912F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7"/>
              </a:ext>
            </a:extLst>
          </a:blip>
          <a:stretch>
            <a:fillRect/>
          </a:stretch>
        </p:blipFill>
        <p:spPr>
          <a:xfrm>
            <a:off x="475540" y="3406648"/>
            <a:ext cx="1575753" cy="999258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163548F3-3AC6-30F7-D0D6-CAE2374A8B2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9"/>
              </a:ext>
            </a:extLst>
          </a:blip>
          <a:stretch>
            <a:fillRect/>
          </a:stretch>
        </p:blipFill>
        <p:spPr>
          <a:xfrm>
            <a:off x="3036659" y="3319834"/>
            <a:ext cx="1211056" cy="1211056"/>
          </a:xfrm>
          <a:prstGeom prst="rect">
            <a:avLst/>
          </a:prstGeom>
        </p:spPr>
      </p:pic>
      <p:pic>
        <p:nvPicPr>
          <p:cNvPr id="14" name="Picture 2" descr="New Mindset Needed for Large Language Models">
            <a:extLst>
              <a:ext uri="{FF2B5EF4-FFF2-40B4-BE49-F238E27FC236}">
                <a16:creationId xmlns:a16="http://schemas.microsoft.com/office/drawing/2014/main" id="{058C2001-EEC4-836B-517C-05565B2BD24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78739" y="3401250"/>
            <a:ext cx="2019916" cy="1141255"/>
          </a:xfrm>
          <a:prstGeom prst="rect">
            <a:avLst/>
          </a:prstGeom>
          <a:solidFill>
            <a:srgbClr val="FF0000"/>
          </a:solidFill>
        </p:spPr>
      </p:pic>
      <p:sp>
        <p:nvSpPr>
          <p:cNvPr id="16" name="Arrow: Left-Right 15">
            <a:extLst>
              <a:ext uri="{FF2B5EF4-FFF2-40B4-BE49-F238E27FC236}">
                <a16:creationId xmlns:a16="http://schemas.microsoft.com/office/drawing/2014/main" id="{8548B157-B4D5-C8E9-4EA0-C73C52581142}"/>
              </a:ext>
            </a:extLst>
          </p:cNvPr>
          <p:cNvSpPr/>
          <p:nvPr/>
        </p:nvSpPr>
        <p:spPr>
          <a:xfrm>
            <a:off x="4360311" y="3823945"/>
            <a:ext cx="463889" cy="251286"/>
          </a:xfrm>
          <a:prstGeom prst="left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C7AA7337-C316-3C91-37DE-23B321D73548}"/>
              </a:ext>
            </a:extLst>
          </p:cNvPr>
          <p:cNvCxnSpPr>
            <a:cxnSpLocks/>
          </p:cNvCxnSpPr>
          <p:nvPr/>
        </p:nvCxnSpPr>
        <p:spPr>
          <a:xfrm flipV="1">
            <a:off x="1799716" y="2898134"/>
            <a:ext cx="0" cy="355988"/>
          </a:xfrm>
          <a:prstGeom prst="straightConnector1">
            <a:avLst/>
          </a:prstGeom>
          <a:ln w="28575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15C9FD21-4B12-1A7B-09C4-D1145CA73AF1}"/>
              </a:ext>
            </a:extLst>
          </p:cNvPr>
          <p:cNvCxnSpPr>
            <a:cxnSpLocks/>
          </p:cNvCxnSpPr>
          <p:nvPr/>
        </p:nvCxnSpPr>
        <p:spPr>
          <a:xfrm>
            <a:off x="3614555" y="2898134"/>
            <a:ext cx="0" cy="307787"/>
          </a:xfrm>
          <a:prstGeom prst="straightConnector1">
            <a:avLst/>
          </a:prstGeom>
          <a:ln w="28575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7" name="Picture 26">
            <a:extLst>
              <a:ext uri="{FF2B5EF4-FFF2-40B4-BE49-F238E27FC236}">
                <a16:creationId xmlns:a16="http://schemas.microsoft.com/office/drawing/2014/main" id="{81275433-1F6F-EAE9-6B79-1B1FA718A0CA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12"/>
              </a:ext>
            </a:extLst>
          </a:blip>
          <a:stretch>
            <a:fillRect/>
          </a:stretch>
        </p:blipFill>
        <p:spPr>
          <a:xfrm>
            <a:off x="9455624" y="2407134"/>
            <a:ext cx="1250044" cy="923719"/>
          </a:xfrm>
          <a:prstGeom prst="rect">
            <a:avLst/>
          </a:prstGeom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A1E563D5-AA20-D2A3-7ADC-49A805906C81}"/>
              </a:ext>
            </a:extLst>
          </p:cNvPr>
          <p:cNvSpPr txBox="1"/>
          <p:nvPr/>
        </p:nvSpPr>
        <p:spPr>
          <a:xfrm>
            <a:off x="9136912" y="7832610"/>
            <a:ext cx="160652" cy="64633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noProof="0" dirty="0">
                <a:hlinkClick r:id="rId12" tooltip="https://www.programandoamedianoche.com/2009/07/enlace-a-data-objects-en-wpf/"/>
              </a:rPr>
              <a:t>This Photo</a:t>
            </a:r>
            <a:r>
              <a:rPr lang="en-US" sz="900" noProof="0" dirty="0"/>
              <a:t> by Unknown Author is licensed under </a:t>
            </a:r>
            <a:r>
              <a:rPr lang="en-US" sz="900" noProof="0" dirty="0">
                <a:hlinkClick r:id="rId13" tooltip="https://creativecommons.org/licenses/by-nd/3.0/"/>
              </a:rPr>
              <a:t>CC BY-ND</a:t>
            </a:r>
            <a:endParaRPr lang="en-US" sz="900" noProof="0" dirty="0"/>
          </a:p>
        </p:txBody>
      </p:sp>
      <p:pic>
        <p:nvPicPr>
          <p:cNvPr id="30" name="Picture 29">
            <a:extLst>
              <a:ext uri="{FF2B5EF4-FFF2-40B4-BE49-F238E27FC236}">
                <a16:creationId xmlns:a16="http://schemas.microsoft.com/office/drawing/2014/main" id="{4F63431C-C112-B93B-BBA9-135B05F63FE9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15"/>
              </a:ext>
            </a:extLst>
          </a:blip>
          <a:stretch>
            <a:fillRect/>
          </a:stretch>
        </p:blipFill>
        <p:spPr>
          <a:xfrm>
            <a:off x="9455624" y="3429000"/>
            <a:ext cx="2160963" cy="1411829"/>
          </a:xfrm>
          <a:prstGeom prst="rect">
            <a:avLst/>
          </a:prstGeom>
        </p:spPr>
      </p:pic>
      <p:sp>
        <p:nvSpPr>
          <p:cNvPr id="33" name="Arrow: Striped Right 32">
            <a:extLst>
              <a:ext uri="{FF2B5EF4-FFF2-40B4-BE49-F238E27FC236}">
                <a16:creationId xmlns:a16="http://schemas.microsoft.com/office/drawing/2014/main" id="{AB5B1EF0-73E9-0398-5129-970BEF0564C5}"/>
              </a:ext>
            </a:extLst>
          </p:cNvPr>
          <p:cNvSpPr/>
          <p:nvPr/>
        </p:nvSpPr>
        <p:spPr>
          <a:xfrm>
            <a:off x="7316500" y="3890365"/>
            <a:ext cx="2070486" cy="453269"/>
          </a:xfrm>
          <a:prstGeom prst="stripedRightArrow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noProof="0" dirty="0"/>
              <a:t>RAG</a:t>
            </a:r>
          </a:p>
        </p:txBody>
      </p:sp>
      <p:sp>
        <p:nvSpPr>
          <p:cNvPr id="35" name="Thought Bubble: Cloud 34">
            <a:extLst>
              <a:ext uri="{FF2B5EF4-FFF2-40B4-BE49-F238E27FC236}">
                <a16:creationId xmlns:a16="http://schemas.microsoft.com/office/drawing/2014/main" id="{EDC6A13B-A72F-5A25-F60C-4D50CB602102}"/>
              </a:ext>
            </a:extLst>
          </p:cNvPr>
          <p:cNvSpPr/>
          <p:nvPr/>
        </p:nvSpPr>
        <p:spPr>
          <a:xfrm>
            <a:off x="4118290" y="2093182"/>
            <a:ext cx="1423951" cy="1000896"/>
          </a:xfrm>
          <a:prstGeom prst="cloudCallout">
            <a:avLst>
              <a:gd name="adj1" fmla="val -59068"/>
              <a:gd name="adj2" fmla="val 59013"/>
            </a:avLst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noProof="0" dirty="0"/>
              <a:t>Think, Act, Review</a:t>
            </a:r>
          </a:p>
        </p:txBody>
      </p:sp>
      <p:sp>
        <p:nvSpPr>
          <p:cNvPr id="8" name="Arrow: Striped Right 7">
            <a:extLst>
              <a:ext uri="{FF2B5EF4-FFF2-40B4-BE49-F238E27FC236}">
                <a16:creationId xmlns:a16="http://schemas.microsoft.com/office/drawing/2014/main" id="{8F99A91D-42E7-32D6-1D66-5E5574ED713D}"/>
              </a:ext>
            </a:extLst>
          </p:cNvPr>
          <p:cNvSpPr/>
          <p:nvPr/>
        </p:nvSpPr>
        <p:spPr>
          <a:xfrm>
            <a:off x="7316500" y="1631487"/>
            <a:ext cx="2070486" cy="453269"/>
          </a:xfrm>
          <a:prstGeom prst="stripedRightArrow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noProof="0" dirty="0"/>
              <a:t>MCP</a:t>
            </a:r>
          </a:p>
        </p:txBody>
      </p:sp>
      <p:sp>
        <p:nvSpPr>
          <p:cNvPr id="9" name="Arrow: Striped Right 8">
            <a:extLst>
              <a:ext uri="{FF2B5EF4-FFF2-40B4-BE49-F238E27FC236}">
                <a16:creationId xmlns:a16="http://schemas.microsoft.com/office/drawing/2014/main" id="{F8022CD5-B5B5-0372-D4D7-B8299450A020}"/>
              </a:ext>
            </a:extLst>
          </p:cNvPr>
          <p:cNvSpPr/>
          <p:nvPr/>
        </p:nvSpPr>
        <p:spPr>
          <a:xfrm>
            <a:off x="7316500" y="2629476"/>
            <a:ext cx="2070486" cy="453269"/>
          </a:xfrm>
          <a:prstGeom prst="stripedRightArrow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noProof="0" dirty="0"/>
              <a:t>Tool Calling</a:t>
            </a: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C4167932-488F-C8D0-35A1-FA0F6C427623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17"/>
              </a:ext>
            </a:extLst>
          </a:blip>
          <a:stretch>
            <a:fillRect/>
          </a:stretch>
        </p:blipFill>
        <p:spPr>
          <a:xfrm>
            <a:off x="9733340" y="4841335"/>
            <a:ext cx="347306" cy="692304"/>
          </a:xfrm>
          <a:prstGeom prst="rect">
            <a:avLst/>
          </a:prstGeom>
        </p:spPr>
      </p:pic>
      <p:sp>
        <p:nvSpPr>
          <p:cNvPr id="21" name="Arrow: Striped Right 20">
            <a:extLst>
              <a:ext uri="{FF2B5EF4-FFF2-40B4-BE49-F238E27FC236}">
                <a16:creationId xmlns:a16="http://schemas.microsoft.com/office/drawing/2014/main" id="{9F56DE1B-0D83-3960-6A21-3AEC68AE5068}"/>
              </a:ext>
            </a:extLst>
          </p:cNvPr>
          <p:cNvSpPr/>
          <p:nvPr/>
        </p:nvSpPr>
        <p:spPr>
          <a:xfrm>
            <a:off x="7316500" y="4960853"/>
            <a:ext cx="2070486" cy="453269"/>
          </a:xfrm>
          <a:prstGeom prst="stripedRightArrow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noProof="0" dirty="0"/>
              <a:t>HITL</a:t>
            </a:r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CF55FA86-709A-7D65-59AE-1DA96825713C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19"/>
              </a:ext>
            </a:extLst>
          </a:blip>
          <a:stretch>
            <a:fillRect/>
          </a:stretch>
        </p:blipFill>
        <p:spPr>
          <a:xfrm>
            <a:off x="9519429" y="5642784"/>
            <a:ext cx="1275455" cy="850091"/>
          </a:xfrm>
          <a:prstGeom prst="rect">
            <a:avLst/>
          </a:prstGeom>
        </p:spPr>
      </p:pic>
      <p:sp>
        <p:nvSpPr>
          <p:cNvPr id="26" name="Arrow: Striped Right 25">
            <a:extLst>
              <a:ext uri="{FF2B5EF4-FFF2-40B4-BE49-F238E27FC236}">
                <a16:creationId xmlns:a16="http://schemas.microsoft.com/office/drawing/2014/main" id="{7E4A2460-4CC9-ABA6-0669-3EB267DAEBC0}"/>
              </a:ext>
            </a:extLst>
          </p:cNvPr>
          <p:cNvSpPr/>
          <p:nvPr/>
        </p:nvSpPr>
        <p:spPr>
          <a:xfrm>
            <a:off x="7316500" y="5749341"/>
            <a:ext cx="2070486" cy="453269"/>
          </a:xfrm>
          <a:prstGeom prst="stripedRightArrow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noProof="0" dirty="0"/>
              <a:t>Memory</a:t>
            </a:r>
          </a:p>
        </p:txBody>
      </p:sp>
      <p:pic>
        <p:nvPicPr>
          <p:cNvPr id="36" name="Picture 35">
            <a:extLst>
              <a:ext uri="{FF2B5EF4-FFF2-40B4-BE49-F238E27FC236}">
                <a16:creationId xmlns:a16="http://schemas.microsoft.com/office/drawing/2014/main" id="{0F6BF5F7-5E9E-4308-ED16-B7819F885D68}"/>
              </a:ext>
            </a:extLst>
          </p:cNvPr>
          <p:cNvPicPr>
            <a:picLocks noChangeAspect="1"/>
          </p:cNvPicPr>
          <p:nvPr/>
        </p:nvPicPr>
        <p:blipFill>
          <a:blip r:embed="rId20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21"/>
              </a:ext>
            </a:extLst>
          </a:blip>
          <a:stretch>
            <a:fillRect/>
          </a:stretch>
        </p:blipFill>
        <p:spPr>
          <a:xfrm>
            <a:off x="5434485" y="5931522"/>
            <a:ext cx="1434712" cy="956475"/>
          </a:xfrm>
          <a:prstGeom prst="rect">
            <a:avLst/>
          </a:prstGeom>
        </p:spPr>
      </p:pic>
      <p:sp>
        <p:nvSpPr>
          <p:cNvPr id="37" name="Arrow: Striped Right 36">
            <a:extLst>
              <a:ext uri="{FF2B5EF4-FFF2-40B4-BE49-F238E27FC236}">
                <a16:creationId xmlns:a16="http://schemas.microsoft.com/office/drawing/2014/main" id="{31D42ABF-C266-CD9C-AE58-AC03126CD0BF}"/>
              </a:ext>
            </a:extLst>
          </p:cNvPr>
          <p:cNvSpPr/>
          <p:nvPr/>
        </p:nvSpPr>
        <p:spPr>
          <a:xfrm rot="5400000">
            <a:off x="5414749" y="5054173"/>
            <a:ext cx="1346531" cy="453269"/>
          </a:xfrm>
          <a:prstGeom prst="stripedRightArrow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noProof="0" dirty="0"/>
              <a:t>Guardrails</a:t>
            </a:r>
          </a:p>
        </p:txBody>
      </p:sp>
      <p:pic>
        <p:nvPicPr>
          <p:cNvPr id="38" name="Picture 37">
            <a:extLst>
              <a:ext uri="{FF2B5EF4-FFF2-40B4-BE49-F238E27FC236}">
                <a16:creationId xmlns:a16="http://schemas.microsoft.com/office/drawing/2014/main" id="{83DF3F03-9286-8D21-DEF0-D3C2DFF0301D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9"/>
              </a:ext>
            </a:extLst>
          </a:blip>
          <a:stretch>
            <a:fillRect/>
          </a:stretch>
        </p:blipFill>
        <p:spPr>
          <a:xfrm>
            <a:off x="2046251" y="4808594"/>
            <a:ext cx="1211056" cy="1211056"/>
          </a:xfrm>
          <a:prstGeom prst="rect">
            <a:avLst/>
          </a:prstGeom>
        </p:spPr>
      </p:pic>
      <p:pic>
        <p:nvPicPr>
          <p:cNvPr id="39" name="Picture 38">
            <a:extLst>
              <a:ext uri="{FF2B5EF4-FFF2-40B4-BE49-F238E27FC236}">
                <a16:creationId xmlns:a16="http://schemas.microsoft.com/office/drawing/2014/main" id="{587EF9E2-F49F-FD41-6F29-FA29175D75B8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9"/>
              </a:ext>
            </a:extLst>
          </a:blip>
          <a:stretch>
            <a:fillRect/>
          </a:stretch>
        </p:blipFill>
        <p:spPr>
          <a:xfrm>
            <a:off x="3551680" y="4775441"/>
            <a:ext cx="1211056" cy="1211056"/>
          </a:xfrm>
          <a:prstGeom prst="rect">
            <a:avLst/>
          </a:prstGeom>
        </p:spPr>
      </p:pic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6E3E1077-9AD9-917B-E48F-B54DAA3D7D75}"/>
              </a:ext>
            </a:extLst>
          </p:cNvPr>
          <p:cNvCxnSpPr>
            <a:cxnSpLocks/>
          </p:cNvCxnSpPr>
          <p:nvPr/>
        </p:nvCxnSpPr>
        <p:spPr>
          <a:xfrm flipH="1">
            <a:off x="2649872" y="4405906"/>
            <a:ext cx="346680" cy="281214"/>
          </a:xfrm>
          <a:prstGeom prst="straightConnector1">
            <a:avLst/>
          </a:prstGeom>
          <a:ln w="28575">
            <a:solidFill>
              <a:srgbClr val="FF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4F789D65-6ADE-86F2-EED1-1EDF2AE70833}"/>
              </a:ext>
            </a:extLst>
          </p:cNvPr>
          <p:cNvCxnSpPr>
            <a:cxnSpLocks/>
          </p:cNvCxnSpPr>
          <p:nvPr/>
        </p:nvCxnSpPr>
        <p:spPr>
          <a:xfrm flipH="1" flipV="1">
            <a:off x="4295694" y="4405906"/>
            <a:ext cx="256993" cy="315052"/>
          </a:xfrm>
          <a:prstGeom prst="straightConnector1">
            <a:avLst/>
          </a:prstGeom>
          <a:ln w="28575">
            <a:solidFill>
              <a:srgbClr val="FF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E99D570E-C40D-7106-1E6C-675F50C628A2}"/>
              </a:ext>
            </a:extLst>
          </p:cNvPr>
          <p:cNvCxnSpPr>
            <a:cxnSpLocks/>
          </p:cNvCxnSpPr>
          <p:nvPr/>
        </p:nvCxnSpPr>
        <p:spPr>
          <a:xfrm flipH="1">
            <a:off x="3257307" y="5533639"/>
            <a:ext cx="294373" cy="0"/>
          </a:xfrm>
          <a:prstGeom prst="straightConnector1">
            <a:avLst/>
          </a:prstGeom>
          <a:ln w="28575">
            <a:solidFill>
              <a:srgbClr val="FF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6729097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1C9F54-C041-9CEA-B299-3F77D73484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Industry Trends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EC88B0-7BBA-E741-02D7-15942CB2E9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noProof="0" dirty="0"/>
              <a:t>General Trends (https://congruentx.com/emerging-trends-in-agentic-ai-for-2025)</a:t>
            </a:r>
          </a:p>
          <a:p>
            <a:r>
              <a:rPr lang="en-US" noProof="0" dirty="0"/>
              <a:t>Shift from Assistants to Autonomous Workflows (https://timesofindia.indiatimes.com/technology/tech-news/onix-2026-ai-trends-multi-agent-systems-redefine-enterprise-workflows/articleshow/126487254.cms)</a:t>
            </a:r>
          </a:p>
          <a:p>
            <a:r>
              <a:rPr lang="en-US" noProof="0" dirty="0"/>
              <a:t>Agentic Commerce Takes Off (https://www.investors.com/news/technology/shopify-stock-nrf-news-ai-agentic-shopping/)</a:t>
            </a:r>
          </a:p>
          <a:p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18793372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34E5A0-C9F5-1368-CC42-9D455FF1F2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Hands-on: Directly Accessing LLMs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7741F7-E1CD-3E39-DDDE-D6C8953A8B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noProof="0" dirty="0"/>
              <a:t>Download and install Python </a:t>
            </a:r>
            <a:r>
              <a:rPr lang="en-US" b="1" noProof="0" dirty="0"/>
              <a:t>Version 3.12 </a:t>
            </a:r>
            <a:r>
              <a:rPr lang="en-US" noProof="0" dirty="0"/>
              <a:t>(</a:t>
            </a:r>
            <a:r>
              <a:rPr lang="en-US" noProof="0" dirty="0">
                <a:hlinkClick r:id="rId2"/>
              </a:rPr>
              <a:t>https://www.python.org/downloads/</a:t>
            </a:r>
            <a:r>
              <a:rPr lang="en-US" noProof="0" dirty="0"/>
              <a:t>)</a:t>
            </a:r>
            <a:endParaRPr lang="en-US" b="1" noProof="0" dirty="0"/>
          </a:p>
          <a:p>
            <a:r>
              <a:rPr lang="en-US" noProof="0" dirty="0"/>
              <a:t>Download and install VS Code (</a:t>
            </a:r>
            <a:r>
              <a:rPr lang="en-US" noProof="0" dirty="0">
                <a:hlinkClick r:id="rId3"/>
              </a:rPr>
              <a:t>https://code.visualstudio.com/download</a:t>
            </a:r>
            <a:r>
              <a:rPr lang="en-US" noProof="0" dirty="0"/>
              <a:t>)</a:t>
            </a:r>
          </a:p>
          <a:p>
            <a:r>
              <a:rPr lang="en-US" noProof="0" dirty="0"/>
              <a:t>Create a directory (e.g. c:\code\agenticai_realpage) on your machine</a:t>
            </a:r>
          </a:p>
          <a:p>
            <a:r>
              <a:rPr lang="en-US" noProof="0" dirty="0"/>
              <a:t>Set up Python in VS Code: Open VS Code and press </a:t>
            </a:r>
            <a:r>
              <a:rPr lang="en-US" noProof="0" dirty="0" err="1"/>
              <a:t>Ctrl+Shift+P</a:t>
            </a:r>
            <a:r>
              <a:rPr lang="en-US" noProof="0" dirty="0"/>
              <a:t> -&gt; Python: Select interpreter -&gt; Select Python that you have installed on your machine</a:t>
            </a:r>
          </a:p>
          <a:p>
            <a:r>
              <a:rPr lang="en-US" noProof="0" dirty="0"/>
              <a:t>Create a virtual environment in VS Code</a:t>
            </a:r>
          </a:p>
          <a:p>
            <a:pPr lvl="1"/>
            <a:r>
              <a:rPr lang="en-US" noProof="0" dirty="0"/>
              <a:t>Terminal -&gt; New Terminal -&gt; </a:t>
            </a:r>
            <a:r>
              <a:rPr lang="en-US" b="1" noProof="0" dirty="0"/>
              <a:t>cd c:\code\agenticai_realpage</a:t>
            </a:r>
          </a:p>
          <a:p>
            <a:pPr lvl="1"/>
            <a:r>
              <a:rPr lang="en-US" b="1" noProof="0" dirty="0"/>
              <a:t>python -m </a:t>
            </a:r>
            <a:r>
              <a:rPr lang="en-US" b="1" noProof="0" dirty="0" err="1"/>
              <a:t>venv</a:t>
            </a:r>
            <a:r>
              <a:rPr lang="en-US" b="1" noProof="0" dirty="0"/>
              <a:t> </a:t>
            </a:r>
            <a:r>
              <a:rPr lang="en-US" b="1" noProof="0" dirty="0" err="1"/>
              <a:t>myenv</a:t>
            </a:r>
            <a:endParaRPr lang="en-US" b="1" noProof="0" dirty="0"/>
          </a:p>
          <a:p>
            <a:pPr lvl="1"/>
            <a:r>
              <a:rPr lang="en-US" b="1" noProof="0" dirty="0" err="1"/>
              <a:t>myvenv</a:t>
            </a:r>
            <a:r>
              <a:rPr lang="en-US" b="1" noProof="0" dirty="0"/>
              <a:t>\Scripts\activate</a:t>
            </a:r>
            <a:r>
              <a:rPr lang="en-US" noProof="0" dirty="0"/>
              <a:t> (On Windows) and </a:t>
            </a:r>
            <a:r>
              <a:rPr lang="en-US" b="1" noProof="0" dirty="0"/>
              <a:t>source </a:t>
            </a:r>
            <a:r>
              <a:rPr lang="en-US" b="1" noProof="0" dirty="0" err="1"/>
              <a:t>myvenv</a:t>
            </a:r>
            <a:r>
              <a:rPr lang="en-US" b="1" noProof="0" dirty="0"/>
              <a:t>/bin/activate</a:t>
            </a:r>
            <a:r>
              <a:rPr lang="en-US" noProof="0" dirty="0"/>
              <a:t>  (on Linux)</a:t>
            </a:r>
          </a:p>
          <a:p>
            <a:pPr lvl="1"/>
            <a:r>
              <a:rPr lang="en-US" b="1" noProof="0" dirty="0"/>
              <a:t>pip install </a:t>
            </a:r>
            <a:r>
              <a:rPr lang="en-US" b="1" noProof="0" dirty="0" err="1"/>
              <a:t>openai</a:t>
            </a:r>
            <a:r>
              <a:rPr lang="en-US" b="1" noProof="0" dirty="0"/>
              <a:t> </a:t>
            </a:r>
            <a:r>
              <a:rPr lang="en-US" b="1" noProof="0" dirty="0" err="1"/>
              <a:t>openai</a:t>
            </a:r>
            <a:r>
              <a:rPr lang="en-US" b="1" noProof="0" dirty="0"/>
              <a:t>-agents</a:t>
            </a:r>
          </a:p>
          <a:p>
            <a:pPr lvl="1"/>
            <a:r>
              <a:rPr lang="en-US" noProof="0" dirty="0"/>
              <a:t>Later to deactivate: deactivate</a:t>
            </a:r>
          </a:p>
          <a:p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09064985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2B00B3-34C9-CBAE-17A1-60DD0D96A7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Using LLMs: OpenAI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1176EC-436E-9D32-EDB9-59AE96E490C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noProof="0" dirty="0"/>
              <a:t>Get an API key: https://platform.openai.com/settings/organization/api-keys</a:t>
            </a:r>
          </a:p>
          <a:p>
            <a:r>
              <a:rPr lang="en-US" noProof="0" dirty="0"/>
              <a:t>Copy it in .env file</a:t>
            </a:r>
          </a:p>
          <a:p>
            <a:r>
              <a:rPr lang="en-US" noProof="0" dirty="0"/>
              <a:t>pip install </a:t>
            </a:r>
            <a:r>
              <a:rPr lang="en-US" noProof="0" dirty="0" err="1"/>
              <a:t>openai</a:t>
            </a:r>
            <a:r>
              <a:rPr lang="en-US" noProof="0" dirty="0"/>
              <a:t>  </a:t>
            </a:r>
            <a:r>
              <a:rPr lang="en-US" noProof="0" dirty="0" err="1"/>
              <a:t>dotenv</a:t>
            </a:r>
            <a:endParaRPr lang="en-US" noProof="0" dirty="0"/>
          </a:p>
          <a:p>
            <a:r>
              <a:rPr lang="en-US" noProof="0" dirty="0"/>
              <a:t>Run C:\code\agenticai_realpage\module_1\1_openai_basic.py</a:t>
            </a:r>
          </a:p>
          <a:p>
            <a:endParaRPr lang="en-US" noProof="0" dirty="0"/>
          </a:p>
          <a:p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16833280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292AC0-3620-FC39-DA33-C8B3A25658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Building the First Agent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A816F8-2BD8-7F0C-6C21-67DEED30C4C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noProof="0" dirty="0"/>
              <a:t>Step 1: Setup and Imports</a:t>
            </a:r>
          </a:p>
          <a:p>
            <a:endParaRPr lang="en-US" noProof="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AC7ED40-EF4F-9D40-EC8D-327B2F5CA575}"/>
              </a:ext>
            </a:extLst>
          </p:cNvPr>
          <p:cNvSpPr txBox="1"/>
          <p:nvPr/>
        </p:nvSpPr>
        <p:spPr>
          <a:xfrm>
            <a:off x="1023174" y="2288559"/>
            <a:ext cx="4292212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from </a:t>
            </a:r>
            <a:r>
              <a:rPr lang="en-US" noProof="0" dirty="0" err="1">
                <a:latin typeface="Cascadia Mono" panose="020B0609020000020004" pitchFamily="49" charset="0"/>
                <a:cs typeface="Cascadia Mono" panose="020B0609020000020004" pitchFamily="49" charset="0"/>
              </a:rPr>
              <a:t>openai</a:t>
            </a:r>
            <a:r>
              <a:rPr lang="en-US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 import OpenAI</a:t>
            </a:r>
          </a:p>
          <a:p>
            <a:br>
              <a:rPr lang="en-US" noProof="0" dirty="0">
                <a:latin typeface="Cascadia Mono" panose="020B0609020000020004" pitchFamily="49" charset="0"/>
                <a:cs typeface="Cascadia Mono" panose="020B0609020000020004" pitchFamily="49" charset="0"/>
              </a:rPr>
            </a:br>
            <a:endParaRPr lang="en-US" noProof="0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from </a:t>
            </a:r>
            <a:r>
              <a:rPr lang="en-US" noProof="0" dirty="0" err="1">
                <a:latin typeface="Cascadia Mono" panose="020B0609020000020004" pitchFamily="49" charset="0"/>
                <a:cs typeface="Cascadia Mono" panose="020B0609020000020004" pitchFamily="49" charset="0"/>
              </a:rPr>
              <a:t>dotenv</a:t>
            </a:r>
            <a:r>
              <a:rPr lang="en-US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 import </a:t>
            </a:r>
            <a:r>
              <a:rPr lang="en-US" noProof="0" dirty="0" err="1">
                <a:latin typeface="Cascadia Mono" panose="020B0609020000020004" pitchFamily="49" charset="0"/>
                <a:cs typeface="Cascadia Mono" panose="020B0609020000020004" pitchFamily="49" charset="0"/>
              </a:rPr>
              <a:t>load_dotenv</a:t>
            </a:r>
            <a:endParaRPr lang="en-US" noProof="0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noProof="0" dirty="0" err="1">
                <a:latin typeface="Cascadia Mono" panose="020B0609020000020004" pitchFamily="49" charset="0"/>
                <a:cs typeface="Cascadia Mono" panose="020B0609020000020004" pitchFamily="49" charset="0"/>
              </a:rPr>
              <a:t>load_dotenv</a:t>
            </a:r>
            <a:r>
              <a:rPr lang="en-US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(override=True)</a:t>
            </a:r>
          </a:p>
          <a:p>
            <a:endParaRPr lang="en-US" noProof="0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client = OpenAI()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44831F0D-C308-09F3-627E-CE145BC63E1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02803670"/>
              </p:ext>
            </p:extLst>
          </p:nvPr>
        </p:nvGraphicFramePr>
        <p:xfrm>
          <a:off x="5402638" y="1945640"/>
          <a:ext cx="6659066" cy="111252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1926522">
                  <a:extLst>
                    <a:ext uri="{9D8B030D-6E8A-4147-A177-3AD203B41FA5}">
                      <a16:colId xmlns:a16="http://schemas.microsoft.com/office/drawing/2014/main" val="1146209541"/>
                    </a:ext>
                  </a:extLst>
                </a:gridCol>
                <a:gridCol w="4732544">
                  <a:extLst>
                    <a:ext uri="{9D8B030D-6E8A-4147-A177-3AD203B41FA5}">
                      <a16:colId xmlns:a16="http://schemas.microsoft.com/office/drawing/2014/main" val="317250918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noProof="0" dirty="0"/>
                        <a:t>Code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Explanation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2267388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noProof="0" dirty="0" err="1"/>
                        <a:t>load_dotenv</a:t>
                      </a:r>
                      <a:r>
                        <a:rPr lang="en-US" noProof="0" dirty="0"/>
                        <a:t>()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Loads API keys from .env file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47767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noProof="0" dirty="0"/>
                        <a:t>OpenAI()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Instantiate an object of OpenAI class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6956912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4380585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71CAEC-B4AF-F582-CE08-993B3A1390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C06CF0-3CD9-CA4A-8513-97AE8C219D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Building the First Agent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E0D761-7F53-120A-C071-3DFC049C6C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noProof="0" dirty="0"/>
              <a:t>Step 2: Call the LLM</a:t>
            </a:r>
          </a:p>
          <a:p>
            <a:endParaRPr lang="en-US" noProof="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C92C4B5-B741-B8C3-843E-83ABD12FFAC1}"/>
              </a:ext>
            </a:extLst>
          </p:cNvPr>
          <p:cNvSpPr txBox="1"/>
          <p:nvPr/>
        </p:nvSpPr>
        <p:spPr>
          <a:xfrm>
            <a:off x="1023174" y="2288559"/>
            <a:ext cx="4292212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response = </a:t>
            </a:r>
            <a:r>
              <a:rPr lang="en-US" noProof="0" dirty="0" err="1">
                <a:latin typeface="Cascadia Mono" panose="020B0609020000020004" pitchFamily="49" charset="0"/>
                <a:cs typeface="Cascadia Mono" panose="020B0609020000020004" pitchFamily="49" charset="0"/>
              </a:rPr>
              <a:t>client.chat.completions.create</a:t>
            </a:r>
            <a:r>
              <a:rPr lang="en-US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</a:p>
          <a:p>
            <a:r>
              <a:rPr lang="en-US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    model="gpt-4o-mini",</a:t>
            </a:r>
          </a:p>
          <a:p>
            <a:r>
              <a:rPr lang="en-US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    messages=[</a:t>
            </a:r>
          </a:p>
          <a:p>
            <a:r>
              <a:rPr lang="en-US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        {"role": "system", "content": "You are a helpful assistant"},</a:t>
            </a:r>
          </a:p>
          <a:p>
            <a:r>
              <a:rPr lang="en-US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        {"role": "user", "content": "Explain agentic AI in one paragraph"}</a:t>
            </a:r>
          </a:p>
          <a:p>
            <a:r>
              <a:rPr lang="en-US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    ]</a:t>
            </a:r>
          </a:p>
          <a:p>
            <a:r>
              <a:rPr lang="en-US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</a:p>
          <a:p>
            <a:endParaRPr lang="en-US" noProof="0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print(</a:t>
            </a:r>
            <a:r>
              <a:rPr lang="en-US" noProof="0" dirty="0" err="1">
                <a:latin typeface="Cascadia Mono" panose="020B0609020000020004" pitchFamily="49" charset="0"/>
                <a:cs typeface="Cascadia Mono" panose="020B0609020000020004" pitchFamily="49" charset="0"/>
              </a:rPr>
              <a:t>response.choices</a:t>
            </a:r>
            <a:r>
              <a:rPr lang="en-US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[0].</a:t>
            </a:r>
            <a:r>
              <a:rPr lang="en-US" noProof="0" dirty="0" err="1">
                <a:latin typeface="Cascadia Mono" panose="020B0609020000020004" pitchFamily="49" charset="0"/>
                <a:cs typeface="Cascadia Mono" panose="020B0609020000020004" pitchFamily="49" charset="0"/>
              </a:rPr>
              <a:t>message.content</a:t>
            </a:r>
            <a:r>
              <a:rPr lang="en-US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E120DD79-C8D0-9F6F-0851-F0E4B93EAEF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55793748"/>
              </p:ext>
            </p:extLst>
          </p:nvPr>
        </p:nvGraphicFramePr>
        <p:xfrm>
          <a:off x="5402638" y="1945640"/>
          <a:ext cx="6659066" cy="239268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1926522">
                  <a:extLst>
                    <a:ext uri="{9D8B030D-6E8A-4147-A177-3AD203B41FA5}">
                      <a16:colId xmlns:a16="http://schemas.microsoft.com/office/drawing/2014/main" val="1146209541"/>
                    </a:ext>
                  </a:extLst>
                </a:gridCol>
                <a:gridCol w="4732544">
                  <a:extLst>
                    <a:ext uri="{9D8B030D-6E8A-4147-A177-3AD203B41FA5}">
                      <a16:colId xmlns:a16="http://schemas.microsoft.com/office/drawing/2014/main" val="317250918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noProof="0" dirty="0"/>
                        <a:t>Code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Explanation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2267388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noProof="0" dirty="0"/>
                        <a:t>create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Create a call to the LLM using the OpenAI Chat Completions API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47767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noProof="0" dirty="0"/>
                        <a:t>model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Which LLM to use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695691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noProof="0" dirty="0"/>
                        <a:t>messages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system: Set the persona</a:t>
                      </a:r>
                      <a:br>
                        <a:rPr lang="en-US" noProof="0" dirty="0"/>
                      </a:br>
                      <a:r>
                        <a:rPr lang="en-US" noProof="0" dirty="0"/>
                        <a:t>user: A specific question/problem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8992073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noProof="0" dirty="0"/>
                        <a:t>response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What the LLM returns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4004523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64167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C83056-37FD-13C2-4A5B-2EF7A5801D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Hugging Face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337054-66D1-B97C-B1E0-69E865E8A4A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Open platform for AI model building, training, deployment</a:t>
            </a:r>
          </a:p>
          <a:p>
            <a:r>
              <a:rPr lang="en-IN" dirty="0"/>
              <a:t>“GitHub of modern AI models”</a:t>
            </a:r>
          </a:p>
          <a:p>
            <a:r>
              <a:rPr lang="en-IN" dirty="0"/>
              <a:t>Why Hugging Face?</a:t>
            </a:r>
          </a:p>
          <a:p>
            <a:pPr lvl="1"/>
            <a:r>
              <a:rPr lang="en-IN" dirty="0"/>
              <a:t>Pretrained models – No need to train from scratch</a:t>
            </a:r>
          </a:p>
          <a:p>
            <a:pPr lvl="1"/>
            <a:r>
              <a:rPr lang="en-IN" dirty="0"/>
              <a:t>Standardized APIs – Faster experimentation</a:t>
            </a:r>
          </a:p>
          <a:p>
            <a:pPr lvl="1"/>
            <a:r>
              <a:rPr lang="en-IN" dirty="0"/>
              <a:t>Open ecosystem – Models, Datasets, Demos, Tools</a:t>
            </a:r>
          </a:p>
          <a:p>
            <a:r>
              <a:rPr lang="en-IN" dirty="0"/>
              <a:t>Core components</a:t>
            </a:r>
            <a:endParaRPr lang="en-GB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E28281E1-DC56-78DD-D363-AB07850578F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45275529"/>
              </p:ext>
            </p:extLst>
          </p:nvPr>
        </p:nvGraphicFramePr>
        <p:xfrm>
          <a:off x="4150282" y="4664075"/>
          <a:ext cx="7203518" cy="1828800"/>
        </p:xfrm>
        <a:graphic>
          <a:graphicData uri="http://schemas.openxmlformats.org/drawingml/2006/table">
            <a:tbl>
              <a:tblPr firstRow="1">
                <a:tableStyleId>{69012ECD-51FC-41F1-AA8D-1B2483CD663E}</a:tableStyleId>
              </a:tblPr>
              <a:tblGrid>
                <a:gridCol w="1610725">
                  <a:extLst>
                    <a:ext uri="{9D8B030D-6E8A-4147-A177-3AD203B41FA5}">
                      <a16:colId xmlns:a16="http://schemas.microsoft.com/office/drawing/2014/main" val="1246703174"/>
                    </a:ext>
                  </a:extLst>
                </a:gridCol>
                <a:gridCol w="5592793">
                  <a:extLst>
                    <a:ext uri="{9D8B030D-6E8A-4147-A177-3AD203B41FA5}">
                      <a16:colId xmlns:a16="http://schemas.microsoft.com/office/drawing/2014/main" val="1686628329"/>
                    </a:ext>
                  </a:extLst>
                </a:gridCol>
              </a:tblGrid>
              <a:tr h="24202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Component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Purpose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73637809"/>
                  </a:ext>
                </a:extLst>
              </a:tr>
              <a:tr h="24202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b="1" dirty="0"/>
                        <a:t>Transformers</a:t>
                      </a:r>
                      <a:endParaRPr lang="en-GB" sz="1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State-of-the-art models (BERT, GPT, T5, LLaMA, etc.)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15581293"/>
                  </a:ext>
                </a:extLst>
              </a:tr>
              <a:tr h="24202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b="1" dirty="0"/>
                        <a:t>Datasets</a:t>
                      </a:r>
                      <a:endParaRPr lang="en-GB" sz="1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Ready-to-use datasets with versioning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2405693"/>
                  </a:ext>
                </a:extLst>
              </a:tr>
              <a:tr h="24202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b="1" dirty="0"/>
                        <a:t>Inference API</a:t>
                      </a:r>
                      <a:endParaRPr lang="en-GB" sz="1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Run models without infrastructure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91262975"/>
                  </a:ext>
                </a:extLst>
              </a:tr>
              <a:tr h="24202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b="1" dirty="0"/>
                        <a:t>Spaces</a:t>
                      </a:r>
                      <a:endParaRPr lang="en-GB" sz="1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Share ML demos (Gradio / Streamlit)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24958443"/>
                  </a:ext>
                </a:extLst>
              </a:tr>
              <a:tr h="24202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b="1" dirty="0"/>
                        <a:t>Hub</a:t>
                      </a:r>
                      <a:endParaRPr lang="en-GB" sz="1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nb-NO" sz="1400" dirty="0"/>
                        <a:t>GitHub-like repo for models &amp; datasets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7762951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5843431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F3DAE1-E492-5BA5-56CD-9953E84A19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39B0B6-F0A4-280A-032A-3338898EA3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Hugging Face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B7CB95-387C-221E-5A91-16BE15B927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Typical workflow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Choose a pretrained model from the Hub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Load it using Transformers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(Optional) Fine-tune on your data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Deploy via API / local / cloud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84259668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51940F-66D7-69A1-6ACF-A79BE8ABAF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Using LLMs: Hugging Face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9B3A30-FF3B-C50D-EDCD-82AD4174B3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noProof="0" dirty="0"/>
              <a:t>Open-source models</a:t>
            </a:r>
          </a:p>
          <a:p>
            <a:r>
              <a:rPr lang="en-US" noProof="0" dirty="0"/>
              <a:t>We have full control</a:t>
            </a:r>
          </a:p>
          <a:p>
            <a:r>
              <a:rPr lang="en-US" noProof="0" dirty="0"/>
              <a:t>Offline / On-prem</a:t>
            </a:r>
          </a:p>
          <a:p>
            <a:r>
              <a:rPr lang="en-US" noProof="0" dirty="0"/>
              <a:t>No vendor lock-in</a:t>
            </a:r>
          </a:p>
          <a:p>
            <a:r>
              <a:rPr lang="en-US" noProof="0" dirty="0"/>
              <a:t>Very slow, sometimes</a:t>
            </a:r>
          </a:p>
          <a:p>
            <a:r>
              <a:rPr lang="en-US" noProof="0" dirty="0"/>
              <a:t>Two options</a:t>
            </a:r>
          </a:p>
          <a:p>
            <a:pPr lvl="1"/>
            <a:r>
              <a:rPr lang="en-US" noProof="0" dirty="0"/>
              <a:t>Transformers API (Local/GPU/CPU): </a:t>
            </a:r>
            <a:r>
              <a:rPr lang="en-US" b="1" noProof="0" dirty="0"/>
              <a:t>pip install transformers torch accelerate</a:t>
            </a:r>
          </a:p>
          <a:p>
            <a:pPr lvl="2"/>
            <a:r>
              <a:rPr lang="en-US" noProof="0" dirty="0"/>
              <a:t>We download and run the model inside our environment</a:t>
            </a:r>
          </a:p>
          <a:p>
            <a:pPr lvl="1"/>
            <a:r>
              <a:rPr lang="en-US" noProof="0" dirty="0"/>
              <a:t>Hugging Face Interface API (Hosted): </a:t>
            </a:r>
            <a:r>
              <a:rPr lang="en-US" b="1" noProof="0" dirty="0"/>
              <a:t>pip install  </a:t>
            </a:r>
            <a:r>
              <a:rPr lang="en-US" b="1" noProof="0" dirty="0" err="1"/>
              <a:t>huggingface_hub</a:t>
            </a:r>
            <a:endParaRPr lang="en-US" b="1" noProof="0" dirty="0"/>
          </a:p>
          <a:p>
            <a:pPr lvl="2"/>
            <a:r>
              <a:rPr lang="en-US" noProof="0" dirty="0"/>
              <a:t>Model runs on Hugging Face cloud infrastructure </a:t>
            </a:r>
          </a:p>
          <a:p>
            <a:pPr lvl="2"/>
            <a:r>
              <a:rPr lang="en-US" noProof="0" dirty="0"/>
              <a:t>Code: module_1\2_hugging_face_local.py</a:t>
            </a:r>
          </a:p>
          <a:p>
            <a:pPr lvl="2"/>
            <a:r>
              <a:rPr lang="en-US" noProof="0" dirty="0"/>
              <a:t>Will not run, unless we make a payment on Hugging Face site to enable inference endpoints (endpoints.huggingface.co)</a:t>
            </a:r>
          </a:p>
          <a:p>
            <a:pPr marL="457200" lvl="1" indent="0">
              <a:buNone/>
            </a:pP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85962924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19E138-4951-5861-A49D-D971B35AA5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BA0D855-CC35-3452-CDE1-46E24111E9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Creating a Simple Utility Agent Using OpenAI API (No Frameworks)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C6CABAA-CC9F-16AE-E57F-12FE94250E5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67720438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72A1C4-5CC8-F5F3-62BF-CC0F452F96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Building a Multi-Assistant Agent Step-by-Step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6427CD-28D4-DDA0-846F-3BBC2E8652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704041" cy="4351338"/>
          </a:xfrm>
        </p:spPr>
        <p:txBody>
          <a:bodyPr/>
          <a:lstStyle/>
          <a:p>
            <a:r>
              <a:rPr lang="en-US" b="1" noProof="0" dirty="0"/>
              <a:t>Step 1: Setup and Imports</a:t>
            </a:r>
          </a:p>
          <a:p>
            <a:pPr marL="0" indent="0">
              <a:buNone/>
            </a:pPr>
            <a:r>
              <a:rPr lang="en-US" sz="18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import </a:t>
            </a:r>
            <a:r>
              <a:rPr lang="en-US" sz="1800" noProof="0" dirty="0" err="1">
                <a:latin typeface="Cascadia Mono" panose="020B0609020000020004" pitchFamily="49" charset="0"/>
                <a:cs typeface="Cascadia Mono" panose="020B0609020000020004" pitchFamily="49" charset="0"/>
              </a:rPr>
              <a:t>asyncio</a:t>
            </a:r>
            <a:endParaRPr lang="en-US" sz="1800" noProof="0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pPr marL="0" indent="0">
              <a:buNone/>
            </a:pPr>
            <a:r>
              <a:rPr lang="en-US" sz="18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from agents import Agent, Runner, </a:t>
            </a:r>
            <a:r>
              <a:rPr lang="en-US" sz="1800" noProof="0" dirty="0" err="1">
                <a:latin typeface="Cascadia Mono" panose="020B0609020000020004" pitchFamily="49" charset="0"/>
                <a:cs typeface="Cascadia Mono" panose="020B0609020000020004" pitchFamily="49" charset="0"/>
              </a:rPr>
              <a:t>function_tool</a:t>
            </a:r>
            <a:endParaRPr lang="en-US" sz="1800" noProof="0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pPr marL="0" indent="0">
              <a:buNone/>
            </a:pPr>
            <a:r>
              <a:rPr lang="en-US" sz="18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from datetime import datetime</a:t>
            </a:r>
          </a:p>
          <a:p>
            <a:pPr marL="0" indent="0">
              <a:buNone/>
            </a:pPr>
            <a:r>
              <a:rPr lang="en-US" sz="18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from </a:t>
            </a:r>
            <a:r>
              <a:rPr lang="en-US" sz="1800" noProof="0" dirty="0" err="1">
                <a:latin typeface="Cascadia Mono" panose="020B0609020000020004" pitchFamily="49" charset="0"/>
                <a:cs typeface="Cascadia Mono" panose="020B0609020000020004" pitchFamily="49" charset="0"/>
              </a:rPr>
              <a:t>dotenv</a:t>
            </a:r>
            <a:r>
              <a:rPr lang="en-US" sz="18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 import </a:t>
            </a:r>
            <a:r>
              <a:rPr lang="en-US" sz="1800" noProof="0" dirty="0" err="1">
                <a:latin typeface="Cascadia Mono" panose="020B0609020000020004" pitchFamily="49" charset="0"/>
                <a:cs typeface="Cascadia Mono" panose="020B0609020000020004" pitchFamily="49" charset="0"/>
              </a:rPr>
              <a:t>load_dotenv</a:t>
            </a:r>
            <a:endParaRPr lang="en-US" sz="1800" noProof="0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pPr marL="0" indent="0">
              <a:buNone/>
            </a:pPr>
            <a:endParaRPr lang="en-US" sz="1800" noProof="0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pPr marL="0" indent="0">
              <a:buNone/>
            </a:pPr>
            <a:r>
              <a:rPr lang="en-US" sz="1800" noProof="0" dirty="0" err="1">
                <a:latin typeface="Cascadia Mono" panose="020B0609020000020004" pitchFamily="49" charset="0"/>
                <a:cs typeface="Cascadia Mono" panose="020B0609020000020004" pitchFamily="49" charset="0"/>
              </a:rPr>
              <a:t>load_dotenv</a:t>
            </a:r>
            <a:r>
              <a:rPr lang="en-US" sz="18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(override=True)</a:t>
            </a:r>
            <a:endParaRPr lang="en-US" noProof="0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A3AB87BA-0DF5-F6F0-FC8C-09A31C1560D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39768801"/>
              </p:ext>
            </p:extLst>
          </p:nvPr>
        </p:nvGraphicFramePr>
        <p:xfrm>
          <a:off x="5402638" y="1945640"/>
          <a:ext cx="6659066" cy="185420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1926522">
                  <a:extLst>
                    <a:ext uri="{9D8B030D-6E8A-4147-A177-3AD203B41FA5}">
                      <a16:colId xmlns:a16="http://schemas.microsoft.com/office/drawing/2014/main" val="1146209541"/>
                    </a:ext>
                  </a:extLst>
                </a:gridCol>
                <a:gridCol w="4732544">
                  <a:extLst>
                    <a:ext uri="{9D8B030D-6E8A-4147-A177-3AD203B41FA5}">
                      <a16:colId xmlns:a16="http://schemas.microsoft.com/office/drawing/2014/main" val="317250918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noProof="0" dirty="0"/>
                        <a:t>Code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Explanation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2267388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noProof="0" dirty="0"/>
                        <a:t>agents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OpenAI Agents SDK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395248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noProof="0" dirty="0" err="1"/>
                        <a:t>asyncio</a:t>
                      </a:r>
                      <a:endParaRPr lang="en-US" noProof="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For running multiple queries concurrently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423089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noProof="0" dirty="0" err="1"/>
                        <a:t>function_tool</a:t>
                      </a:r>
                      <a:endParaRPr lang="en-US" noProof="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Decorator to convert functions into agent tools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9013703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noProof="0" dirty="0" err="1"/>
                        <a:t>load_dotenv</a:t>
                      </a:r>
                      <a:r>
                        <a:rPr lang="en-US" noProof="0" dirty="0"/>
                        <a:t>()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Loads API keys from .env file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4776710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EA2F4C94-6CED-2742-B341-F8E3C78F0D67}"/>
              </a:ext>
            </a:extLst>
          </p:cNvPr>
          <p:cNvSpPr txBox="1"/>
          <p:nvPr/>
        </p:nvSpPr>
        <p:spPr>
          <a:xfrm>
            <a:off x="6479908" y="4425417"/>
            <a:ext cx="3697154" cy="92333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noProof="0" dirty="0"/>
              <a:t>Installations</a:t>
            </a:r>
          </a:p>
          <a:p>
            <a:endParaRPr lang="en-US" noProof="0" dirty="0"/>
          </a:p>
          <a:p>
            <a:r>
              <a:rPr lang="en-US" b="1" noProof="0" dirty="0"/>
              <a:t>pip install </a:t>
            </a:r>
            <a:r>
              <a:rPr lang="en-US" b="1" noProof="0" dirty="0" err="1"/>
              <a:t>openai</a:t>
            </a:r>
            <a:r>
              <a:rPr lang="en-US" b="1" noProof="0" dirty="0"/>
              <a:t>-agents  </a:t>
            </a:r>
            <a:r>
              <a:rPr lang="en-US" b="1" noProof="0" dirty="0" err="1"/>
              <a:t>dotenv</a:t>
            </a:r>
            <a:endParaRPr lang="en-US" b="1" noProof="0" dirty="0"/>
          </a:p>
        </p:txBody>
      </p:sp>
    </p:spTree>
    <p:extLst>
      <p:ext uri="{BB962C8B-B14F-4D97-AF65-F5344CB8AC3E}">
        <p14:creationId xmlns:p14="http://schemas.microsoft.com/office/powerpoint/2010/main" val="44285821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2E80EF-FA53-5833-723A-DBE59DDD85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B01799-5DC0-97DE-3EA4-16B31CE113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Building a Multi-Assistant Agent Step-by-Step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66041B-0DD0-914D-065A-0F282F1EF40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218734" cy="4351338"/>
          </a:xfrm>
        </p:spPr>
        <p:txBody>
          <a:bodyPr>
            <a:normAutofit fontScale="92500" lnSpcReduction="10000"/>
          </a:bodyPr>
          <a:lstStyle/>
          <a:p>
            <a:r>
              <a:rPr lang="en-US" b="1" noProof="0" dirty="0"/>
              <a:t>Step 2: Create Tools</a:t>
            </a:r>
            <a:endParaRPr lang="en-US" noProof="0" dirty="0"/>
          </a:p>
          <a:p>
            <a:pPr marL="0" indent="0">
              <a:buNone/>
            </a:pPr>
            <a:r>
              <a:rPr lang="en-US" sz="18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@function_tool</a:t>
            </a:r>
          </a:p>
          <a:p>
            <a:pPr marL="0" indent="0">
              <a:buNone/>
            </a:pPr>
            <a:r>
              <a:rPr lang="en-US" sz="18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def </a:t>
            </a:r>
            <a:r>
              <a:rPr lang="en-US" sz="1800" noProof="0" dirty="0" err="1">
                <a:latin typeface="Cascadia Mono" panose="020B0609020000020004" pitchFamily="49" charset="0"/>
                <a:cs typeface="Cascadia Mono" panose="020B0609020000020004" pitchFamily="49" charset="0"/>
              </a:rPr>
              <a:t>get_temperature</a:t>
            </a:r>
            <a:r>
              <a:rPr lang="en-US" sz="18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(city: str) -&gt; str:</a:t>
            </a:r>
          </a:p>
          <a:p>
            <a:pPr marL="0" indent="0">
              <a:buNone/>
            </a:pPr>
            <a:r>
              <a:rPr lang="en-US" sz="18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    """Returns mock temperature for a city."""</a:t>
            </a:r>
          </a:p>
          <a:p>
            <a:pPr marL="0" indent="0">
              <a:buNone/>
            </a:pPr>
            <a:r>
              <a:rPr lang="en-US" sz="18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    temps = {</a:t>
            </a:r>
          </a:p>
          <a:p>
            <a:pPr marL="0" indent="0">
              <a:buNone/>
            </a:pPr>
            <a:r>
              <a:rPr lang="en-US" sz="18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        "new </a:t>
            </a:r>
            <a:r>
              <a:rPr lang="en-US" sz="1800" noProof="0" dirty="0" err="1">
                <a:latin typeface="Cascadia Mono" panose="020B0609020000020004" pitchFamily="49" charset="0"/>
                <a:cs typeface="Cascadia Mono" panose="020B0609020000020004" pitchFamily="49" charset="0"/>
              </a:rPr>
              <a:t>york</a:t>
            </a:r>
            <a:r>
              <a:rPr lang="en-US" sz="18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": "72°F",</a:t>
            </a:r>
          </a:p>
          <a:p>
            <a:pPr marL="0" indent="0">
              <a:buNone/>
            </a:pPr>
            <a:r>
              <a:rPr lang="en-US" sz="18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        "</a:t>
            </a:r>
            <a:r>
              <a:rPr lang="en-US" sz="1800" noProof="0" dirty="0" err="1">
                <a:latin typeface="Cascadia Mono" panose="020B0609020000020004" pitchFamily="49" charset="0"/>
                <a:cs typeface="Cascadia Mono" panose="020B0609020000020004" pitchFamily="49" charset="0"/>
              </a:rPr>
              <a:t>london</a:t>
            </a:r>
            <a:r>
              <a:rPr lang="en-US" sz="18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": "65°F",</a:t>
            </a:r>
          </a:p>
          <a:p>
            <a:pPr marL="0" indent="0">
              <a:buNone/>
            </a:pPr>
            <a:r>
              <a:rPr lang="en-US" sz="18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        "</a:t>
            </a:r>
            <a:r>
              <a:rPr lang="en-US" sz="1800" noProof="0" dirty="0" err="1">
                <a:latin typeface="Cascadia Mono" panose="020B0609020000020004" pitchFamily="49" charset="0"/>
                <a:cs typeface="Cascadia Mono" panose="020B0609020000020004" pitchFamily="49" charset="0"/>
              </a:rPr>
              <a:t>tokyo</a:t>
            </a:r>
            <a:r>
              <a:rPr lang="en-US" sz="18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": "78°F",</a:t>
            </a:r>
          </a:p>
          <a:p>
            <a:pPr marL="0" indent="0">
              <a:buNone/>
            </a:pPr>
            <a:r>
              <a:rPr lang="en-US" sz="18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        "</a:t>
            </a:r>
            <a:r>
              <a:rPr lang="en-US" sz="1800" noProof="0" dirty="0" err="1">
                <a:latin typeface="Cascadia Mono" panose="020B0609020000020004" pitchFamily="49" charset="0"/>
                <a:cs typeface="Cascadia Mono" panose="020B0609020000020004" pitchFamily="49" charset="0"/>
              </a:rPr>
              <a:t>sydney</a:t>
            </a:r>
            <a:r>
              <a:rPr lang="en-US" sz="18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": "68°F",</a:t>
            </a:r>
          </a:p>
          <a:p>
            <a:pPr marL="0" indent="0">
              <a:buNone/>
            </a:pPr>
            <a:r>
              <a:rPr lang="en-US" sz="18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        "</a:t>
            </a:r>
            <a:r>
              <a:rPr lang="en-US" sz="1800" noProof="0" dirty="0" err="1">
                <a:latin typeface="Cascadia Mono" panose="020B0609020000020004" pitchFamily="49" charset="0"/>
                <a:cs typeface="Cascadia Mono" panose="020B0609020000020004" pitchFamily="49" charset="0"/>
              </a:rPr>
              <a:t>mumbai</a:t>
            </a:r>
            <a:r>
              <a:rPr lang="en-US" sz="18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": "85°F"</a:t>
            </a:r>
          </a:p>
          <a:p>
            <a:pPr marL="0" indent="0">
              <a:buNone/>
            </a:pPr>
            <a:r>
              <a:rPr lang="en-US" sz="18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    }</a:t>
            </a:r>
          </a:p>
          <a:p>
            <a:pPr marL="0" indent="0">
              <a:buNone/>
            </a:pPr>
            <a:r>
              <a:rPr lang="en-US" sz="18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    return </a:t>
            </a:r>
            <a:r>
              <a:rPr lang="en-US" sz="1800" noProof="0" dirty="0" err="1">
                <a:latin typeface="Cascadia Mono" panose="020B0609020000020004" pitchFamily="49" charset="0"/>
                <a:cs typeface="Cascadia Mono" panose="020B0609020000020004" pitchFamily="49" charset="0"/>
              </a:rPr>
              <a:t>temps.get</a:t>
            </a:r>
            <a:r>
              <a:rPr lang="en-US" sz="18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noProof="0" dirty="0" err="1">
                <a:latin typeface="Cascadia Mono" panose="020B0609020000020004" pitchFamily="49" charset="0"/>
                <a:cs typeface="Cascadia Mono" panose="020B0609020000020004" pitchFamily="49" charset="0"/>
              </a:rPr>
              <a:t>city.lower</a:t>
            </a:r>
            <a:r>
              <a:rPr lang="en-US" sz="18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(), "70°F")</a:t>
            </a:r>
            <a:endParaRPr lang="en-US" noProof="0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EC2F8337-AAB2-FC77-B157-CC0484C9E78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5676055"/>
              </p:ext>
            </p:extLst>
          </p:nvPr>
        </p:nvGraphicFramePr>
        <p:xfrm>
          <a:off x="6505503" y="3429000"/>
          <a:ext cx="5423578" cy="165100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2002438">
                  <a:extLst>
                    <a:ext uri="{9D8B030D-6E8A-4147-A177-3AD203B41FA5}">
                      <a16:colId xmlns:a16="http://schemas.microsoft.com/office/drawing/2014/main" val="1146209541"/>
                    </a:ext>
                  </a:extLst>
                </a:gridCol>
                <a:gridCol w="3421140">
                  <a:extLst>
                    <a:ext uri="{9D8B030D-6E8A-4147-A177-3AD203B41FA5}">
                      <a16:colId xmlns:a16="http://schemas.microsoft.com/office/drawing/2014/main" val="317250918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noProof="0" dirty="0"/>
                        <a:t>Code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Explanation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2267388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noProof="0" dirty="0"/>
                        <a:t>@function_tool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Decorator tells the agent that it is a callable tool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395248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noProof="0" dirty="0"/>
                        <a:t>“””  …  ‘’’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Docstring helps the agent decide if and when to use this tool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423089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2511659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5F5AFB-3F10-F669-C276-9BAB4AC999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22D80C-16C2-4295-B9DB-D8B610F743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Building a Multi-Assistant Agent Step-by-Step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F80E36-51D6-B2E6-C665-A8F0BCDF26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8794411" cy="4351338"/>
          </a:xfrm>
        </p:spPr>
        <p:txBody>
          <a:bodyPr>
            <a:normAutofit fontScale="77500" lnSpcReduction="20000"/>
          </a:bodyPr>
          <a:lstStyle/>
          <a:p>
            <a:r>
              <a:rPr lang="en-US" b="1" noProof="0" dirty="0"/>
              <a:t>Step 2: Create Tools</a:t>
            </a:r>
            <a:endParaRPr lang="en-US" noProof="0" dirty="0"/>
          </a:p>
          <a:p>
            <a:pPr marL="0" indent="0">
              <a:buNone/>
            </a:pPr>
            <a:r>
              <a:rPr lang="en-US" sz="22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@function_tool</a:t>
            </a:r>
          </a:p>
          <a:p>
            <a:pPr marL="0" indent="0">
              <a:buNone/>
            </a:pPr>
            <a:r>
              <a:rPr lang="en-US" sz="22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def </a:t>
            </a:r>
            <a:r>
              <a:rPr lang="en-US" sz="2200" noProof="0" dirty="0" err="1">
                <a:latin typeface="Cascadia Mono" panose="020B0609020000020004" pitchFamily="49" charset="0"/>
                <a:cs typeface="Cascadia Mono" panose="020B0609020000020004" pitchFamily="49" charset="0"/>
              </a:rPr>
              <a:t>get_time</a:t>
            </a:r>
            <a:r>
              <a:rPr lang="en-US" sz="22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2200" noProof="0" dirty="0" err="1">
                <a:latin typeface="Cascadia Mono" panose="020B0609020000020004" pitchFamily="49" charset="0"/>
                <a:cs typeface="Cascadia Mono" panose="020B0609020000020004" pitchFamily="49" charset="0"/>
              </a:rPr>
              <a:t>timezone</a:t>
            </a:r>
            <a:r>
              <a:rPr lang="en-US" sz="22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: str) -&gt; str:</a:t>
            </a:r>
          </a:p>
          <a:p>
            <a:pPr marL="0" indent="0">
              <a:buNone/>
            </a:pPr>
            <a:r>
              <a:rPr lang="en-US" sz="22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    """Returns current time for a </a:t>
            </a:r>
            <a:r>
              <a:rPr lang="en-US" sz="2200" noProof="0" dirty="0" err="1">
                <a:latin typeface="Cascadia Mono" panose="020B0609020000020004" pitchFamily="49" charset="0"/>
                <a:cs typeface="Cascadia Mono" panose="020B0609020000020004" pitchFamily="49" charset="0"/>
              </a:rPr>
              <a:t>timezone</a:t>
            </a:r>
            <a:r>
              <a:rPr lang="en-US" sz="22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."""</a:t>
            </a:r>
          </a:p>
          <a:p>
            <a:pPr marL="0" indent="0">
              <a:buNone/>
            </a:pPr>
            <a:r>
              <a:rPr lang="en-US" sz="22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    return </a:t>
            </a:r>
            <a:r>
              <a:rPr lang="en-US" sz="2200" noProof="0" dirty="0" err="1">
                <a:latin typeface="Cascadia Mono" panose="020B0609020000020004" pitchFamily="49" charset="0"/>
                <a:cs typeface="Cascadia Mono" panose="020B0609020000020004" pitchFamily="49" charset="0"/>
              </a:rPr>
              <a:t>datetime.now</a:t>
            </a:r>
            <a:r>
              <a:rPr lang="en-US" sz="22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().</a:t>
            </a:r>
            <a:r>
              <a:rPr lang="en-US" sz="2200" noProof="0" dirty="0" err="1">
                <a:latin typeface="Cascadia Mono" panose="020B0609020000020004" pitchFamily="49" charset="0"/>
                <a:cs typeface="Cascadia Mono" panose="020B0609020000020004" pitchFamily="49" charset="0"/>
              </a:rPr>
              <a:t>strftime</a:t>
            </a:r>
            <a:r>
              <a:rPr lang="en-US" sz="22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("%I:%M %p")</a:t>
            </a:r>
          </a:p>
          <a:p>
            <a:pPr marL="0" indent="0">
              <a:buNone/>
            </a:pPr>
            <a:endParaRPr lang="en-US" sz="2200" noProof="0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pPr marL="0" indent="0">
              <a:buNone/>
            </a:pPr>
            <a:r>
              <a:rPr lang="en-US" sz="22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@function_tool</a:t>
            </a:r>
          </a:p>
          <a:p>
            <a:pPr marL="0" indent="0">
              <a:buNone/>
            </a:pPr>
            <a:r>
              <a:rPr lang="en-US" sz="22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def calculate(expression: str) -&gt; str:</a:t>
            </a:r>
          </a:p>
          <a:p>
            <a:pPr marL="0" indent="0">
              <a:buNone/>
            </a:pPr>
            <a:r>
              <a:rPr lang="en-US" sz="22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    """Evaluates a simple math expression."""</a:t>
            </a:r>
          </a:p>
          <a:p>
            <a:pPr marL="0" indent="0">
              <a:buNone/>
            </a:pPr>
            <a:r>
              <a:rPr lang="en-US" sz="22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    try:</a:t>
            </a:r>
          </a:p>
          <a:p>
            <a:pPr marL="0" indent="0">
              <a:buNone/>
            </a:pPr>
            <a:r>
              <a:rPr lang="en-US" sz="22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        result = eval(expression)</a:t>
            </a:r>
          </a:p>
          <a:p>
            <a:pPr marL="0" indent="0">
              <a:buNone/>
            </a:pPr>
            <a:r>
              <a:rPr lang="en-US" sz="22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        return f"{expression} = {result}"</a:t>
            </a:r>
          </a:p>
          <a:p>
            <a:pPr marL="0" indent="0">
              <a:buNone/>
            </a:pPr>
            <a:r>
              <a:rPr lang="en-US" sz="22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    except:</a:t>
            </a:r>
          </a:p>
          <a:p>
            <a:pPr marL="0" indent="0">
              <a:buNone/>
            </a:pPr>
            <a:r>
              <a:rPr lang="en-US" sz="22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        return "Invalid expression"</a:t>
            </a:r>
          </a:p>
        </p:txBody>
      </p:sp>
    </p:spTree>
    <p:extLst>
      <p:ext uri="{BB962C8B-B14F-4D97-AF65-F5344CB8AC3E}">
        <p14:creationId xmlns:p14="http://schemas.microsoft.com/office/powerpoint/2010/main" val="20044053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479AF7-25C8-987A-ED4C-6F23795632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F80B76-4095-E894-38D1-2B4D0D7D67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Building a Multi-Assistant Agent Step-by-Step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3E78AE-BB34-E490-56EE-0E26E1BB0B5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704041" cy="4351338"/>
          </a:xfrm>
        </p:spPr>
        <p:txBody>
          <a:bodyPr/>
          <a:lstStyle/>
          <a:p>
            <a:r>
              <a:rPr lang="en-US" b="1" noProof="0" dirty="0"/>
              <a:t>Step 3: Create Agent</a:t>
            </a:r>
          </a:p>
          <a:p>
            <a:pPr marL="0" indent="0">
              <a:buNone/>
            </a:pPr>
            <a:r>
              <a:rPr lang="en-US" sz="18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agent = Agent(</a:t>
            </a:r>
          </a:p>
          <a:p>
            <a:pPr marL="0" indent="0">
              <a:buNone/>
            </a:pPr>
            <a:r>
              <a:rPr lang="en-US" sz="18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    name="</a:t>
            </a:r>
            <a:r>
              <a:rPr lang="en-US" sz="1800" noProof="0" dirty="0" err="1">
                <a:latin typeface="Cascadia Mono" panose="020B0609020000020004" pitchFamily="49" charset="0"/>
                <a:cs typeface="Cascadia Mono" panose="020B0609020000020004" pitchFamily="49" charset="0"/>
              </a:rPr>
              <a:t>QuickAssistant</a:t>
            </a:r>
            <a:r>
              <a:rPr lang="en-US" sz="18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",</a:t>
            </a:r>
          </a:p>
          <a:p>
            <a:pPr marL="0" indent="0">
              <a:buNone/>
            </a:pPr>
            <a:r>
              <a:rPr lang="en-US" sz="18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    model="gpt-4o-mini",</a:t>
            </a:r>
          </a:p>
          <a:p>
            <a:pPr marL="0" indent="0">
              <a:buNone/>
            </a:pPr>
            <a:r>
              <a:rPr lang="en-US" sz="18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    tools=[</a:t>
            </a:r>
            <a:r>
              <a:rPr lang="en-US" sz="1800" noProof="0" dirty="0" err="1">
                <a:latin typeface="Cascadia Mono" panose="020B0609020000020004" pitchFamily="49" charset="0"/>
                <a:cs typeface="Cascadia Mono" panose="020B0609020000020004" pitchFamily="49" charset="0"/>
              </a:rPr>
              <a:t>get_temperature</a:t>
            </a:r>
            <a:r>
              <a:rPr lang="en-US" sz="18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, </a:t>
            </a:r>
            <a:r>
              <a:rPr lang="en-US" sz="1800" noProof="0" dirty="0" err="1">
                <a:latin typeface="Cascadia Mono" panose="020B0609020000020004" pitchFamily="49" charset="0"/>
                <a:cs typeface="Cascadia Mono" panose="020B0609020000020004" pitchFamily="49" charset="0"/>
              </a:rPr>
              <a:t>get_time</a:t>
            </a:r>
            <a:r>
              <a:rPr lang="en-US" sz="18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, calculate],</a:t>
            </a:r>
          </a:p>
          <a:p>
            <a:pPr marL="0" indent="0">
              <a:buNone/>
            </a:pPr>
            <a:r>
              <a:rPr lang="en-US" sz="18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    instructions="You are a helpful assistant. Use tools when needed. Be concise."</a:t>
            </a:r>
          </a:p>
          <a:p>
            <a:pPr marL="0" indent="0">
              <a:buNone/>
            </a:pPr>
            <a:r>
              <a:rPr lang="en-US" sz="18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endParaRPr lang="en-US" noProof="0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6FC9983C-14A4-63BC-2AF5-BDA273AC967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3399949"/>
              </p:ext>
            </p:extLst>
          </p:nvPr>
        </p:nvGraphicFramePr>
        <p:xfrm>
          <a:off x="5402638" y="1945640"/>
          <a:ext cx="6659066" cy="185420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1926522">
                  <a:extLst>
                    <a:ext uri="{9D8B030D-6E8A-4147-A177-3AD203B41FA5}">
                      <a16:colId xmlns:a16="http://schemas.microsoft.com/office/drawing/2014/main" val="1146209541"/>
                    </a:ext>
                  </a:extLst>
                </a:gridCol>
                <a:gridCol w="4732544">
                  <a:extLst>
                    <a:ext uri="{9D8B030D-6E8A-4147-A177-3AD203B41FA5}">
                      <a16:colId xmlns:a16="http://schemas.microsoft.com/office/drawing/2014/main" val="317250918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noProof="0" dirty="0"/>
                        <a:t>Code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Explanation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2267388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noProof="0" dirty="0"/>
                        <a:t>name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Identifies the agent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395248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noProof="0" dirty="0"/>
                        <a:t>model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Which LLM to use?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423089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noProof="0" dirty="0"/>
                        <a:t>tools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List of available tools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9013703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noProof="0" dirty="0"/>
                        <a:t>instructions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System prompt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477671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7368106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BD9723-4FF1-2AE9-9748-91BA0F9188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01D96C-D922-5B28-191E-33A33C9E88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Building a Multi-Assistant Agent Step-by-Step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A8D982-B819-A6FF-1FA8-9598597527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644524" cy="4351338"/>
          </a:xfrm>
        </p:spPr>
        <p:txBody>
          <a:bodyPr/>
          <a:lstStyle/>
          <a:p>
            <a:r>
              <a:rPr lang="en-US" b="1" noProof="0" dirty="0"/>
              <a:t>Step 4: Prepare Test Queries</a:t>
            </a:r>
          </a:p>
          <a:p>
            <a:pPr marL="0" indent="0">
              <a:buNone/>
            </a:pPr>
            <a:r>
              <a:rPr lang="en-US" sz="18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async def </a:t>
            </a:r>
            <a:r>
              <a:rPr lang="en-US" sz="1800" noProof="0" dirty="0" err="1">
                <a:latin typeface="Cascadia Mono" panose="020B0609020000020004" pitchFamily="49" charset="0"/>
                <a:cs typeface="Cascadia Mono" panose="020B0609020000020004" pitchFamily="49" charset="0"/>
              </a:rPr>
              <a:t>run_agent</a:t>
            </a:r>
            <a:r>
              <a:rPr lang="en-US" sz="18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():</a:t>
            </a:r>
          </a:p>
          <a:p>
            <a:pPr marL="0" indent="0">
              <a:buNone/>
            </a:pPr>
            <a:r>
              <a:rPr lang="en-US" sz="18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    queries = [</a:t>
            </a:r>
          </a:p>
          <a:p>
            <a:pPr marL="0" indent="0">
              <a:buNone/>
            </a:pPr>
            <a:r>
              <a:rPr lang="en-US" sz="18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        "What's the temperature in Tokyo?",</a:t>
            </a:r>
          </a:p>
          <a:p>
            <a:pPr marL="0" indent="0">
              <a:buNone/>
            </a:pPr>
            <a:r>
              <a:rPr lang="en-US" sz="18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        "Calculate 25 * 4 + 10",</a:t>
            </a:r>
          </a:p>
          <a:p>
            <a:pPr marL="0" indent="0">
              <a:buNone/>
            </a:pPr>
            <a:r>
              <a:rPr lang="en-US" sz="18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        "What time is it in New York </a:t>
            </a:r>
            <a:r>
              <a:rPr lang="en-US" sz="1800" noProof="0" dirty="0" err="1">
                <a:latin typeface="Cascadia Mono" panose="020B0609020000020004" pitchFamily="49" charset="0"/>
                <a:cs typeface="Cascadia Mono" panose="020B0609020000020004" pitchFamily="49" charset="0"/>
              </a:rPr>
              <a:t>timezone</a:t>
            </a:r>
            <a:r>
              <a:rPr lang="en-US" sz="18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?",</a:t>
            </a:r>
          </a:p>
          <a:p>
            <a:pPr marL="0" indent="0">
              <a:buNone/>
            </a:pPr>
            <a:r>
              <a:rPr lang="en-US" sz="18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    ]</a:t>
            </a:r>
          </a:p>
          <a:p>
            <a:pPr marL="0" indent="0">
              <a:buNone/>
            </a:pPr>
            <a:r>
              <a:rPr lang="en-US" sz="18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</a:p>
          <a:p>
            <a:pPr marL="0" indent="0">
              <a:buNone/>
            </a:pPr>
            <a:r>
              <a:rPr lang="en-US" sz="18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    print("Processing queries in parallel...\n")</a:t>
            </a:r>
            <a:endParaRPr lang="en-US" noProof="0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518C8BA5-CA61-9263-D37A-0D73BE31123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60316092"/>
              </p:ext>
            </p:extLst>
          </p:nvPr>
        </p:nvGraphicFramePr>
        <p:xfrm>
          <a:off x="7817770" y="2047240"/>
          <a:ext cx="4271853" cy="138176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1235882">
                  <a:extLst>
                    <a:ext uri="{9D8B030D-6E8A-4147-A177-3AD203B41FA5}">
                      <a16:colId xmlns:a16="http://schemas.microsoft.com/office/drawing/2014/main" val="1146209541"/>
                    </a:ext>
                  </a:extLst>
                </a:gridCol>
                <a:gridCol w="3035971">
                  <a:extLst>
                    <a:ext uri="{9D8B030D-6E8A-4147-A177-3AD203B41FA5}">
                      <a16:colId xmlns:a16="http://schemas.microsoft.com/office/drawing/2014/main" val="317250918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noProof="0" dirty="0"/>
                        <a:t>Code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Explanation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2267388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noProof="0" dirty="0"/>
                        <a:t>queries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List of queries to be sent to the agent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395248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noProof="0" dirty="0"/>
                        <a:t>async def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Run this concurrently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42308965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EE3989DA-B438-059E-D27D-58587E5B967D}"/>
              </a:ext>
            </a:extLst>
          </p:cNvPr>
          <p:cNvSpPr txBox="1"/>
          <p:nvPr/>
        </p:nvSpPr>
        <p:spPr>
          <a:xfrm>
            <a:off x="8334301" y="4069429"/>
            <a:ext cx="3134089" cy="1477328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b="1" noProof="0" dirty="0"/>
              <a:t>Queries are in natural (human) language</a:t>
            </a:r>
          </a:p>
          <a:p>
            <a:endParaRPr lang="en-US" b="1" noProof="0" dirty="0"/>
          </a:p>
          <a:p>
            <a:r>
              <a:rPr lang="en-US" b="1" noProof="0" dirty="0"/>
              <a:t>Agent will figure out if and which tool to call </a:t>
            </a:r>
          </a:p>
        </p:txBody>
      </p:sp>
    </p:spTree>
    <p:extLst>
      <p:ext uri="{BB962C8B-B14F-4D97-AF65-F5344CB8AC3E}">
        <p14:creationId xmlns:p14="http://schemas.microsoft.com/office/powerpoint/2010/main" val="306965620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848ED3-504C-760C-8974-CB5A75FC84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0A7789-DADC-77A2-798D-07B94B0D55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Building a Multi-Assistant Agent Step-by-Step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A3E6C7-F4FC-F004-4294-32C844CAD7E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644524" cy="4351338"/>
          </a:xfrm>
        </p:spPr>
        <p:txBody>
          <a:bodyPr/>
          <a:lstStyle/>
          <a:p>
            <a:r>
              <a:rPr lang="en-US" b="1" noProof="0" dirty="0"/>
              <a:t>Step 5: Run Queries Concurrently</a:t>
            </a:r>
          </a:p>
          <a:p>
            <a:pPr marL="0" indent="0">
              <a:buNone/>
            </a:pPr>
            <a:r>
              <a:rPr lang="en-US" sz="14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# Process all queries concurrently</a:t>
            </a:r>
          </a:p>
          <a:p>
            <a:pPr marL="0" indent="0">
              <a:buNone/>
            </a:pPr>
            <a:r>
              <a:rPr lang="en-US" sz="14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    tasks = [</a:t>
            </a:r>
            <a:r>
              <a:rPr lang="en-US" sz="1400" noProof="0" dirty="0" err="1">
                <a:latin typeface="Cascadia Mono" panose="020B0609020000020004" pitchFamily="49" charset="0"/>
                <a:cs typeface="Cascadia Mono" panose="020B0609020000020004" pitchFamily="49" charset="0"/>
              </a:rPr>
              <a:t>Runner.run</a:t>
            </a:r>
            <a:r>
              <a:rPr lang="en-US" sz="14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(agent, query) for query in queries]</a:t>
            </a:r>
          </a:p>
          <a:p>
            <a:pPr marL="0" indent="0">
              <a:buNone/>
            </a:pPr>
            <a:r>
              <a:rPr lang="en-US" sz="14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    results = await </a:t>
            </a:r>
            <a:r>
              <a:rPr lang="en-US" sz="1400" noProof="0" dirty="0" err="1">
                <a:latin typeface="Cascadia Mono" panose="020B0609020000020004" pitchFamily="49" charset="0"/>
                <a:cs typeface="Cascadia Mono" panose="020B0609020000020004" pitchFamily="49" charset="0"/>
              </a:rPr>
              <a:t>asyncio.gather</a:t>
            </a:r>
            <a:r>
              <a:rPr lang="en-US" sz="14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(*tasks)</a:t>
            </a:r>
            <a:endParaRPr lang="en-US" noProof="0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441F79C5-8CE6-5DE5-ACC6-066A67816E9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28842605"/>
              </p:ext>
            </p:extLst>
          </p:nvPr>
        </p:nvGraphicFramePr>
        <p:xfrm>
          <a:off x="723609" y="3750397"/>
          <a:ext cx="11030968" cy="148336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3191348">
                  <a:extLst>
                    <a:ext uri="{9D8B030D-6E8A-4147-A177-3AD203B41FA5}">
                      <a16:colId xmlns:a16="http://schemas.microsoft.com/office/drawing/2014/main" val="1146209541"/>
                    </a:ext>
                  </a:extLst>
                </a:gridCol>
                <a:gridCol w="7839620">
                  <a:extLst>
                    <a:ext uri="{9D8B030D-6E8A-4147-A177-3AD203B41FA5}">
                      <a16:colId xmlns:a16="http://schemas.microsoft.com/office/drawing/2014/main" val="317250918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noProof="0" dirty="0"/>
                        <a:t>Code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Explanation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2267388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noProof="0" dirty="0" err="1"/>
                        <a:t>Runner.run</a:t>
                      </a:r>
                      <a:r>
                        <a:rPr lang="en-US" noProof="0" dirty="0"/>
                        <a:t>(agent, query)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Executes agent with a query, [ ] creates a list comprehension, i.e. multiple tasks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395248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noProof="0" dirty="0" err="1"/>
                        <a:t>asyncio.gather</a:t>
                      </a:r>
                      <a:r>
                        <a:rPr lang="en-US" noProof="0" dirty="0"/>
                        <a:t>()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Runs all tasks simultaneously and waits for all to complete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423089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noProof="0" dirty="0"/>
                        <a:t>await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Waits for all results before continuing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9718808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608026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8AC3F4-FBE6-125D-7293-24856C9B8D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D58DEB-B75E-D300-2A22-88407593D2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Building a Multi-Assistant Agent Step-by-Step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1A0692-73F6-AB4D-98E2-66ECF52F2B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644524" cy="4351338"/>
          </a:xfrm>
        </p:spPr>
        <p:txBody>
          <a:bodyPr/>
          <a:lstStyle/>
          <a:p>
            <a:r>
              <a:rPr lang="en-US" b="1" noProof="0" dirty="0"/>
              <a:t>Step 6: Display Results</a:t>
            </a:r>
          </a:p>
          <a:p>
            <a:pPr marL="0" indent="0">
              <a:buNone/>
            </a:pPr>
            <a:r>
              <a:rPr lang="en-US" sz="14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# Display results</a:t>
            </a:r>
          </a:p>
          <a:p>
            <a:pPr marL="0" indent="0">
              <a:buNone/>
            </a:pPr>
            <a:r>
              <a:rPr lang="en-US" sz="14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    for query, result in zip(queries, results):</a:t>
            </a:r>
          </a:p>
          <a:p>
            <a:pPr marL="0" indent="0">
              <a:buNone/>
            </a:pPr>
            <a:r>
              <a:rPr lang="en-US" sz="14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        print(</a:t>
            </a:r>
            <a:r>
              <a:rPr lang="en-US" sz="1400" noProof="0" dirty="0" err="1">
                <a:latin typeface="Cascadia Mono" panose="020B0609020000020004" pitchFamily="49" charset="0"/>
                <a:cs typeface="Cascadia Mono" panose="020B0609020000020004" pitchFamily="49" charset="0"/>
              </a:rPr>
              <a:t>f"Q</a:t>
            </a:r>
            <a:r>
              <a:rPr lang="en-US" sz="14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: {query}")</a:t>
            </a:r>
          </a:p>
          <a:p>
            <a:pPr marL="0" indent="0">
              <a:buNone/>
            </a:pPr>
            <a:r>
              <a:rPr lang="en-US" sz="14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        print(</a:t>
            </a:r>
            <a:r>
              <a:rPr lang="en-US" sz="1400" noProof="0" dirty="0" err="1">
                <a:latin typeface="Cascadia Mono" panose="020B0609020000020004" pitchFamily="49" charset="0"/>
                <a:cs typeface="Cascadia Mono" panose="020B0609020000020004" pitchFamily="49" charset="0"/>
              </a:rPr>
              <a:t>f"A</a:t>
            </a:r>
            <a:r>
              <a:rPr lang="en-US" sz="14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: {</a:t>
            </a:r>
            <a:r>
              <a:rPr lang="en-US" sz="1400" noProof="0" dirty="0" err="1">
                <a:latin typeface="Cascadia Mono" panose="020B0609020000020004" pitchFamily="49" charset="0"/>
                <a:cs typeface="Cascadia Mono" panose="020B0609020000020004" pitchFamily="49" charset="0"/>
              </a:rPr>
              <a:t>result.final_output</a:t>
            </a:r>
            <a:r>
              <a:rPr lang="en-US" sz="14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}\n")</a:t>
            </a:r>
            <a:endParaRPr lang="en-US" noProof="0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0579A348-EA05-09EC-D5D6-CFCBBE4F7AC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96650160"/>
              </p:ext>
            </p:extLst>
          </p:nvPr>
        </p:nvGraphicFramePr>
        <p:xfrm>
          <a:off x="723609" y="3750397"/>
          <a:ext cx="11030968" cy="111252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3191348">
                  <a:extLst>
                    <a:ext uri="{9D8B030D-6E8A-4147-A177-3AD203B41FA5}">
                      <a16:colId xmlns:a16="http://schemas.microsoft.com/office/drawing/2014/main" val="1146209541"/>
                    </a:ext>
                  </a:extLst>
                </a:gridCol>
                <a:gridCol w="7839620">
                  <a:extLst>
                    <a:ext uri="{9D8B030D-6E8A-4147-A177-3AD203B41FA5}">
                      <a16:colId xmlns:a16="http://schemas.microsoft.com/office/drawing/2014/main" val="317250918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noProof="0" dirty="0"/>
                        <a:t>Code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Explanation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2267388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noProof="0" dirty="0"/>
                        <a:t>zip()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Pairs each query with its result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395248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noProof="0" dirty="0" err="1"/>
                        <a:t>result.final_output</a:t>
                      </a:r>
                      <a:endParaRPr lang="en-US" noProof="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Agent’s final answer, after all tool calls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423089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813855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293686-CCFF-5BB6-0A05-A6C58CCAB2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ED9727-BFDB-4B90-89CD-727B8EBBBE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Building a Mult-Assistant Agent Step-by-Step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B66786-D363-B0F1-D5AC-3C206C095BE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644524" cy="4351338"/>
          </a:xfrm>
        </p:spPr>
        <p:txBody>
          <a:bodyPr/>
          <a:lstStyle/>
          <a:p>
            <a:r>
              <a:rPr lang="en-US" b="1" noProof="0" dirty="0"/>
              <a:t>Step 7: Run the Program</a:t>
            </a:r>
          </a:p>
          <a:p>
            <a:pPr marL="0" indent="0">
              <a:buNone/>
            </a:pPr>
            <a:r>
              <a:rPr lang="en-US" sz="14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if __name__ == "__main__":</a:t>
            </a:r>
          </a:p>
          <a:p>
            <a:pPr marL="0" indent="0">
              <a:buNone/>
            </a:pPr>
            <a:r>
              <a:rPr lang="en-US" sz="14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  <a:r>
              <a:rPr lang="en-US" sz="1400" noProof="0" dirty="0" err="1">
                <a:latin typeface="Cascadia Mono" panose="020B0609020000020004" pitchFamily="49" charset="0"/>
                <a:cs typeface="Cascadia Mono" panose="020B0609020000020004" pitchFamily="49" charset="0"/>
              </a:rPr>
              <a:t>asyncio.run</a:t>
            </a:r>
            <a:r>
              <a:rPr lang="en-US" sz="14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400" noProof="0" dirty="0" err="1">
                <a:latin typeface="Cascadia Mono" panose="020B0609020000020004" pitchFamily="49" charset="0"/>
                <a:cs typeface="Cascadia Mono" panose="020B0609020000020004" pitchFamily="49" charset="0"/>
              </a:rPr>
              <a:t>run_agent</a:t>
            </a:r>
            <a:r>
              <a:rPr lang="en-US" sz="14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())</a:t>
            </a:r>
            <a:endParaRPr lang="en-US" noProof="0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71FD8BCD-AE52-3C77-D74C-69A3E8E779A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01881467"/>
              </p:ext>
            </p:extLst>
          </p:nvPr>
        </p:nvGraphicFramePr>
        <p:xfrm>
          <a:off x="723609" y="3750397"/>
          <a:ext cx="11030968" cy="111252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3191348">
                  <a:extLst>
                    <a:ext uri="{9D8B030D-6E8A-4147-A177-3AD203B41FA5}">
                      <a16:colId xmlns:a16="http://schemas.microsoft.com/office/drawing/2014/main" val="1146209541"/>
                    </a:ext>
                  </a:extLst>
                </a:gridCol>
                <a:gridCol w="7839620">
                  <a:extLst>
                    <a:ext uri="{9D8B030D-6E8A-4147-A177-3AD203B41FA5}">
                      <a16:colId xmlns:a16="http://schemas.microsoft.com/office/drawing/2014/main" val="317250918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noProof="0" dirty="0"/>
                        <a:t>Code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Explanation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2267388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noProof="0" dirty="0"/>
                        <a:t>if __name__ == “__main__”: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Standard Python syntax – Only runs if the file is executing directly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395248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noProof="0" dirty="0" err="1"/>
                        <a:t>asyncio.run</a:t>
                      </a:r>
                      <a:r>
                        <a:rPr lang="en-US" noProof="0" dirty="0"/>
                        <a:t>()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Starts the async event loop and runs main()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423089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5593953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F85A0C-3F7B-9A8E-8C4F-6943C67350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 err="1"/>
              <a:t>asyncio</a:t>
            </a:r>
            <a:r>
              <a:rPr lang="en-IN" noProof="0" dirty="0"/>
              <a:t> in Python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A79B55-E6CB-4060-5775-D7C133CC04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noProof="0" dirty="0"/>
              <a:t>Normally, Python runs code synchronously (line by line) - If one line is slow (e.g., waiting for a network request), everything else is stuck</a:t>
            </a:r>
          </a:p>
          <a:p>
            <a:r>
              <a:rPr lang="en-IN" noProof="0" dirty="0"/>
              <a:t>But with </a:t>
            </a:r>
            <a:r>
              <a:rPr lang="en-IN" noProof="0" dirty="0" err="1"/>
              <a:t>asyncio</a:t>
            </a:r>
            <a:r>
              <a:rPr lang="en-IN" noProof="0" dirty="0"/>
              <a:t>, we can do something else while waiting</a:t>
            </a:r>
          </a:p>
          <a:p>
            <a:r>
              <a:rPr lang="en-IN" noProof="0" dirty="0"/>
              <a:t>Analogy:</a:t>
            </a:r>
          </a:p>
          <a:p>
            <a:pPr lvl="1"/>
            <a:r>
              <a:rPr lang="en-IN" noProof="0" dirty="0"/>
              <a:t>Normal code (sync): We are cooking noodles. We boil water, stand still until it boils, then add noodles.</a:t>
            </a:r>
          </a:p>
          <a:p>
            <a:pPr lvl="1"/>
            <a:r>
              <a:rPr lang="en-IN" noProof="0" dirty="0"/>
              <a:t>Async code: While waiting for the water to boil, we cut vegetables and prepare sauce. Nothing is wasted.</a:t>
            </a:r>
          </a:p>
          <a:p>
            <a:r>
              <a:rPr lang="en-IN" noProof="0" dirty="0"/>
              <a:t>Code example: Next slide</a:t>
            </a:r>
          </a:p>
        </p:txBody>
      </p:sp>
    </p:spTree>
    <p:extLst>
      <p:ext uri="{BB962C8B-B14F-4D97-AF65-F5344CB8AC3E}">
        <p14:creationId xmlns:p14="http://schemas.microsoft.com/office/powerpoint/2010/main" val="308636459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649EAE-0294-A462-83C8-D157C0A89A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 err="1"/>
              <a:t>asyncio</a:t>
            </a:r>
            <a:r>
              <a:rPr lang="en-IN" noProof="0" dirty="0"/>
              <a:t> Code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F5E676-170D-1715-4CE6-6FEA3661A2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IN" sz="1400" noProof="0" dirty="0">
                <a:solidFill>
                  <a:srgbClr val="FF0000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import </a:t>
            </a:r>
            <a:r>
              <a:rPr lang="en-IN" sz="1400" noProof="0" dirty="0" err="1">
                <a:solidFill>
                  <a:srgbClr val="FF0000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asyncio</a:t>
            </a:r>
            <a:endParaRPr lang="en-IN" sz="1400" noProof="0" dirty="0">
              <a:solidFill>
                <a:srgbClr val="FF0000"/>
              </a:solidFill>
              <a:latin typeface="Cascadia Code" panose="020B0609020000020004" pitchFamily="49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  <a:p>
            <a:endParaRPr lang="en-IN" sz="1400" noProof="0" dirty="0">
              <a:solidFill>
                <a:srgbClr val="FF0000"/>
              </a:solidFill>
              <a:latin typeface="Cascadia Code" panose="020B0609020000020004" pitchFamily="49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IN" sz="1400" noProof="0" dirty="0">
                <a:solidFill>
                  <a:srgbClr val="FF0000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async def task(name, delay):</a:t>
            </a:r>
          </a:p>
          <a:p>
            <a:r>
              <a:rPr lang="en-IN" sz="1400" noProof="0" dirty="0">
                <a:solidFill>
                  <a:srgbClr val="FF0000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    print(</a:t>
            </a:r>
            <a:r>
              <a:rPr lang="en-IN" sz="1400" noProof="0" dirty="0" err="1">
                <a:solidFill>
                  <a:srgbClr val="FF0000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f"Task</a:t>
            </a:r>
            <a:r>
              <a:rPr lang="en-IN" sz="1400" noProof="0" dirty="0">
                <a:solidFill>
                  <a:srgbClr val="FF0000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 {name} started")</a:t>
            </a:r>
          </a:p>
          <a:p>
            <a:r>
              <a:rPr lang="en-IN" sz="1400" noProof="0" dirty="0">
                <a:solidFill>
                  <a:srgbClr val="FF0000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    await </a:t>
            </a:r>
            <a:r>
              <a:rPr lang="en-IN" sz="1400" noProof="0" dirty="0" err="1">
                <a:solidFill>
                  <a:srgbClr val="FF0000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asyncio.sleep</a:t>
            </a:r>
            <a:r>
              <a:rPr lang="en-IN" sz="1400" noProof="0" dirty="0">
                <a:solidFill>
                  <a:srgbClr val="FF0000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(delay)   # simulate waiting</a:t>
            </a:r>
          </a:p>
          <a:p>
            <a:r>
              <a:rPr lang="en-IN" sz="1400" noProof="0" dirty="0">
                <a:solidFill>
                  <a:srgbClr val="FF0000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    print(</a:t>
            </a:r>
            <a:r>
              <a:rPr lang="en-IN" sz="1400" noProof="0" dirty="0" err="1">
                <a:solidFill>
                  <a:srgbClr val="FF0000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f"Task</a:t>
            </a:r>
            <a:r>
              <a:rPr lang="en-IN" sz="1400" noProof="0" dirty="0">
                <a:solidFill>
                  <a:srgbClr val="FF0000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 {name} finished after {delay} seconds")</a:t>
            </a:r>
          </a:p>
          <a:p>
            <a:endParaRPr lang="en-IN" sz="1400" noProof="0" dirty="0">
              <a:solidFill>
                <a:srgbClr val="FF0000"/>
              </a:solidFill>
              <a:latin typeface="Cascadia Code" panose="020B0609020000020004" pitchFamily="49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IN" sz="1400" noProof="0" dirty="0">
                <a:solidFill>
                  <a:srgbClr val="FF0000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async def main():</a:t>
            </a:r>
          </a:p>
          <a:p>
            <a:r>
              <a:rPr lang="en-IN" sz="1400" noProof="0" dirty="0">
                <a:solidFill>
                  <a:srgbClr val="FF0000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    # Run tasks concurrently</a:t>
            </a:r>
          </a:p>
          <a:p>
            <a:r>
              <a:rPr lang="en-IN" sz="1400" noProof="0" dirty="0">
                <a:solidFill>
                  <a:srgbClr val="FF0000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    await </a:t>
            </a:r>
            <a:r>
              <a:rPr lang="en-IN" sz="1400" noProof="0" dirty="0" err="1">
                <a:solidFill>
                  <a:srgbClr val="FF0000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asyncio.gather</a:t>
            </a:r>
            <a:r>
              <a:rPr lang="en-IN" sz="1400" noProof="0" dirty="0">
                <a:solidFill>
                  <a:srgbClr val="FF0000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(</a:t>
            </a:r>
          </a:p>
          <a:p>
            <a:r>
              <a:rPr lang="en-IN" sz="1400" noProof="0" dirty="0">
                <a:solidFill>
                  <a:srgbClr val="FF0000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        task("A", 2),</a:t>
            </a:r>
          </a:p>
          <a:p>
            <a:r>
              <a:rPr lang="en-IN" sz="1400" noProof="0" dirty="0">
                <a:solidFill>
                  <a:srgbClr val="FF0000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        task("B", 1),</a:t>
            </a:r>
          </a:p>
          <a:p>
            <a:r>
              <a:rPr lang="en-IN" sz="1400" noProof="0" dirty="0">
                <a:solidFill>
                  <a:srgbClr val="FF0000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        task("C", 3),</a:t>
            </a:r>
          </a:p>
          <a:p>
            <a:r>
              <a:rPr lang="en-IN" sz="1400" noProof="0" dirty="0">
                <a:solidFill>
                  <a:srgbClr val="FF0000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    )</a:t>
            </a:r>
          </a:p>
          <a:p>
            <a:endParaRPr lang="en-IN" sz="1400" noProof="0" dirty="0">
              <a:solidFill>
                <a:srgbClr val="FF0000"/>
              </a:solidFill>
              <a:latin typeface="Cascadia Code" panose="020B0609020000020004" pitchFamily="49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IN" sz="1400" noProof="0" dirty="0" err="1">
                <a:solidFill>
                  <a:srgbClr val="FF0000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asyncio.run</a:t>
            </a:r>
            <a:r>
              <a:rPr lang="en-IN" sz="1400" noProof="0" dirty="0">
                <a:solidFill>
                  <a:srgbClr val="FF0000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(main())</a:t>
            </a:r>
          </a:p>
          <a:p>
            <a:endParaRPr lang="en-IN" sz="1400" noProof="0" dirty="0">
              <a:solidFill>
                <a:srgbClr val="FF0000"/>
              </a:solidFill>
              <a:latin typeface="Cascadia Code" panose="020B0609020000020004" pitchFamily="49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AEC194F-8C06-1B4E-AD01-4D5C36318D7A}"/>
              </a:ext>
            </a:extLst>
          </p:cNvPr>
          <p:cNvSpPr txBox="1"/>
          <p:nvPr/>
        </p:nvSpPr>
        <p:spPr>
          <a:xfrm>
            <a:off x="5534346" y="3533878"/>
            <a:ext cx="6044629" cy="3170099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IN" sz="2000" b="1" noProof="0" dirty="0"/>
              <a:t>How to write</a:t>
            </a:r>
          </a:p>
          <a:p>
            <a:endParaRPr lang="en-IN" sz="2000" noProof="0" dirty="0"/>
          </a:p>
          <a:p>
            <a:pPr marL="342900" indent="-342900">
              <a:buAutoNum type="arabicParenBoth"/>
            </a:pPr>
            <a:r>
              <a:rPr lang="en-IN" sz="2000" b="1" noProof="0" dirty="0"/>
              <a:t>Coroutine</a:t>
            </a:r>
            <a:r>
              <a:rPr lang="en-IN" sz="2000" noProof="0" dirty="0"/>
              <a:t>: A special function defined with </a:t>
            </a:r>
            <a:r>
              <a:rPr lang="en-IN" sz="2000" b="1" noProof="0" dirty="0"/>
              <a:t>async def</a:t>
            </a:r>
            <a:r>
              <a:rPr lang="en-IN" sz="2000" noProof="0" dirty="0"/>
              <a:t>, which can be paused (</a:t>
            </a:r>
            <a:r>
              <a:rPr lang="en-IN" sz="2000" b="1" noProof="0" dirty="0"/>
              <a:t>await</a:t>
            </a:r>
            <a:r>
              <a:rPr lang="en-IN" sz="2000" noProof="0" dirty="0"/>
              <a:t>) and resumed later</a:t>
            </a:r>
          </a:p>
          <a:p>
            <a:pPr marL="342900" indent="-342900">
              <a:buAutoNum type="arabicParenBoth"/>
            </a:pPr>
            <a:r>
              <a:rPr lang="en-IN" sz="2000" b="1" noProof="0" dirty="0"/>
              <a:t>Event loop</a:t>
            </a:r>
            <a:r>
              <a:rPr lang="en-IN" sz="2000" noProof="0" dirty="0"/>
              <a:t>: The core of </a:t>
            </a:r>
            <a:r>
              <a:rPr lang="en-IN" sz="2000" b="1" noProof="0" dirty="0" err="1"/>
              <a:t>asyncio</a:t>
            </a:r>
            <a:r>
              <a:rPr lang="en-IN" sz="2000" noProof="0" dirty="0"/>
              <a:t>, which manages all coroutines and usually starts with </a:t>
            </a:r>
            <a:r>
              <a:rPr lang="en-IN" sz="2000" b="1" noProof="0" dirty="0" err="1"/>
              <a:t>asyncio.run</a:t>
            </a:r>
            <a:r>
              <a:rPr lang="en-IN" sz="2000" noProof="0" dirty="0"/>
              <a:t>(function())</a:t>
            </a:r>
          </a:p>
          <a:p>
            <a:pPr marL="342900" indent="-342900">
              <a:buAutoNum type="arabicParenBoth"/>
            </a:pPr>
            <a:r>
              <a:rPr lang="en-IN" sz="2000" b="1" noProof="0" dirty="0"/>
              <a:t>await</a:t>
            </a:r>
            <a:r>
              <a:rPr lang="en-IN" sz="2000" noProof="0" dirty="0"/>
              <a:t>: Used inside </a:t>
            </a:r>
            <a:r>
              <a:rPr lang="en-IN" sz="2000" b="1" noProof="0" dirty="0" err="1"/>
              <a:t>asyncio</a:t>
            </a:r>
            <a:r>
              <a:rPr lang="en-IN" sz="2000" b="1" noProof="0" dirty="0"/>
              <a:t> def </a:t>
            </a:r>
            <a:r>
              <a:rPr lang="en-IN" sz="2000" noProof="0" dirty="0"/>
              <a:t>functions to </a:t>
            </a:r>
            <a:r>
              <a:rPr lang="en-IN" sz="2000" i="1" noProof="0" dirty="0"/>
              <a:t>wait </a:t>
            </a:r>
            <a:r>
              <a:rPr lang="en-IN" sz="2000" noProof="0" dirty="0"/>
              <a:t>for another coroutine … While waiting, Python can run other tasks</a:t>
            </a:r>
          </a:p>
        </p:txBody>
      </p:sp>
    </p:spTree>
    <p:extLst>
      <p:ext uri="{BB962C8B-B14F-4D97-AF65-F5344CB8AC3E}">
        <p14:creationId xmlns:p14="http://schemas.microsoft.com/office/powerpoint/2010/main" val="135990085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8D27FE3F-4839-07B1-9F90-18025AC033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Module 2: </a:t>
            </a:r>
            <a:r>
              <a:rPr lang="en-US" noProof="0" dirty="0" err="1"/>
              <a:t>LangChain</a:t>
            </a:r>
            <a:endParaRPr lang="en-US" noProof="0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BD68437-8195-2453-9679-9D2E327921A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33862587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693CFB-E19B-71BC-7558-49AE46BCDE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 err="1"/>
              <a:t>LangChain</a:t>
            </a:r>
            <a:endParaRPr lang="en-US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6F9E5C-C415-D3A1-248D-FAFCDE5465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noProof="0" dirty="0" err="1"/>
              <a:t>LangChain</a:t>
            </a:r>
            <a:r>
              <a:rPr lang="en-US" noProof="0" dirty="0"/>
              <a:t>: A framework for building applications powered by </a:t>
            </a:r>
            <a:r>
              <a:rPr lang="en-US" b="1" noProof="0" dirty="0"/>
              <a:t>Large Language Models (LLMs)</a:t>
            </a:r>
            <a:r>
              <a:rPr lang="en-US" noProof="0" dirty="0"/>
              <a:t> by connecting them with </a:t>
            </a:r>
            <a:r>
              <a:rPr lang="en-US" b="1" noProof="0" dirty="0"/>
              <a:t>external data, tools, and workflows</a:t>
            </a:r>
          </a:p>
          <a:p>
            <a:r>
              <a:rPr lang="en-US" noProof="0" dirty="0"/>
              <a:t>Features</a:t>
            </a:r>
          </a:p>
          <a:p>
            <a:pPr lvl="1"/>
            <a:r>
              <a:rPr lang="en-US" noProof="0" dirty="0"/>
              <a:t>Load data from different sources</a:t>
            </a:r>
          </a:p>
          <a:p>
            <a:pPr lvl="1"/>
            <a:r>
              <a:rPr lang="en-US" noProof="0" dirty="0"/>
              <a:t>Reason over that data using LLMs</a:t>
            </a:r>
          </a:p>
          <a:p>
            <a:pPr lvl="1"/>
            <a:r>
              <a:rPr lang="en-US" noProof="0" dirty="0"/>
              <a:t>Build reliable, production-ready AI systems</a:t>
            </a:r>
          </a:p>
        </p:txBody>
      </p:sp>
    </p:spTree>
    <p:extLst>
      <p:ext uri="{BB962C8B-B14F-4D97-AF65-F5344CB8AC3E}">
        <p14:creationId xmlns:p14="http://schemas.microsoft.com/office/powerpoint/2010/main" val="379309545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AC7F28C-27A4-11CF-2B58-5F0E13998C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Evolution of Approaches to Work with LLMs</a:t>
            </a:r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E10CDE16-C531-28EE-86EB-313F752CFDA6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642174" y="1563554"/>
          <a:ext cx="10979780" cy="5033088"/>
        </p:xfrm>
        <a:graphic>
          <a:graphicData uri="http://schemas.openxmlformats.org/drawingml/2006/table">
            <a:tbl>
              <a:tblPr/>
              <a:tblGrid>
                <a:gridCol w="2744945">
                  <a:extLst>
                    <a:ext uri="{9D8B030D-6E8A-4147-A177-3AD203B41FA5}">
                      <a16:colId xmlns:a16="http://schemas.microsoft.com/office/drawing/2014/main" val="1005533476"/>
                    </a:ext>
                  </a:extLst>
                </a:gridCol>
                <a:gridCol w="2744945">
                  <a:extLst>
                    <a:ext uri="{9D8B030D-6E8A-4147-A177-3AD203B41FA5}">
                      <a16:colId xmlns:a16="http://schemas.microsoft.com/office/drawing/2014/main" val="1623735358"/>
                    </a:ext>
                  </a:extLst>
                </a:gridCol>
                <a:gridCol w="2744945">
                  <a:extLst>
                    <a:ext uri="{9D8B030D-6E8A-4147-A177-3AD203B41FA5}">
                      <a16:colId xmlns:a16="http://schemas.microsoft.com/office/drawing/2014/main" val="25529417"/>
                    </a:ext>
                  </a:extLst>
                </a:gridCol>
                <a:gridCol w="2744945">
                  <a:extLst>
                    <a:ext uri="{9D8B030D-6E8A-4147-A177-3AD203B41FA5}">
                      <a16:colId xmlns:a16="http://schemas.microsoft.com/office/drawing/2014/main" val="3118462400"/>
                    </a:ext>
                  </a:extLst>
                </a:gridCol>
              </a:tblGrid>
              <a:tr h="21317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N" sz="1600" b="1" noProof="0" dirty="0"/>
                        <a:t>Aspect</a:t>
                      </a:r>
                    </a:p>
                  </a:txBody>
                  <a:tcPr marL="50015" marR="50015" marT="25008" marB="250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N" sz="1600" b="1" noProof="0" dirty="0"/>
                        <a:t>OOP-style (Manual)</a:t>
                      </a:r>
                      <a:endParaRPr lang="en-IN" sz="1600" noProof="0" dirty="0"/>
                    </a:p>
                  </a:txBody>
                  <a:tcPr marL="50015" marR="50015" marT="25008" marB="250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N" sz="1600" b="1" noProof="0" dirty="0" err="1"/>
                        <a:t>LangChain</a:t>
                      </a:r>
                      <a:r>
                        <a:rPr lang="en-IN" sz="1600" b="1" noProof="0" dirty="0"/>
                        <a:t> (LCEL)</a:t>
                      </a:r>
                      <a:endParaRPr lang="en-IN" sz="1600" noProof="0" dirty="0"/>
                    </a:p>
                  </a:txBody>
                  <a:tcPr marL="50015" marR="50015" marT="25008" marB="250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N" sz="1600" b="1" noProof="0" dirty="0" err="1"/>
                        <a:t>LangGraph</a:t>
                      </a:r>
                      <a:endParaRPr lang="en-IN" sz="1600" noProof="0" dirty="0"/>
                    </a:p>
                  </a:txBody>
                  <a:tcPr marL="50015" marR="50015" marT="25008" marB="250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20871615"/>
                  </a:ext>
                </a:extLst>
              </a:tr>
              <a:tr h="68476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N" sz="1600" b="1" noProof="0" dirty="0"/>
                        <a:t>Core idea</a:t>
                      </a:r>
                      <a:endParaRPr lang="en-IN" sz="1600" noProof="0" dirty="0"/>
                    </a:p>
                  </a:txBody>
                  <a:tcPr marL="50015" marR="50015" marT="25008" marB="250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N" sz="1600" noProof="0" dirty="0"/>
                        <a:t>Traditional Python classes/functions controlling API calls</a:t>
                      </a:r>
                    </a:p>
                  </a:txBody>
                  <a:tcPr marL="50015" marR="50015" marT="25008" marB="250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N" sz="1600" noProof="0" dirty="0"/>
                        <a:t>Functional and declarative LLM “chains” using the </a:t>
                      </a:r>
                      <a:r>
                        <a:rPr lang="en-IN" sz="1600" b="1" noProof="0" dirty="0" err="1"/>
                        <a:t>LangChain</a:t>
                      </a:r>
                      <a:r>
                        <a:rPr lang="en-IN" sz="1600" b="1" noProof="0" dirty="0"/>
                        <a:t> Expression Language (LCEL)</a:t>
                      </a:r>
                      <a:endParaRPr lang="en-IN" sz="1600" noProof="0" dirty="0"/>
                    </a:p>
                  </a:txBody>
                  <a:tcPr marL="50015" marR="50015" marT="25008" marB="250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N" sz="1600" noProof="0" dirty="0"/>
                        <a:t>Graph-based, event-driven system where each node can be an LLM, tool, or function</a:t>
                      </a:r>
                    </a:p>
                  </a:txBody>
                  <a:tcPr marL="50015" marR="50015" marT="25008" marB="250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0285053"/>
                  </a:ext>
                </a:extLst>
              </a:tr>
              <a:tr h="526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N" sz="1600" b="1" noProof="0" dirty="0"/>
                        <a:t>Level of abstraction</a:t>
                      </a:r>
                      <a:endParaRPr lang="en-IN" sz="1600" noProof="0" dirty="0"/>
                    </a:p>
                  </a:txBody>
                  <a:tcPr marL="50015" marR="50015" marT="25008" marB="250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N" sz="1600" noProof="0" dirty="0"/>
                        <a:t>Low — direct API calls and manual flow</a:t>
                      </a:r>
                    </a:p>
                  </a:txBody>
                  <a:tcPr marL="50015" marR="50015" marT="25008" marB="250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N" sz="1600" noProof="0" dirty="0"/>
                        <a:t>Medium — declarative pipeline of components</a:t>
                      </a:r>
                    </a:p>
                  </a:txBody>
                  <a:tcPr marL="50015" marR="50015" marT="25008" marB="250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N" sz="1600" noProof="0" dirty="0"/>
                        <a:t>High — nodes and edges define complex, reactive workflows</a:t>
                      </a:r>
                    </a:p>
                  </a:txBody>
                  <a:tcPr marL="50015" marR="50015" marT="25008" marB="250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02466329"/>
                  </a:ext>
                </a:extLst>
              </a:tr>
              <a:tr h="68476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N" sz="1600" b="1" noProof="0" dirty="0"/>
                        <a:t>State management</a:t>
                      </a:r>
                      <a:endParaRPr lang="en-IN" sz="1600" noProof="0" dirty="0"/>
                    </a:p>
                  </a:txBody>
                  <a:tcPr marL="50015" marR="50015" marT="25008" marB="250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N" sz="1600" noProof="0" dirty="0"/>
                        <a:t>Manual; handled in code (variables, memory)</a:t>
                      </a:r>
                    </a:p>
                  </a:txBody>
                  <a:tcPr marL="50015" marR="50015" marT="25008" marB="250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N" sz="1600" noProof="0" dirty="0"/>
                        <a:t>Partly handled via memory components or retrievers</a:t>
                      </a:r>
                    </a:p>
                  </a:txBody>
                  <a:tcPr marL="50015" marR="50015" marT="25008" marB="250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N" sz="1600" noProof="0" dirty="0"/>
                        <a:t>Explicit and persistent graph state (supports branches, loops, conditional edges)</a:t>
                      </a:r>
                    </a:p>
                  </a:txBody>
                  <a:tcPr marL="50015" marR="50015" marT="25008" marB="250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06511895"/>
                  </a:ext>
                </a:extLst>
              </a:tr>
              <a:tr h="526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N" sz="1600" b="1" noProof="0" dirty="0"/>
                        <a:t>Error handling / control flow</a:t>
                      </a:r>
                      <a:endParaRPr lang="en-IN" sz="1600" noProof="0" dirty="0"/>
                    </a:p>
                  </a:txBody>
                  <a:tcPr marL="50015" marR="50015" marT="25008" marB="250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N" sz="1600" noProof="0" dirty="0"/>
                        <a:t>Manual try/except logic</a:t>
                      </a:r>
                    </a:p>
                  </a:txBody>
                  <a:tcPr marL="50015" marR="50015" marT="25008" marB="250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N" sz="1600" noProof="0" dirty="0"/>
                        <a:t>Built-in retry and fallback options</a:t>
                      </a:r>
                    </a:p>
                  </a:txBody>
                  <a:tcPr marL="50015" marR="50015" marT="25008" marB="250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N" sz="1600" noProof="0" dirty="0"/>
                        <a:t>Graph nodes can define error edges or conditional transitions</a:t>
                      </a:r>
                    </a:p>
                  </a:txBody>
                  <a:tcPr marL="50015" marR="50015" marT="25008" marB="250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51339722"/>
                  </a:ext>
                </a:extLst>
              </a:tr>
              <a:tr h="68476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N" sz="1600" b="1" noProof="0" dirty="0"/>
                        <a:t>Reactivity / branching</a:t>
                      </a:r>
                      <a:endParaRPr lang="en-IN" sz="1600" noProof="0" dirty="0"/>
                    </a:p>
                  </a:txBody>
                  <a:tcPr marL="50015" marR="50015" marT="25008" marB="250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N" sz="1600" noProof="0" dirty="0"/>
                        <a:t>Linear; must code logic explicitly</a:t>
                      </a:r>
                    </a:p>
                  </a:txBody>
                  <a:tcPr marL="50015" marR="50015" marT="25008" marB="250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N" sz="1600" noProof="0" dirty="0"/>
                        <a:t>Mostly linear (LCEL adds limited conditional logic)</a:t>
                      </a:r>
                    </a:p>
                  </a:txBody>
                  <a:tcPr marL="50015" marR="50015" marT="25008" marB="250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N" sz="1600" noProof="0" dirty="0"/>
                        <a:t>Fully reactive — conditional routing, parallel branches, feedback loops</a:t>
                      </a:r>
                    </a:p>
                  </a:txBody>
                  <a:tcPr marL="50015" marR="50015" marT="25008" marB="250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6199290"/>
                  </a:ext>
                </a:extLst>
              </a:tr>
              <a:tr h="526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N" sz="1600" b="1" noProof="0" dirty="0"/>
                        <a:t>Use case fit</a:t>
                      </a:r>
                      <a:endParaRPr lang="en-IN" sz="1600" noProof="0" dirty="0"/>
                    </a:p>
                  </a:txBody>
                  <a:tcPr marL="50015" marR="50015" marT="25008" marB="250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N" sz="1600" noProof="0" dirty="0"/>
                        <a:t>Simple, one-off LLM calls or prototypes</a:t>
                      </a:r>
                    </a:p>
                  </a:txBody>
                  <a:tcPr marL="50015" marR="50015" marT="25008" marB="250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N" sz="1600" noProof="0" dirty="0"/>
                        <a:t>Standard pipelines (e.g., prompt → LLM → parser → tool)</a:t>
                      </a:r>
                    </a:p>
                  </a:txBody>
                  <a:tcPr marL="50015" marR="50015" marT="25008" marB="250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N" sz="1600" noProof="0" dirty="0"/>
                        <a:t>Complex, multi-agent, or stateful reasoning workflows</a:t>
                      </a:r>
                    </a:p>
                  </a:txBody>
                  <a:tcPr marL="50015" marR="50015" marT="25008" marB="250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75400949"/>
                  </a:ext>
                </a:extLst>
              </a:tr>
              <a:tr h="36872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N" sz="1600" b="1" noProof="0" dirty="0"/>
                        <a:t>Example use case</a:t>
                      </a:r>
                      <a:endParaRPr lang="en-IN" sz="1600" noProof="0" dirty="0"/>
                    </a:p>
                  </a:txBody>
                  <a:tcPr marL="50015" marR="50015" marT="25008" marB="250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N" sz="1600" noProof="0" dirty="0"/>
                        <a:t>“Ask LLM to summarize text”</a:t>
                      </a:r>
                    </a:p>
                  </a:txBody>
                  <a:tcPr marL="50015" marR="50015" marT="25008" marB="250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N" sz="1600" noProof="0" dirty="0"/>
                        <a:t>Same, but wrapped in a </a:t>
                      </a:r>
                      <a:r>
                        <a:rPr lang="en-IN" sz="1600" noProof="0" dirty="0" err="1"/>
                        <a:t>LangChain</a:t>
                      </a:r>
                      <a:r>
                        <a:rPr lang="en-IN" sz="1600" noProof="0" dirty="0"/>
                        <a:t> </a:t>
                      </a:r>
                      <a:r>
                        <a:rPr lang="en-IN" sz="1600" noProof="0" dirty="0">
                          <a:latin typeface="Courier New" panose="02070309020205020404" pitchFamily="49" charset="0"/>
                        </a:rPr>
                        <a:t>chain</a:t>
                      </a:r>
                      <a:endParaRPr lang="en-IN" sz="1600" noProof="0" dirty="0"/>
                    </a:p>
                  </a:txBody>
                  <a:tcPr marL="50015" marR="50015" marT="25008" marB="250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N" sz="1600" noProof="0" dirty="0"/>
                        <a:t>Same, but </a:t>
                      </a:r>
                      <a:r>
                        <a:rPr lang="en-IN" sz="1600" noProof="0" dirty="0" err="1"/>
                        <a:t>modeled</a:t>
                      </a:r>
                      <a:r>
                        <a:rPr lang="en-IN" sz="1600" noProof="0" dirty="0"/>
                        <a:t> as a small reactive graph</a:t>
                      </a:r>
                    </a:p>
                  </a:txBody>
                  <a:tcPr marL="50015" marR="50015" marT="25008" marB="250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0884945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7376396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DD3FB9-CF8A-447B-E1BE-02835BF243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Comparison of the Approaches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926545-4695-D264-A58A-1DF7F589975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B5580B6-A3A1-6B70-6232-8FAA1BCB370B}"/>
              </a:ext>
            </a:extLst>
          </p:cNvPr>
          <p:cNvSpPr txBox="1"/>
          <p:nvPr/>
        </p:nvSpPr>
        <p:spPr>
          <a:xfrm>
            <a:off x="949881" y="1923802"/>
            <a:ext cx="1842760" cy="397031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IN" sz="1200" noProof="0" dirty="0"/>
              <a:t>from </a:t>
            </a:r>
            <a:r>
              <a:rPr lang="en-IN" sz="1200" noProof="0" dirty="0" err="1"/>
              <a:t>openai</a:t>
            </a:r>
            <a:r>
              <a:rPr lang="en-IN" sz="1200" noProof="0" dirty="0"/>
              <a:t> import OpenAI</a:t>
            </a:r>
          </a:p>
          <a:p>
            <a:r>
              <a:rPr lang="en-IN" sz="1200" noProof="0" dirty="0"/>
              <a:t>client = OpenAI()</a:t>
            </a:r>
          </a:p>
          <a:p>
            <a:endParaRPr lang="en-IN" sz="1200" noProof="0" dirty="0"/>
          </a:p>
          <a:p>
            <a:r>
              <a:rPr lang="en-IN" sz="1200" noProof="0" dirty="0"/>
              <a:t>text = "</a:t>
            </a:r>
            <a:r>
              <a:rPr lang="en-IN" sz="1200" noProof="0" dirty="0" err="1"/>
              <a:t>LangChain</a:t>
            </a:r>
            <a:r>
              <a:rPr lang="en-IN" sz="1200" noProof="0" dirty="0"/>
              <a:t> and </a:t>
            </a:r>
            <a:r>
              <a:rPr lang="en-IN" sz="1200" noProof="0" dirty="0" err="1"/>
              <a:t>LangGraph</a:t>
            </a:r>
            <a:r>
              <a:rPr lang="en-IN" sz="1200" noProof="0" dirty="0"/>
              <a:t> simplify how developers use LLMs."</a:t>
            </a:r>
          </a:p>
          <a:p>
            <a:r>
              <a:rPr lang="en-IN" sz="1200" noProof="0" dirty="0"/>
              <a:t>prompt = </a:t>
            </a:r>
            <a:r>
              <a:rPr lang="en-IN" sz="1200" noProof="0" dirty="0" err="1"/>
              <a:t>f"Summarize</a:t>
            </a:r>
            <a:r>
              <a:rPr lang="en-IN" sz="1200" noProof="0" dirty="0"/>
              <a:t> this: {text}"</a:t>
            </a:r>
          </a:p>
          <a:p>
            <a:endParaRPr lang="en-IN" sz="1200" noProof="0" dirty="0"/>
          </a:p>
          <a:p>
            <a:r>
              <a:rPr lang="en-IN" sz="1200" noProof="0" dirty="0"/>
              <a:t>response = </a:t>
            </a:r>
            <a:r>
              <a:rPr lang="en-IN" sz="1200" noProof="0" dirty="0" err="1"/>
              <a:t>client.chat.completions.create</a:t>
            </a:r>
            <a:r>
              <a:rPr lang="en-IN" sz="1200" noProof="0" dirty="0"/>
              <a:t>(</a:t>
            </a:r>
          </a:p>
          <a:p>
            <a:r>
              <a:rPr lang="en-IN" sz="1200" noProof="0" dirty="0"/>
              <a:t>    model="gpt-4o-mini",</a:t>
            </a:r>
          </a:p>
          <a:p>
            <a:r>
              <a:rPr lang="en-IN" sz="1200" noProof="0" dirty="0"/>
              <a:t>    messages=[{"role": "user", "content": prompt}]</a:t>
            </a:r>
          </a:p>
          <a:p>
            <a:r>
              <a:rPr lang="en-IN" sz="1200" noProof="0" dirty="0"/>
              <a:t>)</a:t>
            </a:r>
          </a:p>
          <a:p>
            <a:endParaRPr lang="en-IN" sz="1200" noProof="0" dirty="0"/>
          </a:p>
          <a:p>
            <a:r>
              <a:rPr lang="en-IN" sz="1200" noProof="0" dirty="0"/>
              <a:t>print(</a:t>
            </a:r>
            <a:r>
              <a:rPr lang="en-IN" sz="1200" noProof="0" dirty="0" err="1"/>
              <a:t>response.choices</a:t>
            </a:r>
            <a:r>
              <a:rPr lang="en-IN" sz="1200" noProof="0" dirty="0"/>
              <a:t>[0].</a:t>
            </a:r>
            <a:r>
              <a:rPr lang="en-IN" sz="1200" noProof="0" dirty="0" err="1"/>
              <a:t>message.content</a:t>
            </a:r>
            <a:r>
              <a:rPr lang="en-IN" sz="1200" noProof="0" dirty="0"/>
              <a:t>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FE3573A-FEC1-F194-C155-42EC6F8F538B}"/>
              </a:ext>
            </a:extLst>
          </p:cNvPr>
          <p:cNvSpPr txBox="1"/>
          <p:nvPr/>
        </p:nvSpPr>
        <p:spPr>
          <a:xfrm>
            <a:off x="4166276" y="1831469"/>
            <a:ext cx="2443636" cy="4154984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IN" sz="1200" noProof="0" dirty="0"/>
              <a:t>from </a:t>
            </a:r>
            <a:r>
              <a:rPr lang="en-IN" sz="1200" noProof="0" dirty="0" err="1"/>
              <a:t>langchain_openai</a:t>
            </a:r>
            <a:r>
              <a:rPr lang="en-IN" sz="1200" noProof="0" dirty="0"/>
              <a:t> import </a:t>
            </a:r>
            <a:r>
              <a:rPr lang="en-IN" sz="1200" noProof="0" dirty="0" err="1"/>
              <a:t>ChatOpenAI</a:t>
            </a:r>
            <a:endParaRPr lang="en-IN" sz="1200" noProof="0" dirty="0"/>
          </a:p>
          <a:p>
            <a:r>
              <a:rPr lang="en-IN" sz="1200" noProof="0" dirty="0"/>
              <a:t>from </a:t>
            </a:r>
            <a:r>
              <a:rPr lang="en-IN" sz="1200" noProof="0" dirty="0" err="1"/>
              <a:t>langchain.prompts</a:t>
            </a:r>
            <a:r>
              <a:rPr lang="en-IN" sz="1200" noProof="0" dirty="0"/>
              <a:t> import </a:t>
            </a:r>
            <a:r>
              <a:rPr lang="en-IN" sz="1200" noProof="0" dirty="0" err="1"/>
              <a:t>PromptTemplate</a:t>
            </a:r>
            <a:endParaRPr lang="en-IN" sz="1200" noProof="0" dirty="0"/>
          </a:p>
          <a:p>
            <a:r>
              <a:rPr lang="en-IN" sz="1200" noProof="0" dirty="0"/>
              <a:t>from </a:t>
            </a:r>
            <a:r>
              <a:rPr lang="en-IN" sz="1200" noProof="0" dirty="0" err="1"/>
              <a:t>langchain.schema.runnable</a:t>
            </a:r>
            <a:r>
              <a:rPr lang="en-IN" sz="1200" noProof="0" dirty="0"/>
              <a:t> import </a:t>
            </a:r>
            <a:r>
              <a:rPr lang="en-IN" sz="1200" noProof="0" dirty="0" err="1"/>
              <a:t>RunnableMap</a:t>
            </a:r>
            <a:r>
              <a:rPr lang="en-IN" sz="1200" noProof="0" dirty="0"/>
              <a:t>, </a:t>
            </a:r>
            <a:r>
              <a:rPr lang="en-IN" sz="1200" noProof="0" dirty="0" err="1"/>
              <a:t>RunnablePassthrough</a:t>
            </a:r>
            <a:endParaRPr lang="en-IN" sz="1200" noProof="0" dirty="0"/>
          </a:p>
          <a:p>
            <a:endParaRPr lang="en-IN" sz="1200" noProof="0" dirty="0"/>
          </a:p>
          <a:p>
            <a:r>
              <a:rPr lang="en-IN" sz="1200" noProof="0" dirty="0" err="1"/>
              <a:t>llm</a:t>
            </a:r>
            <a:r>
              <a:rPr lang="en-IN" sz="1200" noProof="0" dirty="0"/>
              <a:t> = </a:t>
            </a:r>
            <a:r>
              <a:rPr lang="en-IN" sz="1200" noProof="0" dirty="0" err="1"/>
              <a:t>ChatOpenAI</a:t>
            </a:r>
            <a:r>
              <a:rPr lang="en-IN" sz="1200" noProof="0" dirty="0"/>
              <a:t>(model="gpt-4o-mini")</a:t>
            </a:r>
          </a:p>
          <a:p>
            <a:r>
              <a:rPr lang="en-IN" sz="1200" noProof="0" dirty="0"/>
              <a:t>prompt = </a:t>
            </a:r>
            <a:r>
              <a:rPr lang="en-IN" sz="1200" noProof="0" dirty="0" err="1"/>
              <a:t>PromptTemplate.from_template</a:t>
            </a:r>
            <a:r>
              <a:rPr lang="en-IN" sz="1200" noProof="0" dirty="0"/>
              <a:t>("Summarize this: {text}")</a:t>
            </a:r>
          </a:p>
          <a:p>
            <a:endParaRPr lang="en-IN" sz="1200" noProof="0" dirty="0"/>
          </a:p>
          <a:p>
            <a:r>
              <a:rPr lang="en-IN" sz="1200" noProof="0" dirty="0"/>
              <a:t>chain = {"text": </a:t>
            </a:r>
            <a:r>
              <a:rPr lang="en-IN" sz="1200" noProof="0" dirty="0" err="1"/>
              <a:t>RunnablePassthrough</a:t>
            </a:r>
            <a:r>
              <a:rPr lang="en-IN" sz="1200" noProof="0" dirty="0"/>
              <a:t>()} | prompt | </a:t>
            </a:r>
            <a:r>
              <a:rPr lang="en-IN" sz="1200" noProof="0" dirty="0" err="1"/>
              <a:t>llm</a:t>
            </a:r>
            <a:endParaRPr lang="en-IN" sz="1200" noProof="0" dirty="0"/>
          </a:p>
          <a:p>
            <a:endParaRPr lang="en-IN" sz="1200" noProof="0" dirty="0"/>
          </a:p>
          <a:p>
            <a:r>
              <a:rPr lang="en-IN" sz="1200" noProof="0" dirty="0"/>
              <a:t>result = </a:t>
            </a:r>
            <a:r>
              <a:rPr lang="en-IN" sz="1200" noProof="0" dirty="0" err="1"/>
              <a:t>chain.invoke</a:t>
            </a:r>
            <a:r>
              <a:rPr lang="en-IN" sz="1200" noProof="0" dirty="0"/>
              <a:t>({"text": "</a:t>
            </a:r>
            <a:r>
              <a:rPr lang="en-IN" sz="1200" noProof="0" dirty="0" err="1"/>
              <a:t>LangChain</a:t>
            </a:r>
            <a:r>
              <a:rPr lang="en-IN" sz="1200" noProof="0" dirty="0"/>
              <a:t> and </a:t>
            </a:r>
            <a:r>
              <a:rPr lang="en-IN" sz="1200" noProof="0" dirty="0" err="1"/>
              <a:t>LangGraph</a:t>
            </a:r>
            <a:r>
              <a:rPr lang="en-IN" sz="1200" noProof="0" dirty="0"/>
              <a:t> simplify how developers use LLMs."})</a:t>
            </a:r>
          </a:p>
          <a:p>
            <a:r>
              <a:rPr lang="en-IN" sz="1200" noProof="0" dirty="0"/>
              <a:t>print(</a:t>
            </a:r>
            <a:r>
              <a:rPr lang="en-IN" sz="1200" noProof="0" dirty="0" err="1"/>
              <a:t>result.content</a:t>
            </a:r>
            <a:r>
              <a:rPr lang="en-IN" sz="1200" noProof="0" dirty="0"/>
              <a:t>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0FEE793-6703-28F7-84B9-AD990AFEEDDF}"/>
              </a:ext>
            </a:extLst>
          </p:cNvPr>
          <p:cNvSpPr txBox="1"/>
          <p:nvPr/>
        </p:nvSpPr>
        <p:spPr>
          <a:xfrm>
            <a:off x="7920725" y="1711012"/>
            <a:ext cx="3156775" cy="452431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IN" sz="1200" noProof="0" dirty="0"/>
              <a:t>from </a:t>
            </a:r>
            <a:r>
              <a:rPr lang="en-IN" sz="1200" noProof="0" dirty="0" err="1"/>
              <a:t>langgraph.graph</a:t>
            </a:r>
            <a:r>
              <a:rPr lang="en-IN" sz="1200" noProof="0" dirty="0"/>
              <a:t> import Graph, END</a:t>
            </a:r>
          </a:p>
          <a:p>
            <a:r>
              <a:rPr lang="en-IN" sz="1200" noProof="0" dirty="0"/>
              <a:t>from </a:t>
            </a:r>
            <a:r>
              <a:rPr lang="en-IN" sz="1200" noProof="0" dirty="0" err="1"/>
              <a:t>langchain_openai</a:t>
            </a:r>
            <a:r>
              <a:rPr lang="en-IN" sz="1200" noProof="0" dirty="0"/>
              <a:t> import </a:t>
            </a:r>
            <a:r>
              <a:rPr lang="en-IN" sz="1200" noProof="0" dirty="0" err="1"/>
              <a:t>ChatOpenAI</a:t>
            </a:r>
            <a:endParaRPr lang="en-IN" sz="1200" noProof="0" dirty="0"/>
          </a:p>
          <a:p>
            <a:endParaRPr lang="en-IN" sz="1200" noProof="0" dirty="0"/>
          </a:p>
          <a:p>
            <a:r>
              <a:rPr lang="en-IN" sz="1200" noProof="0" dirty="0" err="1"/>
              <a:t>llm</a:t>
            </a:r>
            <a:r>
              <a:rPr lang="en-IN" sz="1200" noProof="0" dirty="0"/>
              <a:t> = </a:t>
            </a:r>
            <a:r>
              <a:rPr lang="en-IN" sz="1200" noProof="0" dirty="0" err="1"/>
              <a:t>ChatOpenAI</a:t>
            </a:r>
            <a:r>
              <a:rPr lang="en-IN" sz="1200" noProof="0" dirty="0"/>
              <a:t>(model="gpt-4o-mini")</a:t>
            </a:r>
          </a:p>
          <a:p>
            <a:endParaRPr lang="en-IN" sz="1200" noProof="0" dirty="0"/>
          </a:p>
          <a:p>
            <a:r>
              <a:rPr lang="en-IN" sz="1200" noProof="0" dirty="0"/>
              <a:t># Define the node (a summarization step)</a:t>
            </a:r>
          </a:p>
          <a:p>
            <a:r>
              <a:rPr lang="en-IN" sz="1200" noProof="0" dirty="0"/>
              <a:t>def </a:t>
            </a:r>
            <a:r>
              <a:rPr lang="en-IN" sz="1200" noProof="0" dirty="0" err="1"/>
              <a:t>summarize_node</a:t>
            </a:r>
            <a:r>
              <a:rPr lang="en-IN" sz="1200" noProof="0" dirty="0"/>
              <a:t>(state):</a:t>
            </a:r>
          </a:p>
          <a:p>
            <a:r>
              <a:rPr lang="en-IN" sz="1200" noProof="0" dirty="0"/>
              <a:t>    text = state["text"]</a:t>
            </a:r>
          </a:p>
          <a:p>
            <a:r>
              <a:rPr lang="en-IN" sz="1200" noProof="0" dirty="0"/>
              <a:t>    prompt = </a:t>
            </a:r>
            <a:r>
              <a:rPr lang="en-IN" sz="1200" noProof="0" dirty="0" err="1"/>
              <a:t>f"Summarize</a:t>
            </a:r>
            <a:r>
              <a:rPr lang="en-IN" sz="1200" noProof="0" dirty="0"/>
              <a:t> this: {text}"</a:t>
            </a:r>
          </a:p>
          <a:p>
            <a:r>
              <a:rPr lang="en-IN" sz="1200" noProof="0" dirty="0"/>
              <a:t>    result = </a:t>
            </a:r>
            <a:r>
              <a:rPr lang="en-IN" sz="1200" noProof="0" dirty="0" err="1"/>
              <a:t>llm.invoke</a:t>
            </a:r>
            <a:r>
              <a:rPr lang="en-IN" sz="1200" noProof="0" dirty="0"/>
              <a:t>(prompt)</a:t>
            </a:r>
          </a:p>
          <a:p>
            <a:r>
              <a:rPr lang="en-IN" sz="1200" noProof="0" dirty="0"/>
              <a:t>    return {"summary": </a:t>
            </a:r>
            <a:r>
              <a:rPr lang="en-IN" sz="1200" noProof="0" dirty="0" err="1"/>
              <a:t>result.content</a:t>
            </a:r>
            <a:r>
              <a:rPr lang="en-IN" sz="1200" noProof="0" dirty="0"/>
              <a:t>}</a:t>
            </a:r>
          </a:p>
          <a:p>
            <a:endParaRPr lang="en-IN" sz="1200" noProof="0" dirty="0"/>
          </a:p>
          <a:p>
            <a:r>
              <a:rPr lang="en-IN" sz="1200" noProof="0" dirty="0"/>
              <a:t># Build graph</a:t>
            </a:r>
          </a:p>
          <a:p>
            <a:r>
              <a:rPr lang="en-IN" sz="1200" noProof="0" dirty="0"/>
              <a:t>graph = Graph()</a:t>
            </a:r>
          </a:p>
          <a:p>
            <a:r>
              <a:rPr lang="en-IN" sz="1200" noProof="0" dirty="0" err="1"/>
              <a:t>graph.add_node</a:t>
            </a:r>
            <a:r>
              <a:rPr lang="en-IN" sz="1200" noProof="0" dirty="0"/>
              <a:t>("summarize", </a:t>
            </a:r>
            <a:r>
              <a:rPr lang="en-IN" sz="1200" noProof="0" dirty="0" err="1"/>
              <a:t>summarize_node</a:t>
            </a:r>
            <a:r>
              <a:rPr lang="en-IN" sz="1200" noProof="0" dirty="0"/>
              <a:t>)</a:t>
            </a:r>
          </a:p>
          <a:p>
            <a:r>
              <a:rPr lang="en-IN" sz="1200" noProof="0" dirty="0" err="1"/>
              <a:t>graph.set_entry_point</a:t>
            </a:r>
            <a:r>
              <a:rPr lang="en-IN" sz="1200" noProof="0" dirty="0"/>
              <a:t>("summarize")</a:t>
            </a:r>
          </a:p>
          <a:p>
            <a:r>
              <a:rPr lang="en-IN" sz="1200" noProof="0" dirty="0" err="1"/>
              <a:t>graph.add_edge</a:t>
            </a:r>
            <a:r>
              <a:rPr lang="en-IN" sz="1200" noProof="0" dirty="0"/>
              <a:t>("summarize", END)</a:t>
            </a:r>
          </a:p>
          <a:p>
            <a:endParaRPr lang="en-IN" sz="1200" noProof="0" dirty="0"/>
          </a:p>
          <a:p>
            <a:r>
              <a:rPr lang="en-IN" sz="1200" noProof="0" dirty="0"/>
              <a:t># Run</a:t>
            </a:r>
          </a:p>
          <a:p>
            <a:r>
              <a:rPr lang="en-IN" sz="1200" noProof="0" dirty="0"/>
              <a:t>result = </a:t>
            </a:r>
            <a:r>
              <a:rPr lang="en-IN" sz="1200" noProof="0" dirty="0" err="1"/>
              <a:t>graph.invoke</a:t>
            </a:r>
            <a:r>
              <a:rPr lang="en-IN" sz="1200" noProof="0" dirty="0"/>
              <a:t>({"text": "</a:t>
            </a:r>
            <a:r>
              <a:rPr lang="en-IN" sz="1200" noProof="0" dirty="0" err="1"/>
              <a:t>LangChain</a:t>
            </a:r>
            <a:r>
              <a:rPr lang="en-IN" sz="1200" noProof="0" dirty="0"/>
              <a:t> and </a:t>
            </a:r>
            <a:r>
              <a:rPr lang="en-IN" sz="1200" noProof="0" dirty="0" err="1"/>
              <a:t>LangGraph</a:t>
            </a:r>
            <a:r>
              <a:rPr lang="en-IN" sz="1200" noProof="0" dirty="0"/>
              <a:t> simplify how developers use LLMs."})</a:t>
            </a:r>
          </a:p>
          <a:p>
            <a:r>
              <a:rPr lang="en-IN" sz="1200" noProof="0" dirty="0"/>
              <a:t>print(result["summary"])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BF74D5C-7256-9F97-4901-0894D158923C}"/>
              </a:ext>
            </a:extLst>
          </p:cNvPr>
          <p:cNvSpPr txBox="1"/>
          <p:nvPr/>
        </p:nvSpPr>
        <p:spPr>
          <a:xfrm>
            <a:off x="736403" y="1333209"/>
            <a:ext cx="2146400" cy="369332"/>
          </a:xfrm>
          <a:prstGeom prst="rect">
            <a:avLst/>
          </a:prstGeom>
          <a:solidFill>
            <a:schemeClr val="accent4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b="1" noProof="0" dirty="0"/>
              <a:t>Object-Oriented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1CB77ED-CBD9-556A-5ECD-6A4CF0601416}"/>
              </a:ext>
            </a:extLst>
          </p:cNvPr>
          <p:cNvSpPr txBox="1"/>
          <p:nvPr/>
        </p:nvSpPr>
        <p:spPr>
          <a:xfrm>
            <a:off x="4243058" y="1327283"/>
            <a:ext cx="2146400" cy="369332"/>
          </a:xfrm>
          <a:prstGeom prst="rect">
            <a:avLst/>
          </a:prstGeom>
          <a:solidFill>
            <a:schemeClr val="accent4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b="1" noProof="0" dirty="0" err="1"/>
              <a:t>LangChain</a:t>
            </a:r>
            <a:endParaRPr lang="en-IN" b="1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0B14097-E18C-619A-2DBD-9933D05F9A65}"/>
              </a:ext>
            </a:extLst>
          </p:cNvPr>
          <p:cNvSpPr txBox="1"/>
          <p:nvPr/>
        </p:nvSpPr>
        <p:spPr>
          <a:xfrm>
            <a:off x="8162122" y="1324320"/>
            <a:ext cx="2146400" cy="369332"/>
          </a:xfrm>
          <a:prstGeom prst="rect">
            <a:avLst/>
          </a:prstGeom>
          <a:solidFill>
            <a:schemeClr val="accent4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b="1" noProof="0" dirty="0" err="1"/>
              <a:t>LangGraph</a:t>
            </a:r>
            <a:endParaRPr lang="en-IN" b="1" noProof="0" dirty="0"/>
          </a:p>
        </p:txBody>
      </p:sp>
    </p:spTree>
    <p:extLst>
      <p:ext uri="{BB962C8B-B14F-4D97-AF65-F5344CB8AC3E}">
        <p14:creationId xmlns:p14="http://schemas.microsoft.com/office/powerpoint/2010/main" val="331485343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FE5783-760E-B634-3D2F-90CC5D4E17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8C43AC-5993-8ED8-DCB1-82A8BCDB2B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 err="1"/>
              <a:t>LangChain</a:t>
            </a:r>
            <a:r>
              <a:rPr lang="en-IN" noProof="0" dirty="0"/>
              <a:t> and </a:t>
            </a:r>
            <a:r>
              <a:rPr lang="en-IN" noProof="0" dirty="0" err="1"/>
              <a:t>LangGraph</a:t>
            </a:r>
            <a:endParaRPr lang="en-IN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445C76-A51C-0AE6-DB39-A312458D3D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b="1" noProof="0" dirty="0" err="1"/>
              <a:t>LangChain</a:t>
            </a:r>
            <a:r>
              <a:rPr lang="en-IN" noProof="0" dirty="0"/>
              <a:t>: Framework to use LLMs as AI agents with access to external tools (APIs, databases, etc)</a:t>
            </a:r>
          </a:p>
          <a:p>
            <a:r>
              <a:rPr lang="en-IN" noProof="0" dirty="0"/>
              <a:t>Works well for </a:t>
            </a:r>
            <a:r>
              <a:rPr lang="en-IN" b="1" noProof="0" dirty="0"/>
              <a:t>single-step </a:t>
            </a:r>
            <a:r>
              <a:rPr lang="en-IN" noProof="0" dirty="0"/>
              <a:t>or simple </a:t>
            </a:r>
            <a:r>
              <a:rPr lang="en-IN" b="1" noProof="0" dirty="0"/>
              <a:t>request-response workflows</a:t>
            </a:r>
            <a:endParaRPr lang="en-IN" noProof="0" dirty="0"/>
          </a:p>
          <a:p>
            <a:r>
              <a:rPr lang="en-IN" noProof="0" dirty="0"/>
              <a:t>Not ideal for </a:t>
            </a:r>
            <a:r>
              <a:rPr lang="en-IN" b="1" noProof="0" dirty="0"/>
              <a:t>complex, multi-step, stateful workflows</a:t>
            </a:r>
            <a:r>
              <a:rPr lang="en-IN" noProof="0" dirty="0"/>
              <a:t> involving multiple agents or actors interacting over time</a:t>
            </a:r>
            <a:endParaRPr lang="en-IN" b="1" noProof="0" dirty="0"/>
          </a:p>
          <a:p>
            <a:r>
              <a:rPr lang="en-IN" noProof="0" dirty="0"/>
              <a:t>Solution: </a:t>
            </a:r>
            <a:r>
              <a:rPr lang="en-IN" b="1" noProof="0" dirty="0" err="1"/>
              <a:t>LangGraph</a:t>
            </a:r>
            <a:endParaRPr lang="en-IN" b="1" noProof="0" dirty="0"/>
          </a:p>
          <a:p>
            <a:r>
              <a:rPr lang="en-IN" b="1" noProof="0" dirty="0" err="1"/>
              <a:t>LangGraph</a:t>
            </a:r>
            <a:r>
              <a:rPr lang="en-IN" noProof="0" dirty="0"/>
              <a:t>: Designed for </a:t>
            </a:r>
            <a:r>
              <a:rPr lang="en-IN" b="1" noProof="0" dirty="0"/>
              <a:t>stateful</a:t>
            </a:r>
            <a:r>
              <a:rPr lang="en-IN" noProof="0" dirty="0"/>
              <a:t>, </a:t>
            </a:r>
            <a:r>
              <a:rPr lang="en-IN" b="1" noProof="0" dirty="0"/>
              <a:t>multi-actor applications </a:t>
            </a:r>
            <a:r>
              <a:rPr lang="en-IN" noProof="0" dirty="0"/>
              <a:t>with LLMs</a:t>
            </a:r>
          </a:p>
          <a:p>
            <a:r>
              <a:rPr lang="en-IN" noProof="0" dirty="0"/>
              <a:t>Allows building </a:t>
            </a:r>
            <a:r>
              <a:rPr lang="en-IN" b="1" noProof="0" dirty="0"/>
              <a:t>complex workflows</a:t>
            </a:r>
            <a:r>
              <a:rPr lang="en-IN" noProof="0" dirty="0"/>
              <a:t> where multiple agents collaborate, maintain memory, and handle dynamic execution</a:t>
            </a:r>
          </a:p>
        </p:txBody>
      </p:sp>
    </p:spTree>
    <p:extLst>
      <p:ext uri="{BB962C8B-B14F-4D97-AF65-F5344CB8AC3E}">
        <p14:creationId xmlns:p14="http://schemas.microsoft.com/office/powerpoint/2010/main" val="62232696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FE6E08-2CDF-C0E7-D294-C3BC0F134F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N" dirty="0"/>
              <a:t>Code Examples (</a:t>
            </a:r>
            <a:r>
              <a:rPr lang="it-IT" dirty="0"/>
              <a:t>C:\code\agenticai_realpage\module_2)</a:t>
            </a:r>
            <a:endParaRPr lang="en-GB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9DC9F71F-8066-6C3E-A1D7-5F03BA1AEC8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342367292"/>
              </p:ext>
            </p:extLst>
          </p:nvPr>
        </p:nvGraphicFramePr>
        <p:xfrm>
          <a:off x="838200" y="1825625"/>
          <a:ext cx="10515597" cy="1483360"/>
        </p:xfrm>
        <a:graphic>
          <a:graphicData uri="http://schemas.openxmlformats.org/drawingml/2006/table">
            <a:tbl>
              <a:tblPr firstRow="1" bandRow="1">
                <a:tableStyleId>{72833802-FEF1-4C79-8D5D-14CF1EAF98D9}</a:tableStyleId>
              </a:tblPr>
              <a:tblGrid>
                <a:gridCol w="983620">
                  <a:extLst>
                    <a:ext uri="{9D8B030D-6E8A-4147-A177-3AD203B41FA5}">
                      <a16:colId xmlns:a16="http://schemas.microsoft.com/office/drawing/2014/main" val="1050913285"/>
                    </a:ext>
                  </a:extLst>
                </a:gridCol>
                <a:gridCol w="4648782">
                  <a:extLst>
                    <a:ext uri="{9D8B030D-6E8A-4147-A177-3AD203B41FA5}">
                      <a16:colId xmlns:a16="http://schemas.microsoft.com/office/drawing/2014/main" val="1840395850"/>
                    </a:ext>
                  </a:extLst>
                </a:gridCol>
                <a:gridCol w="4883195">
                  <a:extLst>
                    <a:ext uri="{9D8B030D-6E8A-4147-A177-3AD203B41FA5}">
                      <a16:colId xmlns:a16="http://schemas.microsoft.com/office/drawing/2014/main" val="176761619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IN" dirty="0"/>
                        <a:t>Sr No</a:t>
                      </a:r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File</a:t>
                      </a:r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Purpose</a:t>
                      </a:r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319018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dirty="0"/>
                        <a:t>1</a:t>
                      </a:r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2_langchain_1_calculator_ollama.py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Basic calculator using Ollama</a:t>
                      </a:r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5012944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dirty="0"/>
                        <a:t>2</a:t>
                      </a:r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dirty="0"/>
                        <a:t>2_langchain_1_calculator_openai.py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Same example using OpenAI</a:t>
                      </a:r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6569695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dirty="0"/>
                        <a:t>3</a:t>
                      </a:r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2_langchain_2_tavily_search_tool.py</a:t>
                      </a:r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Using Agent primitive, Tool (</a:t>
                      </a:r>
                      <a:r>
                        <a:rPr lang="en-IN" dirty="0" err="1"/>
                        <a:t>Tavily</a:t>
                      </a:r>
                      <a:r>
                        <a:rPr lang="en-IN" dirty="0"/>
                        <a:t> search)</a:t>
                      </a:r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7079243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9771028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AAF1BA-505C-0AF7-14D8-F493D5E2FF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Loaders in </a:t>
            </a:r>
            <a:r>
              <a:rPr lang="en-US" noProof="0" dirty="0" err="1"/>
              <a:t>LangChain</a:t>
            </a:r>
            <a:endParaRPr lang="en-US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7810C2-23CA-8DA7-9FEC-894CB7D3D0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noProof="0" dirty="0"/>
              <a:t>Loaders</a:t>
            </a:r>
            <a:r>
              <a:rPr lang="en-US" noProof="0" dirty="0"/>
              <a:t>: Components that </a:t>
            </a:r>
            <a:r>
              <a:rPr lang="en-US" b="1" noProof="0" dirty="0"/>
              <a:t>read data from a source and convert it into Documents</a:t>
            </a:r>
            <a:r>
              <a:rPr lang="en-US" noProof="0" dirty="0"/>
              <a:t> that LLMs can understand</a:t>
            </a:r>
          </a:p>
          <a:p>
            <a:r>
              <a:rPr lang="en-US" noProof="0" dirty="0"/>
              <a:t>PDFs, Word documents, Website data, Databases are loaded into a standard format</a:t>
            </a:r>
          </a:p>
          <a:p>
            <a:pPr lvl="1"/>
            <a:r>
              <a:rPr lang="en-US" noProof="0" dirty="0"/>
              <a:t>Document(</a:t>
            </a:r>
          </a:p>
          <a:p>
            <a:pPr lvl="1"/>
            <a:r>
              <a:rPr lang="en-US" noProof="0" dirty="0"/>
              <a:t>  </a:t>
            </a:r>
            <a:r>
              <a:rPr lang="en-US" noProof="0" dirty="0" err="1"/>
              <a:t>page_content</a:t>
            </a:r>
            <a:r>
              <a:rPr lang="en-US" noProof="0" dirty="0"/>
              <a:t>="text",</a:t>
            </a:r>
          </a:p>
          <a:p>
            <a:pPr lvl="1"/>
            <a:r>
              <a:rPr lang="en-US" noProof="0" dirty="0"/>
              <a:t>  metadata={...}</a:t>
            </a:r>
          </a:p>
          <a:p>
            <a:pPr lvl="1"/>
            <a:r>
              <a:rPr lang="en-US" noProof="0" dirty="0"/>
              <a:t>)</a:t>
            </a:r>
          </a:p>
          <a:p>
            <a:r>
              <a:rPr lang="en-US" noProof="0" dirty="0"/>
              <a:t>Popular built-in loaders: </a:t>
            </a:r>
            <a:r>
              <a:rPr lang="en-US" noProof="0" dirty="0" err="1"/>
              <a:t>TextLoader</a:t>
            </a:r>
            <a:r>
              <a:rPr lang="en-US" noProof="0" dirty="0"/>
              <a:t>, </a:t>
            </a:r>
            <a:r>
              <a:rPr lang="en-US" noProof="0" dirty="0" err="1"/>
              <a:t>PyPDFLoader</a:t>
            </a:r>
            <a:r>
              <a:rPr lang="en-US" noProof="0" dirty="0"/>
              <a:t>, </a:t>
            </a:r>
            <a:r>
              <a:rPr lang="en-US" noProof="0" dirty="0" err="1"/>
              <a:t>CSVLoader</a:t>
            </a:r>
            <a:r>
              <a:rPr lang="en-US" noProof="0" dirty="0"/>
              <a:t>, </a:t>
            </a:r>
            <a:r>
              <a:rPr lang="en-US" noProof="0" dirty="0" err="1"/>
              <a:t>etc</a:t>
            </a:r>
            <a:endParaRPr lang="en-US" noProof="0" dirty="0"/>
          </a:p>
          <a:p>
            <a:r>
              <a:rPr lang="en-US" noProof="0" dirty="0"/>
              <a:t>Code: module_2\2_langchain_load_pdf.py</a:t>
            </a:r>
          </a:p>
          <a:p>
            <a:pPr lvl="1"/>
            <a:endParaRPr lang="en-US" noProof="0" dirty="0"/>
          </a:p>
          <a:p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420002017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695FA1-E43D-932B-C36B-3BC7767708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2760825-E1D9-0E35-86C0-7CC7E11346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 err="1"/>
              <a:t>LangChain</a:t>
            </a:r>
            <a:r>
              <a:rPr lang="en-US" noProof="0" dirty="0"/>
              <a:t> Embeddings – </a:t>
            </a:r>
            <a:br>
              <a:rPr lang="en-US" noProof="0" dirty="0"/>
            </a:br>
            <a:r>
              <a:rPr lang="en-US" noProof="0" dirty="0"/>
              <a:t>RAG and Vector Databases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81593F8-0D74-7109-1B62-6AFC5B6F8B0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59820308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BCE228-D985-6D81-EB88-C79CE83B61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What is RAG?</a:t>
            </a:r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9D212587-838C-2535-3FE2-28169D9F5AB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131441358"/>
              </p:ext>
            </p:extLst>
          </p:nvPr>
        </p:nvGraphicFramePr>
        <p:xfrm>
          <a:off x="838200" y="1497558"/>
          <a:ext cx="10515600" cy="4511040"/>
        </p:xfrm>
        <a:graphic>
          <a:graphicData uri="http://schemas.openxmlformats.org/drawingml/2006/table">
            <a:tbl>
              <a:tblPr firstRow="1" bandRow="1">
                <a:tableStyleId>{72833802-FEF1-4C79-8D5D-14CF1EAF98D9}</a:tableStyleId>
              </a:tblPr>
              <a:tblGrid>
                <a:gridCol w="2651876">
                  <a:extLst>
                    <a:ext uri="{9D8B030D-6E8A-4147-A177-3AD203B41FA5}">
                      <a16:colId xmlns:a16="http://schemas.microsoft.com/office/drawing/2014/main" val="2529649022"/>
                    </a:ext>
                  </a:extLst>
                </a:gridCol>
                <a:gridCol w="7863724">
                  <a:extLst>
                    <a:ext uri="{9D8B030D-6E8A-4147-A177-3AD203B41FA5}">
                      <a16:colId xmlns:a16="http://schemas.microsoft.com/office/drawing/2014/main" val="72955344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2000" noProof="0" dirty="0"/>
                        <a:t>Concept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000" noProof="0" dirty="0"/>
                        <a:t>Explanation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49305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 b="1" noProof="0" dirty="0"/>
                        <a:t>Frozen Knowledge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000" noProof="0" dirty="0"/>
                        <a:t>LLMs are trained to have knowledge up to a specific date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6208363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 b="1" noProof="0" dirty="0"/>
                        <a:t>Hallucination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000" noProof="0" dirty="0"/>
                        <a:t>A situation where a generative AI model (LLM) does </a:t>
                      </a:r>
                      <a:r>
                        <a:rPr lang="en-US" sz="2000" b="1" noProof="0" dirty="0"/>
                        <a:t>not know</a:t>
                      </a:r>
                      <a:r>
                        <a:rPr lang="en-US" sz="2000" noProof="0" dirty="0"/>
                        <a:t> the correct answer and produces </a:t>
                      </a:r>
                      <a:r>
                        <a:rPr lang="en-US" sz="2000" b="1" noProof="0" dirty="0"/>
                        <a:t>incorrect, made-up, or nonsensical</a:t>
                      </a:r>
                      <a:r>
                        <a:rPr lang="en-US" sz="2000" noProof="0" dirty="0"/>
                        <a:t> information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26313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 noProof="0" dirty="0"/>
                        <a:t>Why?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000" noProof="0" dirty="0"/>
                        <a:t>LLMs cannot answer questions about information they were </a:t>
                      </a:r>
                      <a:r>
                        <a:rPr lang="en-US" sz="2000" b="1" noProof="0" dirty="0"/>
                        <a:t>not trained on</a:t>
                      </a:r>
                      <a:r>
                        <a:rPr lang="en-US" sz="2000" noProof="0" dirty="0"/>
                        <a:t> or that is </a:t>
                      </a:r>
                      <a:r>
                        <a:rPr lang="en-US" sz="2000" b="1" noProof="0" dirty="0"/>
                        <a:t>missing/incorrect</a:t>
                      </a:r>
                      <a:r>
                        <a:rPr lang="en-US" sz="2000" noProof="0" dirty="0"/>
                        <a:t> in their training data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233679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 noProof="0" dirty="0"/>
                        <a:t>Why RAG?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000" noProof="0" dirty="0"/>
                        <a:t>RAG provides </a:t>
                      </a:r>
                      <a:r>
                        <a:rPr lang="en-US" sz="2000" b="1" noProof="0" dirty="0"/>
                        <a:t>external, up-to-date, factual information</a:t>
                      </a:r>
                      <a:r>
                        <a:rPr lang="en-US" sz="2000" noProof="0" dirty="0"/>
                        <a:t> to the LLM so it can answer accurately</a:t>
                      </a:r>
                    </a:p>
                    <a:p>
                      <a:r>
                        <a:rPr lang="en-US" sz="2000" noProof="0" dirty="0"/>
                        <a:t>“RAG starts where generative AI ends”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798515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 noProof="0" dirty="0"/>
                        <a:t>RAG Parts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000" b="1" noProof="0" dirty="0"/>
                        <a:t>Retriever:</a:t>
                      </a:r>
                      <a:r>
                        <a:rPr lang="en-US" sz="2000" noProof="0" dirty="0"/>
                        <a:t> Fetches relevant documents from external sources (e.g., Pinecone, Chroma, </a:t>
                      </a:r>
                      <a:r>
                        <a:rPr lang="en-US" sz="2000" noProof="0" dirty="0" err="1"/>
                        <a:t>LlamaIndex</a:t>
                      </a:r>
                      <a:r>
                        <a:rPr lang="en-US" sz="2000" noProof="0" dirty="0"/>
                        <a:t>, </a:t>
                      </a:r>
                      <a:r>
                        <a:rPr lang="en-US" sz="2000" noProof="0" dirty="0" err="1"/>
                        <a:t>Activeloop</a:t>
                      </a:r>
                      <a:r>
                        <a:rPr lang="en-US" sz="2000" noProof="0" dirty="0"/>
                        <a:t>)</a:t>
                      </a:r>
                      <a:br>
                        <a:rPr lang="en-US" sz="2000" noProof="0" dirty="0"/>
                      </a:br>
                      <a:r>
                        <a:rPr lang="en-US" sz="2000" b="1" noProof="0" dirty="0"/>
                        <a:t>Generator:</a:t>
                      </a:r>
                      <a:r>
                        <a:rPr lang="en-US" sz="2000" noProof="0" dirty="0"/>
                        <a:t> The LLM that uses the retrieved context to generate accurate answers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9775153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3365117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15252E-D5C4-8336-AE5A-0607EB3459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Agentic RAG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7182A300-CF09-AD07-4656-201472FBD89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416383150"/>
              </p:ext>
            </p:extLst>
          </p:nvPr>
        </p:nvGraphicFramePr>
        <p:xfrm>
          <a:off x="1190080" y="1805354"/>
          <a:ext cx="9811839" cy="4385642"/>
        </p:xfrm>
        <a:graphic>
          <a:graphicData uri="http://schemas.openxmlformats.org/drawingml/2006/table">
            <a:tbl>
              <a:tblPr firstRow="1">
                <a:tableStyleId>{72833802-FEF1-4C79-8D5D-14CF1EAF98D9}</a:tableStyleId>
              </a:tblPr>
              <a:tblGrid>
                <a:gridCol w="2607123">
                  <a:extLst>
                    <a:ext uri="{9D8B030D-6E8A-4147-A177-3AD203B41FA5}">
                      <a16:colId xmlns:a16="http://schemas.microsoft.com/office/drawing/2014/main" val="1818581766"/>
                    </a:ext>
                  </a:extLst>
                </a:gridCol>
                <a:gridCol w="3162009">
                  <a:extLst>
                    <a:ext uri="{9D8B030D-6E8A-4147-A177-3AD203B41FA5}">
                      <a16:colId xmlns:a16="http://schemas.microsoft.com/office/drawing/2014/main" val="2902055256"/>
                    </a:ext>
                  </a:extLst>
                </a:gridCol>
                <a:gridCol w="4042707">
                  <a:extLst>
                    <a:ext uri="{9D8B030D-6E8A-4147-A177-3AD203B41FA5}">
                      <a16:colId xmlns:a16="http://schemas.microsoft.com/office/drawing/2014/main" val="1800696295"/>
                    </a:ext>
                  </a:extLst>
                </a:gridCol>
              </a:tblGrid>
              <a:tr h="34128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700" noProof="0" dirty="0"/>
                        <a:t>Aspect</a:t>
                      </a:r>
                    </a:p>
                  </a:txBody>
                  <a:tcPr marL="85320" marR="85320" marT="42660" marB="426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700" noProof="0" dirty="0"/>
                        <a:t>Traditional RAG</a:t>
                      </a:r>
                    </a:p>
                  </a:txBody>
                  <a:tcPr marL="85320" marR="85320" marT="42660" marB="426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700" noProof="0" dirty="0"/>
                        <a:t>Agentic RAG</a:t>
                      </a:r>
                    </a:p>
                  </a:txBody>
                  <a:tcPr marL="85320" marR="85320" marT="42660" marB="426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69886749"/>
                  </a:ext>
                </a:extLst>
              </a:tr>
              <a:tr h="59724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700" noProof="0" dirty="0"/>
                        <a:t>Core idea</a:t>
                      </a:r>
                    </a:p>
                  </a:txBody>
                  <a:tcPr marL="85320" marR="85320" marT="42660" marB="426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700" noProof="0" dirty="0"/>
                        <a:t>Retrieve then generate</a:t>
                      </a:r>
                    </a:p>
                  </a:txBody>
                  <a:tcPr marL="85320" marR="85320" marT="42660" marB="426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700" noProof="0" dirty="0"/>
                        <a:t>Agent decides how and when to retrieve</a:t>
                      </a:r>
                    </a:p>
                  </a:txBody>
                  <a:tcPr marL="85320" marR="85320" marT="42660" marB="426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2972236"/>
                  </a:ext>
                </a:extLst>
              </a:tr>
              <a:tr h="34128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700" noProof="0" dirty="0"/>
                        <a:t>Control flow</a:t>
                      </a:r>
                    </a:p>
                  </a:txBody>
                  <a:tcPr marL="85320" marR="85320" marT="42660" marB="426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700" noProof="0" dirty="0"/>
                        <a:t>Fixed pipeline</a:t>
                      </a:r>
                    </a:p>
                  </a:txBody>
                  <a:tcPr marL="85320" marR="85320" marT="42660" marB="426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700" noProof="0" dirty="0"/>
                        <a:t>Dynamic, decision-driven</a:t>
                      </a:r>
                    </a:p>
                  </a:txBody>
                  <a:tcPr marL="85320" marR="85320" marT="42660" marB="426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83011668"/>
                  </a:ext>
                </a:extLst>
              </a:tr>
              <a:tr h="34128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700" noProof="0" dirty="0"/>
                        <a:t>Retrieval steps</a:t>
                      </a:r>
                    </a:p>
                  </a:txBody>
                  <a:tcPr marL="85320" marR="85320" marT="42660" marB="426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700" noProof="0" dirty="0"/>
                        <a:t>Single retrieval</a:t>
                      </a:r>
                    </a:p>
                  </a:txBody>
                  <a:tcPr marL="85320" marR="85320" marT="42660" marB="426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700" noProof="0" dirty="0"/>
                        <a:t>Multiple, iterative retrievals</a:t>
                      </a:r>
                    </a:p>
                  </a:txBody>
                  <a:tcPr marL="85320" marR="85320" marT="42660" marB="426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35427257"/>
                  </a:ext>
                </a:extLst>
              </a:tr>
              <a:tr h="34128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700" noProof="0" dirty="0"/>
                        <a:t>Reasoning</a:t>
                      </a:r>
                    </a:p>
                  </a:txBody>
                  <a:tcPr marL="85320" marR="85320" marT="42660" marB="426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700" noProof="0" dirty="0"/>
                        <a:t>Minimal</a:t>
                      </a:r>
                    </a:p>
                  </a:txBody>
                  <a:tcPr marL="85320" marR="85320" marT="42660" marB="426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700" noProof="0" dirty="0"/>
                        <a:t>Explicit reasoning and planning</a:t>
                      </a:r>
                    </a:p>
                  </a:txBody>
                  <a:tcPr marL="85320" marR="85320" marT="42660" marB="426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00787591"/>
                  </a:ext>
                </a:extLst>
              </a:tr>
              <a:tr h="34128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700" noProof="0" dirty="0"/>
                        <a:t>Autonomy</a:t>
                      </a:r>
                    </a:p>
                  </a:txBody>
                  <a:tcPr marL="85320" marR="85320" marT="42660" marB="426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700" noProof="0" dirty="0"/>
                        <a:t>Low</a:t>
                      </a:r>
                    </a:p>
                  </a:txBody>
                  <a:tcPr marL="85320" marR="85320" marT="42660" marB="426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700" noProof="0" dirty="0"/>
                        <a:t>High</a:t>
                      </a:r>
                    </a:p>
                  </a:txBody>
                  <a:tcPr marL="85320" marR="85320" marT="42660" marB="426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40475684"/>
                  </a:ext>
                </a:extLst>
              </a:tr>
              <a:tr h="34128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700" noProof="0" dirty="0"/>
                        <a:t>Tool usage</a:t>
                      </a:r>
                    </a:p>
                  </a:txBody>
                  <a:tcPr marL="85320" marR="85320" marT="42660" marB="426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700" noProof="0" dirty="0"/>
                        <a:t>Retriever only</a:t>
                      </a:r>
                    </a:p>
                  </a:txBody>
                  <a:tcPr marL="85320" marR="85320" marT="42660" marB="426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700" noProof="0" dirty="0"/>
                        <a:t>Retriever + tools</a:t>
                      </a:r>
                    </a:p>
                  </a:txBody>
                  <a:tcPr marL="85320" marR="85320" marT="42660" marB="426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31581784"/>
                  </a:ext>
                </a:extLst>
              </a:tr>
              <a:tr h="34128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700" noProof="0" dirty="0"/>
                        <a:t>Memory</a:t>
                      </a:r>
                    </a:p>
                  </a:txBody>
                  <a:tcPr marL="85320" marR="85320" marT="42660" marB="426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700" noProof="0" dirty="0"/>
                        <a:t>Limited context</a:t>
                      </a:r>
                    </a:p>
                  </a:txBody>
                  <a:tcPr marL="85320" marR="85320" marT="42660" marB="426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700" noProof="0" dirty="0"/>
                        <a:t>Short-term and long-term memory</a:t>
                      </a:r>
                    </a:p>
                  </a:txBody>
                  <a:tcPr marL="85320" marR="85320" marT="42660" marB="426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26712032"/>
                  </a:ext>
                </a:extLst>
              </a:tr>
              <a:tr h="34128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700" noProof="0" dirty="0"/>
                        <a:t>Error handling</a:t>
                      </a:r>
                    </a:p>
                  </a:txBody>
                  <a:tcPr marL="85320" marR="85320" marT="42660" marB="426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700" noProof="0" dirty="0"/>
                        <a:t>None</a:t>
                      </a:r>
                    </a:p>
                  </a:txBody>
                  <a:tcPr marL="85320" marR="85320" marT="42660" marB="426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700" noProof="0" dirty="0"/>
                        <a:t>Reflection and self-correction</a:t>
                      </a:r>
                    </a:p>
                  </a:txBody>
                  <a:tcPr marL="85320" marR="85320" marT="42660" marB="426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5328803"/>
                  </a:ext>
                </a:extLst>
              </a:tr>
              <a:tr h="34128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700" noProof="0" dirty="0"/>
                        <a:t>Query refinement</a:t>
                      </a:r>
                    </a:p>
                  </a:txBody>
                  <a:tcPr marL="85320" marR="85320" marT="42660" marB="426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700" noProof="0" dirty="0"/>
                        <a:t>Manual</a:t>
                      </a:r>
                    </a:p>
                  </a:txBody>
                  <a:tcPr marL="85320" marR="85320" marT="42660" marB="426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700" noProof="0" dirty="0"/>
                        <a:t>Automatic</a:t>
                      </a:r>
                    </a:p>
                  </a:txBody>
                  <a:tcPr marL="85320" marR="85320" marT="42660" marB="426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71900764"/>
                  </a:ext>
                </a:extLst>
              </a:tr>
              <a:tr h="34128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700" noProof="0" dirty="0"/>
                        <a:t>Multi-source retrieval</a:t>
                      </a:r>
                    </a:p>
                  </a:txBody>
                  <a:tcPr marL="85320" marR="85320" marT="42660" marB="426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700" noProof="0" dirty="0"/>
                        <a:t>Limited</a:t>
                      </a:r>
                    </a:p>
                  </a:txBody>
                  <a:tcPr marL="85320" marR="85320" marT="42660" marB="426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700" noProof="0" dirty="0"/>
                        <a:t>Supported</a:t>
                      </a:r>
                    </a:p>
                  </a:txBody>
                  <a:tcPr marL="85320" marR="85320" marT="42660" marB="426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42967928"/>
                  </a:ext>
                </a:extLst>
              </a:tr>
              <a:tr h="34128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700" noProof="0" dirty="0"/>
                        <a:t>Example</a:t>
                      </a:r>
                    </a:p>
                  </a:txBody>
                  <a:tcPr marL="85320" marR="85320" marT="42660" marB="426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700" noProof="0" dirty="0"/>
                        <a:t>FAQ chatbot</a:t>
                      </a:r>
                    </a:p>
                  </a:txBody>
                  <a:tcPr marL="85320" marR="85320" marT="42660" marB="426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700" noProof="0" dirty="0"/>
                        <a:t>Research assistant agent</a:t>
                      </a:r>
                    </a:p>
                  </a:txBody>
                  <a:tcPr marL="85320" marR="85320" marT="42660" marB="426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2444851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5198822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07BF56-3327-106A-F93C-13F8E7DDA0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Embedding and Vector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F66AB5-39D5-4CA3-B66F-18AA51539D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b="1" noProof="0" dirty="0"/>
              <a:t>Embedding</a:t>
            </a:r>
            <a:r>
              <a:rPr lang="en-US" noProof="0" dirty="0"/>
              <a:t>: A technique to represent information (text, image, audio, video) as a list of numbers such that </a:t>
            </a:r>
            <a:r>
              <a:rPr lang="en-US" b="1" noProof="0" dirty="0"/>
              <a:t>similar items have vectors that are close to each other</a:t>
            </a:r>
            <a:r>
              <a:rPr lang="en-US" noProof="0" dirty="0"/>
              <a:t> in high-dimensional space</a:t>
            </a:r>
          </a:p>
          <a:p>
            <a:r>
              <a:rPr lang="en-US" noProof="0" dirty="0"/>
              <a:t>How? Convert information (text, image, audio, video) into a </a:t>
            </a:r>
            <a:r>
              <a:rPr lang="en-US" b="1" noProof="0" dirty="0"/>
              <a:t>vector </a:t>
            </a:r>
            <a:r>
              <a:rPr lang="en-US" noProof="0" dirty="0"/>
              <a:t>(list of numbers)</a:t>
            </a:r>
          </a:p>
          <a:p>
            <a:r>
              <a:rPr lang="en-US" noProof="0" dirty="0"/>
              <a:t>Example</a:t>
            </a:r>
          </a:p>
          <a:p>
            <a:pPr lvl="1"/>
            <a:r>
              <a:rPr lang="en-US" noProof="0" dirty="0"/>
              <a:t>Original text: “Cute dog”</a:t>
            </a:r>
          </a:p>
          <a:p>
            <a:pPr lvl="1"/>
            <a:r>
              <a:rPr lang="en-US" noProof="0" dirty="0"/>
              <a:t>Embedding: [0.02134, -0.00312, 0.01579, 0.09821, -0.04412, …]</a:t>
            </a:r>
          </a:p>
          <a:p>
            <a:r>
              <a:rPr lang="en-US" noProof="0" dirty="0"/>
              <a:t>The entire vector captures semantic meaning in a compressed way, i.e. individual numbers are not interpretable</a:t>
            </a:r>
          </a:p>
          <a:p>
            <a:r>
              <a:rPr lang="en-US" noProof="0" dirty="0"/>
              <a:t>Distances between embeddings reflect similarity</a:t>
            </a:r>
          </a:p>
          <a:p>
            <a:r>
              <a:rPr lang="en-US" noProof="0" dirty="0"/>
              <a:t>One Embedding = One Vector</a:t>
            </a:r>
          </a:p>
          <a:p>
            <a:r>
              <a:rPr lang="en-US" noProof="0" dirty="0"/>
              <a:t>How similar are two vectors? (1) Cosine Similarity, (2) Euclidean Distance</a:t>
            </a:r>
          </a:p>
        </p:txBody>
      </p:sp>
    </p:spTree>
    <p:extLst>
      <p:ext uri="{BB962C8B-B14F-4D97-AF65-F5344CB8AC3E}">
        <p14:creationId xmlns:p14="http://schemas.microsoft.com/office/powerpoint/2010/main" val="165958393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8F07F0-2657-7AB0-5FA2-169F8F8CB3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noProof="0" dirty="0"/>
              <a:t>2D Vector Embeddings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155B4D-E811-AA00-4FF7-69E597D8BB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9CE2382-571C-137D-3A7F-CF087A88A4F3}"/>
              </a:ext>
            </a:extLst>
          </p:cNvPr>
          <p:cNvSpPr txBox="1"/>
          <p:nvPr/>
        </p:nvSpPr>
        <p:spPr>
          <a:xfrm>
            <a:off x="544530" y="2239766"/>
            <a:ext cx="3863083" cy="34778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noProof="0" dirty="0">
                <a:solidFill>
                  <a:srgbClr val="0070C0"/>
                </a:solidFill>
              </a:rPr>
              <a:t>king		[4	5]</a:t>
            </a:r>
          </a:p>
          <a:p>
            <a:r>
              <a:rPr lang="en-US" sz="2000" b="1" noProof="0" dirty="0">
                <a:solidFill>
                  <a:srgbClr val="0070C0"/>
                </a:solidFill>
              </a:rPr>
              <a:t>man		[3	3.5]</a:t>
            </a:r>
          </a:p>
          <a:p>
            <a:r>
              <a:rPr lang="en-US" sz="2000" b="1" noProof="0" dirty="0">
                <a:solidFill>
                  <a:srgbClr val="0070C0"/>
                </a:solidFill>
              </a:rPr>
              <a:t>woman		[5	3]</a:t>
            </a:r>
          </a:p>
          <a:p>
            <a:endParaRPr lang="en-US" sz="2000" b="1" noProof="0" dirty="0"/>
          </a:p>
          <a:p>
            <a:r>
              <a:rPr lang="en-US" sz="2000" b="1" noProof="0" dirty="0">
                <a:solidFill>
                  <a:srgbClr val="FF0000"/>
                </a:solidFill>
              </a:rPr>
              <a:t>apple		[2.5	-2]</a:t>
            </a:r>
          </a:p>
          <a:p>
            <a:r>
              <a:rPr lang="en-US" sz="2000" b="1" noProof="0" dirty="0">
                <a:solidFill>
                  <a:srgbClr val="FF0000"/>
                </a:solidFill>
              </a:rPr>
              <a:t>banana		[2.5	-3]</a:t>
            </a:r>
          </a:p>
          <a:p>
            <a:r>
              <a:rPr lang="en-US" sz="2000" b="1" noProof="0" dirty="0">
                <a:solidFill>
                  <a:srgbClr val="FF0000"/>
                </a:solidFill>
              </a:rPr>
              <a:t>orange		[4	-2.5]</a:t>
            </a:r>
          </a:p>
          <a:p>
            <a:endParaRPr lang="en-US" sz="2000" b="1" noProof="0" dirty="0"/>
          </a:p>
          <a:p>
            <a:r>
              <a:rPr lang="en-US" sz="2000" b="1" noProof="0" dirty="0">
                <a:solidFill>
                  <a:srgbClr val="7030A0"/>
                </a:solidFill>
              </a:rPr>
              <a:t>football		[-3	4]</a:t>
            </a:r>
          </a:p>
          <a:p>
            <a:r>
              <a:rPr lang="en-US" sz="2000" b="1" noProof="0" dirty="0">
                <a:solidFill>
                  <a:srgbClr val="7030A0"/>
                </a:solidFill>
              </a:rPr>
              <a:t>golf		[-1.5	3]</a:t>
            </a:r>
          </a:p>
          <a:p>
            <a:r>
              <a:rPr lang="en-US" sz="2000" b="1" noProof="0" dirty="0">
                <a:solidFill>
                  <a:srgbClr val="7030A0"/>
                </a:solidFill>
              </a:rPr>
              <a:t>tennis		[-2	2]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91CDB5E-A22D-DD1C-FA45-837C9A6FFA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2808" y="1949031"/>
            <a:ext cx="5448731" cy="41045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984370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E4D075-07D7-F4D1-4EE1-98A4984C8E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Cosine Similarity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D1D519-B2D3-EDF5-3ECA-10D04E07AC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noProof="0" dirty="0"/>
              <a:t>Imagine two arrows starting from the same point</a:t>
            </a:r>
          </a:p>
          <a:p>
            <a:endParaRPr lang="en-US" b="1" noProof="0" dirty="0"/>
          </a:p>
          <a:p>
            <a:endParaRPr lang="en-US" b="1" noProof="0" dirty="0"/>
          </a:p>
          <a:p>
            <a:endParaRPr lang="en-US" b="1" noProof="0" dirty="0"/>
          </a:p>
          <a:p>
            <a:r>
              <a:rPr lang="en-US" b="1" noProof="0" dirty="0"/>
              <a:t>Cosine similarity</a:t>
            </a:r>
            <a:r>
              <a:rPr lang="en-US" noProof="0" dirty="0"/>
              <a:t>: Measures how aligned two vectors are, not how far apart they are</a:t>
            </a:r>
          </a:p>
          <a:p>
            <a:r>
              <a:rPr lang="en-US" noProof="0" dirty="0"/>
              <a:t>Answers questions: Do these vectors point in the same semantic direction?</a:t>
            </a:r>
          </a:p>
          <a:p>
            <a:endParaRPr lang="en-US" noProof="0" dirty="0"/>
          </a:p>
          <a:p>
            <a:endParaRPr lang="en-US" noProof="0" dirty="0"/>
          </a:p>
          <a:p>
            <a:pPr lvl="1"/>
            <a:endParaRPr lang="en-US" noProof="0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5456B22A-0F67-FB31-7A17-44EEA5BEF55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70382876"/>
              </p:ext>
            </p:extLst>
          </p:nvPr>
        </p:nvGraphicFramePr>
        <p:xfrm>
          <a:off x="538055" y="2317839"/>
          <a:ext cx="10727913" cy="1463040"/>
        </p:xfrm>
        <a:graphic>
          <a:graphicData uri="http://schemas.openxmlformats.org/drawingml/2006/table">
            <a:tbl>
              <a:tblPr firstRow="1">
                <a:tableStyleId>{FABFCF23-3B69-468F-B69F-88F6DE6A72F2}</a:tableStyleId>
              </a:tblPr>
              <a:tblGrid>
                <a:gridCol w="3195444">
                  <a:extLst>
                    <a:ext uri="{9D8B030D-6E8A-4147-A177-3AD203B41FA5}">
                      <a16:colId xmlns:a16="http://schemas.microsoft.com/office/drawing/2014/main" val="2249215426"/>
                    </a:ext>
                  </a:extLst>
                </a:gridCol>
                <a:gridCol w="2585971">
                  <a:extLst>
                    <a:ext uri="{9D8B030D-6E8A-4147-A177-3AD203B41FA5}">
                      <a16:colId xmlns:a16="http://schemas.microsoft.com/office/drawing/2014/main" val="1331609269"/>
                    </a:ext>
                  </a:extLst>
                </a:gridCol>
                <a:gridCol w="2685432">
                  <a:extLst>
                    <a:ext uri="{9D8B030D-6E8A-4147-A177-3AD203B41FA5}">
                      <a16:colId xmlns:a16="http://schemas.microsoft.com/office/drawing/2014/main" val="914545434"/>
                    </a:ext>
                  </a:extLst>
                </a:gridCol>
                <a:gridCol w="2261066">
                  <a:extLst>
                    <a:ext uri="{9D8B030D-6E8A-4147-A177-3AD203B41FA5}">
                      <a16:colId xmlns:a16="http://schemas.microsoft.com/office/drawing/2014/main" val="128138432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Vector Direction Relationship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Intuitive Meaning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Angle Between Vectors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Cosine Value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7966691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Pointing in the same direction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Very similar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0°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7436536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Pointing at right angles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Unrelated / Orthogonal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90°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233956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Pointing in opposite directions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Opposites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180°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−1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08999605"/>
                  </a:ext>
                </a:extLst>
              </a:tr>
            </a:tbl>
          </a:graphicData>
        </a:graphic>
      </p:graphicFrame>
      <p:pic>
        <p:nvPicPr>
          <p:cNvPr id="6" name="Picture 5" descr="A black text on a white background&#10;&#10;AI-generated content may be incorrect.">
            <a:extLst>
              <a:ext uri="{FF2B5EF4-FFF2-40B4-BE49-F238E27FC236}">
                <a16:creationId xmlns:a16="http://schemas.microsoft.com/office/drawing/2014/main" id="{B73260E2-022A-241C-1B6F-D3388FCEED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5637" y="493516"/>
            <a:ext cx="3858163" cy="10860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049389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A37468-FAE7-1107-C8E7-42FF5AD308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Euclidean Distance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2296A9-561D-A1AA-84BC-A9257E328D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noProof="0" dirty="0"/>
              <a:t>Think of vectors as points</a:t>
            </a:r>
          </a:p>
          <a:p>
            <a:r>
              <a:rPr lang="en-US" b="1" noProof="0" dirty="0"/>
              <a:t>Euclidean distance</a:t>
            </a:r>
            <a:r>
              <a:rPr lang="en-US" noProof="0" dirty="0"/>
              <a:t> measures</a:t>
            </a:r>
          </a:p>
          <a:p>
            <a:pPr lvl="1"/>
            <a:r>
              <a:rPr lang="en-US" noProof="0" dirty="0"/>
              <a:t>Physical distance</a:t>
            </a:r>
          </a:p>
          <a:p>
            <a:pPr lvl="1"/>
            <a:r>
              <a:rPr lang="en-US" noProof="0" dirty="0"/>
              <a:t>Geometric closeness</a:t>
            </a:r>
          </a:p>
          <a:p>
            <a:r>
              <a:rPr lang="en-US" noProof="0" dirty="0"/>
              <a:t>Works exactly like measuring distance in a map</a:t>
            </a:r>
          </a:p>
          <a:p>
            <a:r>
              <a:rPr lang="en-US" noProof="0" dirty="0"/>
              <a:t>Less distance = More similar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171BA9AE-AD52-FD2D-9031-E11EDBCB945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51308256"/>
              </p:ext>
            </p:extLst>
          </p:nvPr>
        </p:nvGraphicFramePr>
        <p:xfrm>
          <a:off x="1026664" y="4664075"/>
          <a:ext cx="10515600" cy="1828800"/>
        </p:xfrm>
        <a:graphic>
          <a:graphicData uri="http://schemas.openxmlformats.org/drawingml/2006/table">
            <a:tbl>
              <a:tblPr firstRow="1">
                <a:tableStyleId>{5A111915-BE36-4E01-A7E5-04B1672EAD32}</a:tableStyleId>
              </a:tblPr>
              <a:tblGrid>
                <a:gridCol w="3505200">
                  <a:extLst>
                    <a:ext uri="{9D8B030D-6E8A-4147-A177-3AD203B41FA5}">
                      <a16:colId xmlns:a16="http://schemas.microsoft.com/office/drawing/2014/main" val="15580886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3342303525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415212463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Feature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Euclidean Distance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Cosine Similarity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996622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Measures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Straight-line distance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Angle between vectors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9755788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Sensitive to magnitude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Yes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No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4877127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Semantic similarity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Sometimes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Best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6275321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Used in NLP search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Rarely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Common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75749"/>
                  </a:ext>
                </a:extLst>
              </a:tr>
            </a:tbl>
          </a:graphicData>
        </a:graphic>
      </p:graphicFrame>
      <p:pic>
        <p:nvPicPr>
          <p:cNvPr id="6" name="Picture 5" descr="A black square and square symbol&#10;&#10;AI-generated content may be incorrect.">
            <a:extLst>
              <a:ext uri="{FF2B5EF4-FFF2-40B4-BE49-F238E27FC236}">
                <a16:creationId xmlns:a16="http://schemas.microsoft.com/office/drawing/2014/main" id="{F84EB7CE-8694-6505-B106-65FF513527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14050" y="2139012"/>
            <a:ext cx="4105848" cy="10383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8261849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918E8C-3D4C-A514-DFA0-ECD3E8A71C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Why Cosine Similarity is Better in NLP?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D1A0D0-4A74-7C9E-D68E-A459DBE458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noProof="0" dirty="0"/>
              <a:t>In NLP, we care about </a:t>
            </a:r>
            <a:r>
              <a:rPr lang="en-US" i="1" noProof="0" dirty="0"/>
              <a:t>meaning direction</a:t>
            </a:r>
            <a:r>
              <a:rPr lang="en-US" noProof="0" dirty="0"/>
              <a:t>, not </a:t>
            </a:r>
            <a:r>
              <a:rPr lang="en-US" i="1" noProof="0" dirty="0"/>
              <a:t>sentence size</a:t>
            </a:r>
          </a:p>
          <a:p>
            <a:endParaRPr lang="en-US" noProof="0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7836F127-25F5-3C93-003B-13A9C45F83F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17301217"/>
              </p:ext>
            </p:extLst>
          </p:nvPr>
        </p:nvGraphicFramePr>
        <p:xfrm>
          <a:off x="903154" y="2306456"/>
          <a:ext cx="10385692" cy="4394200"/>
        </p:xfrm>
        <a:graphic>
          <a:graphicData uri="http://schemas.openxmlformats.org/drawingml/2006/table">
            <a:tbl>
              <a:tblPr firstRow="1" bandRow="1">
                <a:tableStyleId>{72833802-FEF1-4C79-8D5D-14CF1EAF98D9}</a:tableStyleId>
              </a:tblPr>
              <a:tblGrid>
                <a:gridCol w="2609802">
                  <a:extLst>
                    <a:ext uri="{9D8B030D-6E8A-4147-A177-3AD203B41FA5}">
                      <a16:colId xmlns:a16="http://schemas.microsoft.com/office/drawing/2014/main" val="466526587"/>
                    </a:ext>
                  </a:extLst>
                </a:gridCol>
                <a:gridCol w="7775890">
                  <a:extLst>
                    <a:ext uri="{9D8B030D-6E8A-4147-A177-3AD203B41FA5}">
                      <a16:colId xmlns:a16="http://schemas.microsoft.com/office/drawing/2014/main" val="203675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noProof="0" dirty="0"/>
                        <a:t>Step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Details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5261755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noProof="0" dirty="0"/>
                        <a:t>1) What Embedding actually is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b="0" noProof="0" dirty="0">
                          <a:solidFill>
                            <a:schemeClr val="tx1"/>
                          </a:solidFill>
                        </a:rPr>
                        <a:t>An NLP embedding vector model contains:</a:t>
                      </a:r>
                      <a:br>
                        <a:rPr lang="en-US" b="0" noProof="0" dirty="0">
                          <a:solidFill>
                            <a:schemeClr val="tx1"/>
                          </a:solidFill>
                        </a:rPr>
                      </a:br>
                      <a:r>
                        <a:rPr lang="en-US" sz="1600" b="0" noProof="0" dirty="0">
                          <a:solidFill>
                            <a:schemeClr val="tx1"/>
                          </a:solidFill>
                          <a:latin typeface="Cascadia Mono SemiBold" panose="020B0609020000020004" pitchFamily="49" charset="0"/>
                          <a:cs typeface="Cascadia Mono SemiBold" panose="020B0609020000020004" pitchFamily="49" charset="0"/>
                        </a:rPr>
                        <a:t>   Direction = Meaning</a:t>
                      </a:r>
                      <a:br>
                        <a:rPr lang="en-US" sz="1600" b="0" noProof="0" dirty="0">
                          <a:solidFill>
                            <a:schemeClr val="tx1"/>
                          </a:solidFill>
                          <a:latin typeface="Cascadia Mono SemiBold" panose="020B0609020000020004" pitchFamily="49" charset="0"/>
                          <a:cs typeface="Cascadia Mono SemiBold" panose="020B0609020000020004" pitchFamily="49" charset="0"/>
                        </a:rPr>
                      </a:br>
                      <a:r>
                        <a:rPr lang="en-US" sz="1600" b="0" noProof="0" dirty="0">
                          <a:solidFill>
                            <a:schemeClr val="tx1"/>
                          </a:solidFill>
                          <a:latin typeface="Cascadia Mono SemiBold" panose="020B0609020000020004" pitchFamily="49" charset="0"/>
                          <a:cs typeface="Cascadia Mono SemiBold" panose="020B0609020000020004" pitchFamily="49" charset="0"/>
                        </a:rPr>
                        <a:t>   Length (Magnitude) = How much information / How verbose</a:t>
                      </a:r>
                      <a:br>
                        <a:rPr lang="en-US" sz="1600" b="0" noProof="0" dirty="0">
                          <a:solidFill>
                            <a:schemeClr val="tx1"/>
                          </a:solidFill>
                          <a:latin typeface="Cascadia Mono SemiBold" panose="020B0609020000020004" pitchFamily="49" charset="0"/>
                          <a:cs typeface="Cascadia Mono SemiBold" panose="020B0609020000020004" pitchFamily="49" charset="0"/>
                        </a:rPr>
                      </a:br>
                      <a:r>
                        <a:rPr lang="en-US" b="0" noProof="0" dirty="0">
                          <a:solidFill>
                            <a:schemeClr val="tx1"/>
                          </a:solidFill>
                        </a:rPr>
                        <a:t>Think of vectors like arrows:</a:t>
                      </a:r>
                      <a:br>
                        <a:rPr lang="en-US" b="0" noProof="0" dirty="0">
                          <a:solidFill>
                            <a:schemeClr val="tx1"/>
                          </a:solidFill>
                        </a:rPr>
                      </a:br>
                      <a:r>
                        <a:rPr lang="en-US" b="0" noProof="0" dirty="0">
                          <a:solidFill>
                            <a:schemeClr val="tx1"/>
                          </a:solidFill>
                        </a:rPr>
                        <a:t>   </a:t>
                      </a:r>
                      <a:r>
                        <a:rPr lang="en-US" sz="1600" b="0" kern="1200" noProof="0" dirty="0">
                          <a:solidFill>
                            <a:schemeClr val="tx1"/>
                          </a:solidFill>
                          <a:latin typeface="Cascadia Mono SemiBold" panose="020B0609020000020004" pitchFamily="49" charset="0"/>
                          <a:ea typeface="+mn-ea"/>
                          <a:cs typeface="Cascadia Mono SemiBold" panose="020B0609020000020004" pitchFamily="49" charset="0"/>
                        </a:rPr>
                        <a:t>Same direction = Same meaning</a:t>
                      </a:r>
                      <a:br>
                        <a:rPr lang="en-US" sz="1600" b="0" kern="1200" noProof="0" dirty="0">
                          <a:solidFill>
                            <a:schemeClr val="tx1"/>
                          </a:solidFill>
                          <a:latin typeface="Cascadia Mono SemiBold" panose="020B0609020000020004" pitchFamily="49" charset="0"/>
                          <a:ea typeface="+mn-ea"/>
                          <a:cs typeface="Cascadia Mono SemiBold" panose="020B0609020000020004" pitchFamily="49" charset="0"/>
                        </a:rPr>
                      </a:br>
                      <a:r>
                        <a:rPr lang="en-US" sz="1600" b="0" kern="1200" noProof="0" dirty="0">
                          <a:solidFill>
                            <a:schemeClr val="tx1"/>
                          </a:solidFill>
                          <a:latin typeface="Cascadia Mono SemiBold" panose="020B0609020000020004" pitchFamily="49" charset="0"/>
                          <a:ea typeface="+mn-ea"/>
                          <a:cs typeface="Cascadia Mono SemiBold" panose="020B0609020000020004" pitchFamily="49" charset="0"/>
                        </a:rPr>
                        <a:t>   Longer arrow = More words / emphasis / details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87491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noProof="0" dirty="0"/>
                        <a:t>2) What Euclidean Distance actually measures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Euclidean Distance answers: </a:t>
                      </a:r>
                      <a:r>
                        <a:rPr lang="en-US" sz="1600" b="0" kern="1200" noProof="0" dirty="0">
                          <a:solidFill>
                            <a:schemeClr val="tx1"/>
                          </a:solidFill>
                          <a:latin typeface="Cascadia Mono SemiBold" panose="020B0609020000020004" pitchFamily="49" charset="0"/>
                          <a:ea typeface="+mn-ea"/>
                          <a:cs typeface="Cascadia Mono SemiBold" panose="020B0609020000020004" pitchFamily="49" charset="0"/>
                        </a:rPr>
                        <a:t>How far apart are the arrow tips</a:t>
                      </a:r>
                      <a:br>
                        <a:rPr lang="en-US" noProof="0" dirty="0"/>
                      </a:br>
                      <a:r>
                        <a:rPr lang="en-US" noProof="0" dirty="0"/>
                        <a:t>Summary: It cares about length and absolute path, not direction</a:t>
                      </a:r>
                      <a:br>
                        <a:rPr lang="en-US" noProof="0" dirty="0"/>
                      </a:br>
                      <a:r>
                        <a:rPr lang="en-US" noProof="0" dirty="0"/>
                        <a:t>Problem for NLP: </a:t>
                      </a:r>
                      <a:r>
                        <a:rPr lang="en-US" b="1" noProof="0" dirty="0">
                          <a:solidFill>
                            <a:srgbClr val="FF0000"/>
                          </a:solidFill>
                        </a:rPr>
                        <a:t>Two sentences with the same meaning but different lengths end up far apart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3516293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noProof="0" dirty="0"/>
                        <a:t>3) NLP Example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Sentence A (Short): Apply for Loan</a:t>
                      </a:r>
                      <a:br>
                        <a:rPr lang="en-US" noProof="0" dirty="0"/>
                      </a:br>
                      <a:r>
                        <a:rPr lang="en-US" noProof="0" dirty="0"/>
                        <a:t>Sentence B (Long): I would like to apply for a personal loan as soon as possible</a:t>
                      </a:r>
                    </a:p>
                    <a:p>
                      <a:r>
                        <a:rPr lang="en-US" noProof="0" dirty="0"/>
                        <a:t>Result: Euclidean Distance between them is large, so the model thinks they are “different”, which is a mistake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7440447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71401611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3047FF-D1B0-FE1C-7F29-B911F94FFB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Euclidean Distance vs Cosine Distance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CDD188-0887-7B3F-6392-7AFCD93B06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noProof="0" dirty="0"/>
              <a:t>Basic difference: Magnitude versus Direction</a:t>
            </a:r>
          </a:p>
          <a:p>
            <a:endParaRPr lang="en-US" noProof="0" dirty="0"/>
          </a:p>
          <a:p>
            <a:endParaRPr lang="en-US" noProof="0" dirty="0"/>
          </a:p>
          <a:p>
            <a:endParaRPr lang="en-US" noProof="0" dirty="0"/>
          </a:p>
          <a:p>
            <a:endParaRPr lang="en-US" noProof="0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11648915-B83B-E259-0874-3C802D65D9A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32010814"/>
              </p:ext>
            </p:extLst>
          </p:nvPr>
        </p:nvGraphicFramePr>
        <p:xfrm>
          <a:off x="1403010" y="2412611"/>
          <a:ext cx="8212732" cy="1097280"/>
        </p:xfrm>
        <a:graphic>
          <a:graphicData uri="http://schemas.openxmlformats.org/drawingml/2006/table">
            <a:tbl>
              <a:tblPr firstRow="1">
                <a:tableStyleId>{7E9639D4-E3E2-4D34-9284-5A2195B3D0D7}</a:tableStyleId>
              </a:tblPr>
              <a:tblGrid>
                <a:gridCol w="4106366">
                  <a:extLst>
                    <a:ext uri="{9D8B030D-6E8A-4147-A177-3AD203B41FA5}">
                      <a16:colId xmlns:a16="http://schemas.microsoft.com/office/drawing/2014/main" val="4103067052"/>
                    </a:ext>
                  </a:extLst>
                </a:gridCol>
                <a:gridCol w="4106366">
                  <a:extLst>
                    <a:ext uri="{9D8B030D-6E8A-4147-A177-3AD203B41FA5}">
                      <a16:colId xmlns:a16="http://schemas.microsoft.com/office/drawing/2014/main" val="2465389326"/>
                    </a:ext>
                  </a:extLst>
                </a:gridCol>
              </a:tblGrid>
              <a:tr h="21601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Metric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What it measures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21229449"/>
                  </a:ext>
                </a:extLst>
              </a:tr>
              <a:tr h="21601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noProof="0" dirty="0"/>
                        <a:t>Euclidean distance</a:t>
                      </a:r>
                      <a:endParaRPr lang="en-US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How far apart two vectors are in space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0742558"/>
                  </a:ext>
                </a:extLst>
              </a:tr>
              <a:tr h="21601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noProof="0" dirty="0"/>
                        <a:t>Cosine distance</a:t>
                      </a:r>
                      <a:endParaRPr lang="en-US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How different their directions (angles) are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39011846"/>
                  </a:ext>
                </a:extLst>
              </a:tr>
            </a:tbl>
          </a:graphicData>
        </a:graphic>
      </p:graphicFrame>
      <p:pic>
        <p:nvPicPr>
          <p:cNvPr id="6" name="Picture 5" descr="A black number with a white background&#10;&#10;AI-generated content may be incorrect.">
            <a:extLst>
              <a:ext uri="{FF2B5EF4-FFF2-40B4-BE49-F238E27FC236}">
                <a16:creationId xmlns:a16="http://schemas.microsoft.com/office/drawing/2014/main" id="{D2F560C9-F208-E910-3ACC-C2A397F0436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74750" y="3644828"/>
            <a:ext cx="3724795" cy="714475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BA6B1E16-D28D-D6E8-0BF5-462E29C46C13}"/>
              </a:ext>
            </a:extLst>
          </p:cNvPr>
          <p:cNvSpPr txBox="1"/>
          <p:nvPr/>
        </p:nvSpPr>
        <p:spPr>
          <a:xfrm>
            <a:off x="279206" y="4641802"/>
            <a:ext cx="3336513" cy="1384995"/>
          </a:xfrm>
          <a:prstGeom prst="rect">
            <a:avLst/>
          </a:prstGeom>
          <a:solidFill>
            <a:schemeClr val="accent4"/>
          </a:solidFill>
        </p:spPr>
        <p:txBody>
          <a:bodyPr wrap="square" rtlCol="0">
            <a:spAutoFit/>
          </a:bodyPr>
          <a:lstStyle/>
          <a:p>
            <a:r>
              <a:rPr lang="en-US" sz="1400" noProof="0" dirty="0"/>
              <a:t>Same direction, different length</a:t>
            </a:r>
          </a:p>
          <a:p>
            <a:r>
              <a:rPr lang="en-US" sz="1400" noProof="0" dirty="0"/>
              <a:t>A = (10, 10)</a:t>
            </a:r>
          </a:p>
          <a:p>
            <a:r>
              <a:rPr lang="en-US" sz="1400" noProof="0" dirty="0"/>
              <a:t>B = (1, 1)</a:t>
            </a:r>
          </a:p>
          <a:p>
            <a:endParaRPr lang="en-US" sz="1400" noProof="0" dirty="0"/>
          </a:p>
          <a:p>
            <a:r>
              <a:rPr lang="en-US" sz="1400" noProof="0" dirty="0"/>
              <a:t>Cosine similarity ≈ 1.0  (same meaning)</a:t>
            </a:r>
          </a:p>
          <a:p>
            <a:r>
              <a:rPr lang="en-US" sz="1400" noProof="0" dirty="0"/>
              <a:t>Euclidean distance = large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9E05B45-B608-FC33-2BF4-2C2BFD9B4203}"/>
              </a:ext>
            </a:extLst>
          </p:cNvPr>
          <p:cNvSpPr txBox="1"/>
          <p:nvPr/>
        </p:nvSpPr>
        <p:spPr>
          <a:xfrm>
            <a:off x="3677377" y="4641801"/>
            <a:ext cx="3393518" cy="1384995"/>
          </a:xfrm>
          <a:prstGeom prst="rect">
            <a:avLst/>
          </a:prstGeom>
          <a:solidFill>
            <a:schemeClr val="accent4"/>
          </a:solidFill>
        </p:spPr>
        <p:txBody>
          <a:bodyPr wrap="square" rtlCol="0">
            <a:spAutoFit/>
          </a:bodyPr>
          <a:lstStyle/>
          <a:p>
            <a:r>
              <a:rPr lang="en-US" sz="1400" noProof="0" dirty="0"/>
              <a:t>Different direction, same length</a:t>
            </a:r>
          </a:p>
          <a:p>
            <a:r>
              <a:rPr lang="en-US" sz="1400" noProof="0" dirty="0"/>
              <a:t>A = (10, 0)</a:t>
            </a:r>
          </a:p>
          <a:p>
            <a:r>
              <a:rPr lang="en-US" sz="1400" noProof="0" dirty="0"/>
              <a:t>B = (0, 10)</a:t>
            </a:r>
          </a:p>
          <a:p>
            <a:endParaRPr lang="en-US" sz="1400" noProof="0" dirty="0"/>
          </a:p>
          <a:p>
            <a:r>
              <a:rPr lang="en-US" sz="1400" noProof="0" dirty="0"/>
              <a:t>Cosine similarity = 0</a:t>
            </a:r>
          </a:p>
          <a:p>
            <a:r>
              <a:rPr lang="en-US" sz="1400" noProof="0" dirty="0"/>
              <a:t>Euclidean distance = same as earlier case</a:t>
            </a: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2FEAE3D5-D5B6-8A2B-26DB-41A88DBEF6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02298812"/>
              </p:ext>
            </p:extLst>
          </p:nvPr>
        </p:nvGraphicFramePr>
        <p:xfrm>
          <a:off x="7169053" y="4117340"/>
          <a:ext cx="4893378" cy="2194560"/>
        </p:xfrm>
        <a:graphic>
          <a:graphicData uri="http://schemas.openxmlformats.org/drawingml/2006/table">
            <a:tbl>
              <a:tblPr firstRow="1">
                <a:tableStyleId>{10A1B5D5-9B99-4C35-A422-299274C87663}</a:tableStyleId>
              </a:tblPr>
              <a:tblGrid>
                <a:gridCol w="2446689">
                  <a:extLst>
                    <a:ext uri="{9D8B030D-6E8A-4147-A177-3AD203B41FA5}">
                      <a16:colId xmlns:a16="http://schemas.microsoft.com/office/drawing/2014/main" val="502193156"/>
                    </a:ext>
                  </a:extLst>
                </a:gridCol>
                <a:gridCol w="2446689">
                  <a:extLst>
                    <a:ext uri="{9D8B030D-6E8A-4147-A177-3AD203B41FA5}">
                      <a16:colId xmlns:a16="http://schemas.microsoft.com/office/drawing/2014/main" val="3404407461"/>
                    </a:ext>
                  </a:extLst>
                </a:gridCol>
              </a:tblGrid>
              <a:tr h="14709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Vector DB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Default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10633673"/>
                  </a:ext>
                </a:extLst>
              </a:tr>
              <a:tr h="14709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Chroma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Cosine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30275349"/>
                  </a:ext>
                </a:extLst>
              </a:tr>
              <a:tr h="14709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FAISS (NLP)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Cosine / Inner Product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65129089"/>
                  </a:ext>
                </a:extLst>
              </a:tr>
              <a:tr h="14709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Pinecone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Cosine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40009197"/>
                  </a:ext>
                </a:extLst>
              </a:tr>
              <a:tr h="14709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 err="1"/>
                        <a:t>Weaviate</a:t>
                      </a:r>
                      <a:endParaRPr lang="en-US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Cosine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63532979"/>
                  </a:ext>
                </a:extLst>
              </a:tr>
              <a:tr h="14709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OpenAI embeddings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Cosine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8347131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56298635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452577-4FCA-2B5B-75A2-6EF20E371C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Code Examples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999F20-261E-01AA-8587-1DC2FBB9CA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noProof="0" dirty="0"/>
              <a:t>Basics of Cosine Similarity and Euclidean Distance -&gt; C:\code\agenticai_realpage\module_2\2_langchain_basic_rag_cosine_euclidean_1.py</a:t>
            </a:r>
          </a:p>
          <a:p>
            <a:endParaRPr lang="en-US" noProof="0" dirty="0"/>
          </a:p>
          <a:p>
            <a:r>
              <a:rPr lang="en-US" noProof="0" dirty="0"/>
              <a:t>Why Cosine Similarity is better -&gt;</a:t>
            </a:r>
          </a:p>
          <a:p>
            <a:r>
              <a:rPr lang="en-US" noProof="0" dirty="0"/>
              <a:t>C:\code\agenticai_realpage\module_2\2_langchain_basic_rag_cosine_euclidean_1.py</a:t>
            </a:r>
          </a:p>
        </p:txBody>
      </p:sp>
    </p:spTree>
    <p:extLst>
      <p:ext uri="{BB962C8B-B14F-4D97-AF65-F5344CB8AC3E}">
        <p14:creationId xmlns:p14="http://schemas.microsoft.com/office/powerpoint/2010/main" val="1419042571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162483-733E-1D77-FD01-F2B28F00CE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Embedding Models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63D0D3CE-A3AB-EA5C-D6B1-120BEDDF10E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698541769"/>
              </p:ext>
            </p:extLst>
          </p:nvPr>
        </p:nvGraphicFramePr>
        <p:xfrm>
          <a:off x="407757" y="1539439"/>
          <a:ext cx="5688243" cy="3921414"/>
        </p:xfrm>
        <a:graphic>
          <a:graphicData uri="http://schemas.openxmlformats.org/drawingml/2006/table">
            <a:tbl>
              <a:tblPr/>
              <a:tblGrid>
                <a:gridCol w="1632774">
                  <a:extLst>
                    <a:ext uri="{9D8B030D-6E8A-4147-A177-3AD203B41FA5}">
                      <a16:colId xmlns:a16="http://schemas.microsoft.com/office/drawing/2014/main" val="1390387603"/>
                    </a:ext>
                  </a:extLst>
                </a:gridCol>
                <a:gridCol w="2159388">
                  <a:extLst>
                    <a:ext uri="{9D8B030D-6E8A-4147-A177-3AD203B41FA5}">
                      <a16:colId xmlns:a16="http://schemas.microsoft.com/office/drawing/2014/main" val="3076517147"/>
                    </a:ext>
                  </a:extLst>
                </a:gridCol>
                <a:gridCol w="1896081">
                  <a:extLst>
                    <a:ext uri="{9D8B030D-6E8A-4147-A177-3AD203B41FA5}">
                      <a16:colId xmlns:a16="http://schemas.microsoft.com/office/drawing/2014/main" val="3630350851"/>
                    </a:ext>
                  </a:extLst>
                </a:gridCol>
              </a:tblGrid>
              <a:tr h="29008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Concept</a:t>
                      </a:r>
                      <a:endParaRPr lang="en-US" sz="1600" noProof="0" dirty="0"/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Meaning</a:t>
                      </a:r>
                      <a:endParaRPr lang="en-US" sz="1600" noProof="0" dirty="0"/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Example</a:t>
                      </a:r>
                      <a:endParaRPr lang="en-US" sz="1600" noProof="0" dirty="0"/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82193271"/>
                  </a:ext>
                </a:extLst>
              </a:tr>
              <a:tr h="50765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Embedding Model</a:t>
                      </a:r>
                      <a:endParaRPr lang="en-US" sz="1600" noProof="0" dirty="0"/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An AI model that creates these vectors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OpenAI “text-embedding-3-small”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18789770"/>
                  </a:ext>
                </a:extLst>
              </a:tr>
              <a:tr h="50765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Dimension</a:t>
                      </a:r>
                      <a:endParaRPr lang="en-US" sz="1600" noProof="0" dirty="0"/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How many numbers are in each vector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1536 numbers, 3072 numbers, etc.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65709254"/>
                  </a:ext>
                </a:extLst>
              </a:tr>
              <a:tr h="50765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Similarity</a:t>
                      </a:r>
                      <a:endParaRPr lang="en-US" sz="1600" noProof="0" dirty="0"/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How close two vectors are in meaning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“cat” vector ≈ “kitten” vector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6252888"/>
                  </a:ext>
                </a:extLst>
              </a:tr>
              <a:tr h="50765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Distance</a:t>
                      </a:r>
                      <a:endParaRPr lang="en-US" sz="1600" noProof="0" dirty="0"/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Mathematical gap between two vectors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Small distance → similar meaning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83816041"/>
                  </a:ext>
                </a:extLst>
              </a:tr>
              <a:tr h="50765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Vector Space</a:t>
                      </a:r>
                      <a:endParaRPr lang="en-US" sz="1600" noProof="0" dirty="0"/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The “map” where all vectors live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Similar ideas group together in space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0842271"/>
                  </a:ext>
                </a:extLst>
              </a:tr>
              <a:tr h="50765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Use Cases</a:t>
                      </a:r>
                      <a:endParaRPr lang="en-US" sz="1600" noProof="0" dirty="0"/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What embeddings are used for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Search, recommendations, clustering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58430239"/>
                  </a:ext>
                </a:extLst>
              </a:tr>
            </a:tbl>
          </a:graphicData>
        </a:graphic>
      </p:graphicFrame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18C2D044-9963-04C0-EA99-518A4DE603D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5439637"/>
              </p:ext>
            </p:extLst>
          </p:nvPr>
        </p:nvGraphicFramePr>
        <p:xfrm>
          <a:off x="6261776" y="47824"/>
          <a:ext cx="5688244" cy="6691284"/>
        </p:xfrm>
        <a:graphic>
          <a:graphicData uri="http://schemas.openxmlformats.org/drawingml/2006/table">
            <a:tbl>
              <a:tblPr/>
              <a:tblGrid>
                <a:gridCol w="1422061">
                  <a:extLst>
                    <a:ext uri="{9D8B030D-6E8A-4147-A177-3AD203B41FA5}">
                      <a16:colId xmlns:a16="http://schemas.microsoft.com/office/drawing/2014/main" val="3970765475"/>
                    </a:ext>
                  </a:extLst>
                </a:gridCol>
                <a:gridCol w="1422061">
                  <a:extLst>
                    <a:ext uri="{9D8B030D-6E8A-4147-A177-3AD203B41FA5}">
                      <a16:colId xmlns:a16="http://schemas.microsoft.com/office/drawing/2014/main" val="3422802436"/>
                    </a:ext>
                  </a:extLst>
                </a:gridCol>
                <a:gridCol w="1833172">
                  <a:extLst>
                    <a:ext uri="{9D8B030D-6E8A-4147-A177-3AD203B41FA5}">
                      <a16:colId xmlns:a16="http://schemas.microsoft.com/office/drawing/2014/main" val="2601774014"/>
                    </a:ext>
                  </a:extLst>
                </a:gridCol>
                <a:gridCol w="1010950">
                  <a:extLst>
                    <a:ext uri="{9D8B030D-6E8A-4147-A177-3AD203B41FA5}">
                      <a16:colId xmlns:a16="http://schemas.microsoft.com/office/drawing/2014/main" val="3731772983"/>
                    </a:ext>
                  </a:extLst>
                </a:gridCol>
              </a:tblGrid>
              <a:tr h="32062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noProof="0" dirty="0"/>
                        <a:t>Model Name</a:t>
                      </a:r>
                      <a:endParaRPr lang="en-US" sz="1400" noProof="0" dirty="0"/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noProof="0" dirty="0"/>
                        <a:t>Provider</a:t>
                      </a:r>
                      <a:endParaRPr lang="en-US" sz="1400" noProof="0" dirty="0"/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noProof="0" dirty="0"/>
                        <a:t>Key Features (Simple Words)</a:t>
                      </a:r>
                      <a:endParaRPr lang="en-US" sz="1400" noProof="0" dirty="0"/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noProof="0" dirty="0"/>
                        <a:t>Typical Dimensions</a:t>
                      </a:r>
                      <a:endParaRPr lang="en-US" sz="1400" noProof="0" dirty="0"/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2083655"/>
                  </a:ext>
                </a:extLst>
              </a:tr>
              <a:tr h="32062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noProof="0" dirty="0"/>
                        <a:t>text-embedding-3-small</a:t>
                      </a:r>
                      <a:endParaRPr lang="en-US" sz="1400" noProof="0" dirty="0"/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noProof="0" dirty="0"/>
                        <a:t>OpenAI</a:t>
                      </a:r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noProof="0" dirty="0"/>
                        <a:t>Fast, cheap, good for search and clustering</a:t>
                      </a:r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noProof="0" dirty="0"/>
                        <a:t>1536</a:t>
                      </a:r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1587396"/>
                  </a:ext>
                </a:extLst>
              </a:tr>
              <a:tr h="32062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noProof="0" dirty="0"/>
                        <a:t>text-embedding-3-large</a:t>
                      </a:r>
                      <a:endParaRPr lang="en-US" sz="1400" noProof="0" dirty="0"/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noProof="0" dirty="0"/>
                        <a:t>OpenAI</a:t>
                      </a:r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noProof="0" dirty="0"/>
                        <a:t>Highest accuracy, best semantic understanding</a:t>
                      </a:r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noProof="0" dirty="0"/>
                        <a:t>3072</a:t>
                      </a:r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21389438"/>
                  </a:ext>
                </a:extLst>
              </a:tr>
              <a:tr h="32062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noProof="0" dirty="0"/>
                        <a:t>all-MiniLM-L6-v2</a:t>
                      </a:r>
                      <a:endParaRPr lang="en-US" sz="1400" noProof="0" dirty="0"/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noProof="0" dirty="0"/>
                        <a:t>Hugging Face / Sentence Transformers</a:t>
                      </a:r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noProof="0" dirty="0"/>
                        <a:t>Very fast, small, good for local use; widely used</a:t>
                      </a:r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noProof="0" dirty="0"/>
                        <a:t>384</a:t>
                      </a:r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53305189"/>
                  </a:ext>
                </a:extLst>
              </a:tr>
              <a:tr h="45803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noProof="0" dirty="0"/>
                        <a:t>all-mpnet-base-v2</a:t>
                      </a:r>
                      <a:endParaRPr lang="en-US" sz="1400" noProof="0" dirty="0"/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noProof="0" dirty="0"/>
                        <a:t>Hugging Face / Sentence Transformers</a:t>
                      </a:r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noProof="0" dirty="0"/>
                        <a:t>High quality semantic search; great balance of speed + accuracy</a:t>
                      </a:r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noProof="0" dirty="0"/>
                        <a:t>768</a:t>
                      </a:r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78376375"/>
                  </a:ext>
                </a:extLst>
              </a:tr>
              <a:tr h="32062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noProof="0" dirty="0" err="1"/>
                        <a:t>bge</a:t>
                      </a:r>
                      <a:r>
                        <a:rPr lang="en-US" sz="1400" b="1" noProof="0" dirty="0"/>
                        <a:t>-small-</a:t>
                      </a:r>
                      <a:r>
                        <a:rPr lang="en-US" sz="1400" b="1" noProof="0" dirty="0" err="1"/>
                        <a:t>en</a:t>
                      </a:r>
                      <a:endParaRPr lang="en-US" sz="1400" noProof="0" dirty="0"/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noProof="0" dirty="0"/>
                        <a:t>Hugging Face (BAAI)</a:t>
                      </a:r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noProof="0" dirty="0"/>
                        <a:t>Very fast, optimized for retrieval tasks</a:t>
                      </a:r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noProof="0" dirty="0"/>
                        <a:t>384</a:t>
                      </a:r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6708340"/>
                  </a:ext>
                </a:extLst>
              </a:tr>
              <a:tr h="45803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noProof="0" dirty="0" err="1"/>
                        <a:t>bge</a:t>
                      </a:r>
                      <a:r>
                        <a:rPr lang="en-US" sz="1400" b="1" noProof="0" dirty="0"/>
                        <a:t>-base-</a:t>
                      </a:r>
                      <a:r>
                        <a:rPr lang="en-US" sz="1400" b="1" noProof="0" dirty="0" err="1"/>
                        <a:t>en</a:t>
                      </a:r>
                      <a:endParaRPr lang="en-US" sz="1400" noProof="0" dirty="0"/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noProof="0" dirty="0"/>
                        <a:t>Hugging Face (BAAI)</a:t>
                      </a:r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noProof="0" dirty="0"/>
                        <a:t>Strong semantic retrieval; good general-purpose model</a:t>
                      </a:r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noProof="0" dirty="0"/>
                        <a:t>768</a:t>
                      </a:r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9032516"/>
                  </a:ext>
                </a:extLst>
              </a:tr>
              <a:tr h="32062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noProof="0" dirty="0" err="1"/>
                        <a:t>bge</a:t>
                      </a:r>
                      <a:r>
                        <a:rPr lang="en-US" sz="1400" b="1" noProof="0" dirty="0"/>
                        <a:t>-large-</a:t>
                      </a:r>
                      <a:r>
                        <a:rPr lang="en-US" sz="1400" b="1" noProof="0" dirty="0" err="1"/>
                        <a:t>en</a:t>
                      </a:r>
                      <a:endParaRPr lang="en-US" sz="1400" noProof="0" dirty="0"/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noProof="0" dirty="0"/>
                        <a:t>Hugging Face (BAAI)</a:t>
                      </a:r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noProof="0" dirty="0"/>
                        <a:t>Very high accuracy; heavier to run</a:t>
                      </a:r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noProof="0" dirty="0"/>
                        <a:t>1024</a:t>
                      </a:r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09268837"/>
                  </a:ext>
                </a:extLst>
              </a:tr>
              <a:tr h="45803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noProof="0" dirty="0"/>
                        <a:t>e5-small-v2</a:t>
                      </a:r>
                      <a:endParaRPr lang="en-US" sz="1400" noProof="0" dirty="0"/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noProof="0" dirty="0"/>
                        <a:t>Hugging Face (Microsoft)</a:t>
                      </a:r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noProof="0" dirty="0"/>
                        <a:t>Lightweight; very good for embeddings in search tasks</a:t>
                      </a:r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noProof="0" dirty="0"/>
                        <a:t>384</a:t>
                      </a:r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65214522"/>
                  </a:ext>
                </a:extLst>
              </a:tr>
              <a:tr h="45803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noProof="0" dirty="0"/>
                        <a:t>e5-base-v2</a:t>
                      </a:r>
                      <a:endParaRPr lang="en-US" sz="1400" noProof="0" dirty="0"/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noProof="0" dirty="0"/>
                        <a:t>Hugging Face (Microsoft)</a:t>
                      </a:r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noProof="0" dirty="0"/>
                        <a:t>Strong performance for retrieval, question–answering</a:t>
                      </a:r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noProof="0" dirty="0"/>
                        <a:t>768</a:t>
                      </a:r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22097801"/>
                  </a:ext>
                </a:extLst>
              </a:tr>
              <a:tr h="59544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noProof="0" dirty="0"/>
                        <a:t>instructor-xl</a:t>
                      </a:r>
                      <a:endParaRPr lang="en-US" sz="1400" noProof="0" dirty="0"/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noProof="0" dirty="0"/>
                        <a:t>Hugging Face (HKU + Meta)</a:t>
                      </a:r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noProof="0" dirty="0"/>
                        <a:t>Instruction-based embeddings (you can tell the model what to focus on)</a:t>
                      </a:r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noProof="0" dirty="0"/>
                        <a:t>768 / 1024+</a:t>
                      </a:r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2978129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4DFDA8E1-DEC4-4B78-1556-4330375A08FD}"/>
              </a:ext>
            </a:extLst>
          </p:cNvPr>
          <p:cNvSpPr txBox="1"/>
          <p:nvPr/>
        </p:nvSpPr>
        <p:spPr>
          <a:xfrm>
            <a:off x="241980" y="5786547"/>
            <a:ext cx="14309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noProof="0" dirty="0"/>
              <a:t>“Cute dog”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0E7011E-0468-5094-4768-19F6D917D739}"/>
              </a:ext>
            </a:extLst>
          </p:cNvPr>
          <p:cNvSpPr txBox="1"/>
          <p:nvPr/>
        </p:nvSpPr>
        <p:spPr>
          <a:xfrm>
            <a:off x="2792061" y="5786547"/>
            <a:ext cx="33039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noProof="0" dirty="0"/>
              <a:t>[0.02134, -0.00312, 0.01579, …]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F572117C-476B-3794-2671-D21C5CB7AB64}"/>
              </a:ext>
            </a:extLst>
          </p:cNvPr>
          <p:cNvCxnSpPr>
            <a:cxnSpLocks/>
          </p:cNvCxnSpPr>
          <p:nvPr/>
        </p:nvCxnSpPr>
        <p:spPr>
          <a:xfrm>
            <a:off x="1575190" y="5789729"/>
            <a:ext cx="1119149" cy="0"/>
          </a:xfrm>
          <a:prstGeom prst="straightConnector1">
            <a:avLst/>
          </a:prstGeom>
          <a:ln w="25400">
            <a:solidFill>
              <a:srgbClr val="00206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074A045D-A6C8-0837-FABA-450DE0BFDB12}"/>
              </a:ext>
            </a:extLst>
          </p:cNvPr>
          <p:cNvSpPr txBox="1"/>
          <p:nvPr/>
        </p:nvSpPr>
        <p:spPr>
          <a:xfrm>
            <a:off x="1517020" y="5915205"/>
            <a:ext cx="1275041" cy="646331"/>
          </a:xfrm>
          <a:prstGeom prst="rect">
            <a:avLst/>
          </a:prstGeom>
          <a:solidFill>
            <a:srgbClr val="00B050">
              <a:alpha val="30000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noProof="0" dirty="0"/>
              <a:t>Embedding model</a:t>
            </a:r>
          </a:p>
        </p:txBody>
      </p:sp>
    </p:spTree>
    <p:extLst>
      <p:ext uri="{BB962C8B-B14F-4D97-AF65-F5344CB8AC3E}">
        <p14:creationId xmlns:p14="http://schemas.microsoft.com/office/powerpoint/2010/main" val="719596863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D7311E-19A9-9157-848A-D5C52B4BFD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Vector Databases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316A4EAD-DA98-4957-F0AA-1F14258A3F0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133219574"/>
              </p:ext>
            </p:extLst>
          </p:nvPr>
        </p:nvGraphicFramePr>
        <p:xfrm>
          <a:off x="642174" y="1430932"/>
          <a:ext cx="10396622" cy="4746033"/>
        </p:xfrm>
        <a:graphic>
          <a:graphicData uri="http://schemas.openxmlformats.org/drawingml/2006/table">
            <a:tbl>
              <a:tblPr/>
              <a:tblGrid>
                <a:gridCol w="1422938">
                  <a:extLst>
                    <a:ext uri="{9D8B030D-6E8A-4147-A177-3AD203B41FA5}">
                      <a16:colId xmlns:a16="http://schemas.microsoft.com/office/drawing/2014/main" val="3124604475"/>
                    </a:ext>
                  </a:extLst>
                </a:gridCol>
                <a:gridCol w="2243421">
                  <a:extLst>
                    <a:ext uri="{9D8B030D-6E8A-4147-A177-3AD203B41FA5}">
                      <a16:colId xmlns:a16="http://schemas.microsoft.com/office/drawing/2014/main" val="2651605982"/>
                    </a:ext>
                  </a:extLst>
                </a:gridCol>
                <a:gridCol w="2243421">
                  <a:extLst>
                    <a:ext uri="{9D8B030D-6E8A-4147-A177-3AD203B41FA5}">
                      <a16:colId xmlns:a16="http://schemas.microsoft.com/office/drawing/2014/main" val="1738029044"/>
                    </a:ext>
                  </a:extLst>
                </a:gridCol>
                <a:gridCol w="2243421">
                  <a:extLst>
                    <a:ext uri="{9D8B030D-6E8A-4147-A177-3AD203B41FA5}">
                      <a16:colId xmlns:a16="http://schemas.microsoft.com/office/drawing/2014/main" val="2480930775"/>
                    </a:ext>
                  </a:extLst>
                </a:gridCol>
                <a:gridCol w="2243421">
                  <a:extLst>
                    <a:ext uri="{9D8B030D-6E8A-4147-A177-3AD203B41FA5}">
                      <a16:colId xmlns:a16="http://schemas.microsoft.com/office/drawing/2014/main" val="4219440020"/>
                    </a:ext>
                  </a:extLst>
                </a:gridCol>
              </a:tblGrid>
              <a:tr h="29206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 b="1" noProof="0" dirty="0"/>
                        <a:t>Vector DB</a:t>
                      </a:r>
                    </a:p>
                  </a:txBody>
                  <a:tcPr marL="66944" marR="66944" marT="33472" marB="3347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 b="1" noProof="0" dirty="0"/>
                        <a:t>Type</a:t>
                      </a:r>
                    </a:p>
                  </a:txBody>
                  <a:tcPr marL="66944" marR="66944" marT="33472" marB="3347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 b="1" noProof="0" dirty="0"/>
                        <a:t>Best For</a:t>
                      </a:r>
                    </a:p>
                  </a:txBody>
                  <a:tcPr marL="66944" marR="66944" marT="33472" marB="3347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 b="1" noProof="0" dirty="0"/>
                        <a:t>Pros</a:t>
                      </a:r>
                    </a:p>
                  </a:txBody>
                  <a:tcPr marL="66944" marR="66944" marT="33472" marB="3347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 b="1" noProof="0" dirty="0"/>
                        <a:t>Cons</a:t>
                      </a:r>
                    </a:p>
                  </a:txBody>
                  <a:tcPr marL="66944" marR="66944" marT="33472" marB="3347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77154765"/>
                  </a:ext>
                </a:extLst>
              </a:tr>
              <a:tr h="73015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 b="1" noProof="0" dirty="0" err="1"/>
                        <a:t>ChromaDB</a:t>
                      </a:r>
                      <a:endParaRPr lang="en-US" sz="1300" noProof="0" dirty="0"/>
                    </a:p>
                  </a:txBody>
                  <a:tcPr marL="66944" marR="66944" marT="33472" marB="3347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 noProof="0" dirty="0"/>
                        <a:t>Local / Embedded</a:t>
                      </a:r>
                    </a:p>
                  </a:txBody>
                  <a:tcPr marL="66944" marR="66944" marT="33472" marB="3347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 noProof="0" dirty="0"/>
                        <a:t>Small–medium apps, notebooks, prototyping</a:t>
                      </a:r>
                    </a:p>
                  </a:txBody>
                  <a:tcPr marL="66944" marR="66944" marT="33472" marB="3347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 noProof="0" dirty="0"/>
                        <a:t>Easy to use, local persistence, Python-friendly</a:t>
                      </a:r>
                    </a:p>
                  </a:txBody>
                  <a:tcPr marL="66944" marR="66944" marT="33472" marB="3347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 noProof="0" dirty="0"/>
                        <a:t>Not ideal for very large scale</a:t>
                      </a:r>
                    </a:p>
                  </a:txBody>
                  <a:tcPr marL="66944" marR="66944" marT="33472" marB="3347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63076748"/>
                  </a:ext>
                </a:extLst>
              </a:tr>
              <a:tr h="51111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 b="1" noProof="0" dirty="0"/>
                        <a:t>FAISS</a:t>
                      </a:r>
                      <a:endParaRPr lang="en-US" sz="1300" noProof="0" dirty="0"/>
                    </a:p>
                  </a:txBody>
                  <a:tcPr marL="66944" marR="66944" marT="33472" marB="3347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 noProof="0" dirty="0"/>
                        <a:t>Library (not a DB)</a:t>
                      </a:r>
                    </a:p>
                  </a:txBody>
                  <a:tcPr marL="66944" marR="66944" marT="33472" marB="3347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 noProof="0" dirty="0"/>
                        <a:t>Fast similarity search inside apps</a:t>
                      </a:r>
                    </a:p>
                  </a:txBody>
                  <a:tcPr marL="66944" marR="66944" marT="33472" marB="3347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 noProof="0" dirty="0"/>
                        <a:t>Very fast, offline, highly optimized</a:t>
                      </a:r>
                    </a:p>
                  </a:txBody>
                  <a:tcPr marL="66944" marR="66944" marT="33472" marB="3347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 noProof="0" dirty="0"/>
                        <a:t>No metadata store, no server mode</a:t>
                      </a:r>
                    </a:p>
                  </a:txBody>
                  <a:tcPr marL="66944" marR="66944" marT="33472" marB="3347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50261837"/>
                  </a:ext>
                </a:extLst>
              </a:tr>
              <a:tr h="73015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 b="1" noProof="0" dirty="0"/>
                        <a:t>Pinecone</a:t>
                      </a:r>
                      <a:endParaRPr lang="en-US" sz="1300" noProof="0" dirty="0"/>
                    </a:p>
                  </a:txBody>
                  <a:tcPr marL="66944" marR="66944" marT="33472" marB="3347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 noProof="0" dirty="0"/>
                        <a:t>Fully-Managed Cloud</a:t>
                      </a:r>
                    </a:p>
                  </a:txBody>
                  <a:tcPr marL="66944" marR="66944" marT="33472" marB="3347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 noProof="0" dirty="0"/>
                        <a:t>Production-grade large-scale search</a:t>
                      </a:r>
                    </a:p>
                  </a:txBody>
                  <a:tcPr marL="66944" marR="66944" marT="33472" marB="3347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 noProof="0" dirty="0"/>
                        <a:t>Scalable, high availability, no infra needed</a:t>
                      </a:r>
                    </a:p>
                  </a:txBody>
                  <a:tcPr marL="66944" marR="66944" marT="33472" marB="3347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 noProof="0" dirty="0"/>
                        <a:t>Paid, cloud-only</a:t>
                      </a:r>
                    </a:p>
                  </a:txBody>
                  <a:tcPr marL="66944" marR="66944" marT="33472" marB="3347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7046315"/>
                  </a:ext>
                </a:extLst>
              </a:tr>
              <a:tr h="73015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 b="1" noProof="0" dirty="0" err="1"/>
                        <a:t>Weaviate</a:t>
                      </a:r>
                      <a:endParaRPr lang="en-US" sz="1300" noProof="0" dirty="0"/>
                    </a:p>
                  </a:txBody>
                  <a:tcPr marL="66944" marR="66944" marT="33472" marB="3347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 noProof="0" dirty="0"/>
                        <a:t>Open-source + Cloud</a:t>
                      </a:r>
                    </a:p>
                  </a:txBody>
                  <a:tcPr marL="66944" marR="66944" marT="33472" marB="3347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 noProof="0" dirty="0"/>
                        <a:t>Semantic search with metadata</a:t>
                      </a:r>
                    </a:p>
                  </a:txBody>
                  <a:tcPr marL="66944" marR="66944" marT="33472" marB="3347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 noProof="0" dirty="0"/>
                        <a:t>Hybrid search, schema, </a:t>
                      </a:r>
                      <a:r>
                        <a:rPr lang="en-US" sz="1300" noProof="0" dirty="0" err="1"/>
                        <a:t>GraphQL</a:t>
                      </a:r>
                      <a:r>
                        <a:rPr lang="en-US" sz="1300" noProof="0" dirty="0"/>
                        <a:t> API</a:t>
                      </a:r>
                    </a:p>
                  </a:txBody>
                  <a:tcPr marL="66944" marR="66944" marT="33472" marB="3347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 noProof="0" dirty="0"/>
                        <a:t>More complex setup</a:t>
                      </a:r>
                    </a:p>
                  </a:txBody>
                  <a:tcPr marL="66944" marR="66944" marT="33472" marB="3347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24453382"/>
                  </a:ext>
                </a:extLst>
              </a:tr>
              <a:tr h="73015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 b="1" noProof="0" dirty="0"/>
                        <a:t>Milvus</a:t>
                      </a:r>
                      <a:endParaRPr lang="en-US" sz="1300" noProof="0" dirty="0"/>
                    </a:p>
                  </a:txBody>
                  <a:tcPr marL="66944" marR="66944" marT="33472" marB="3347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 noProof="0" dirty="0"/>
                        <a:t>Open-source + Cloud</a:t>
                      </a:r>
                    </a:p>
                  </a:txBody>
                  <a:tcPr marL="66944" marR="66944" marT="33472" marB="3347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 noProof="0" dirty="0"/>
                        <a:t>Heavy workloads, millions of vectors</a:t>
                      </a:r>
                    </a:p>
                  </a:txBody>
                  <a:tcPr marL="66944" marR="66944" marT="33472" marB="3347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 noProof="0" dirty="0"/>
                        <a:t>Highly scalable, rich index options</a:t>
                      </a:r>
                    </a:p>
                  </a:txBody>
                  <a:tcPr marL="66944" marR="66944" marT="33472" marB="3347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 noProof="0" dirty="0"/>
                        <a:t>Requires infrastructure management</a:t>
                      </a:r>
                    </a:p>
                  </a:txBody>
                  <a:tcPr marL="66944" marR="66944" marT="33472" marB="3347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77461763"/>
                  </a:ext>
                </a:extLst>
              </a:tr>
              <a:tr h="51111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 b="1" noProof="0" dirty="0" err="1"/>
                        <a:t>Qdrant</a:t>
                      </a:r>
                      <a:endParaRPr lang="en-US" sz="1300" noProof="0" dirty="0"/>
                    </a:p>
                  </a:txBody>
                  <a:tcPr marL="66944" marR="66944" marT="33472" marB="3347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 noProof="0" dirty="0"/>
                        <a:t>Open-source + Cloud</a:t>
                      </a:r>
                    </a:p>
                  </a:txBody>
                  <a:tcPr marL="66944" marR="66944" marT="33472" marB="3347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 noProof="0" dirty="0"/>
                        <a:t>Production apps with filters</a:t>
                      </a:r>
                    </a:p>
                  </a:txBody>
                  <a:tcPr marL="66944" marR="66944" marT="33472" marB="3347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 noProof="0" dirty="0"/>
                        <a:t>Fast, good filtering, simple API</a:t>
                      </a:r>
                    </a:p>
                  </a:txBody>
                  <a:tcPr marL="66944" marR="66944" marT="33472" marB="3347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 noProof="0" dirty="0"/>
                        <a:t>Slightly heavier setup locally</a:t>
                      </a:r>
                    </a:p>
                  </a:txBody>
                  <a:tcPr marL="66944" marR="66944" marT="33472" marB="3347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06043487"/>
                  </a:ext>
                </a:extLst>
              </a:tr>
              <a:tr h="51111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 b="1" noProof="0" dirty="0"/>
                        <a:t>Redis Vector Store</a:t>
                      </a:r>
                      <a:endParaRPr lang="en-US" sz="1300" noProof="0" dirty="0"/>
                    </a:p>
                  </a:txBody>
                  <a:tcPr marL="66944" marR="66944" marT="33472" marB="3347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 noProof="0" dirty="0"/>
                        <a:t>Add-on to Redis</a:t>
                      </a:r>
                    </a:p>
                  </a:txBody>
                  <a:tcPr marL="66944" marR="66944" marT="33472" marB="3347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 noProof="0" dirty="0"/>
                        <a:t>Apps already using Redis</a:t>
                      </a:r>
                    </a:p>
                  </a:txBody>
                  <a:tcPr marL="66944" marR="66944" marT="33472" marB="3347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 noProof="0" dirty="0"/>
                        <a:t>Fast, real-time similarity</a:t>
                      </a:r>
                    </a:p>
                  </a:txBody>
                  <a:tcPr marL="66944" marR="66944" marT="33472" marB="3347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 noProof="0" dirty="0"/>
                        <a:t>Requires Redis, not specialized</a:t>
                      </a:r>
                    </a:p>
                  </a:txBody>
                  <a:tcPr marL="66944" marR="66944" marT="33472" marB="3347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563788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01624872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FE0FB4-4DD7-5479-A5D7-8C0DE98220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2400" noProof="0" dirty="0"/>
              <a:t>Vector Database (Code: C:\code\agenticai_realpage\module_2\2_langchain_vector_db_chroma.py</a:t>
            </a:r>
            <a:br>
              <a:rPr lang="en-US" sz="2400" noProof="0" dirty="0"/>
            </a:br>
            <a:r>
              <a:rPr lang="en-US" sz="2400" noProof="0" dirty="0"/>
              <a:t>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0A7920-A756-1681-0F14-76CA8370E4E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4" name="Flowchart: Multidocument 3">
            <a:extLst>
              <a:ext uri="{FF2B5EF4-FFF2-40B4-BE49-F238E27FC236}">
                <a16:creationId xmlns:a16="http://schemas.microsoft.com/office/drawing/2014/main" id="{3B418C08-F121-9F58-A1F8-592E5AC26F1A}"/>
              </a:ext>
            </a:extLst>
          </p:cNvPr>
          <p:cNvSpPr/>
          <p:nvPr/>
        </p:nvSpPr>
        <p:spPr>
          <a:xfrm>
            <a:off x="1027417" y="4001294"/>
            <a:ext cx="636996" cy="580556"/>
          </a:xfrm>
          <a:prstGeom prst="flowChartMultidocument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6" name="Rectangle: Folded Corner 5">
            <a:extLst>
              <a:ext uri="{FF2B5EF4-FFF2-40B4-BE49-F238E27FC236}">
                <a16:creationId xmlns:a16="http://schemas.microsoft.com/office/drawing/2014/main" id="{C79C24E9-BA9C-F7A1-FCDD-BAA9A2987A47}"/>
              </a:ext>
            </a:extLst>
          </p:cNvPr>
          <p:cNvSpPr/>
          <p:nvPr/>
        </p:nvSpPr>
        <p:spPr>
          <a:xfrm>
            <a:off x="2301413" y="2433602"/>
            <a:ext cx="636996" cy="580556"/>
          </a:xfrm>
          <a:prstGeom prst="foldedCorner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7" name="Rectangle: Folded Corner 6">
            <a:extLst>
              <a:ext uri="{FF2B5EF4-FFF2-40B4-BE49-F238E27FC236}">
                <a16:creationId xmlns:a16="http://schemas.microsoft.com/office/drawing/2014/main" id="{E7C07F5A-4F6B-267E-70D5-47FB2196583A}"/>
              </a:ext>
            </a:extLst>
          </p:cNvPr>
          <p:cNvSpPr/>
          <p:nvPr/>
        </p:nvSpPr>
        <p:spPr>
          <a:xfrm>
            <a:off x="2301413" y="3161577"/>
            <a:ext cx="636996" cy="580556"/>
          </a:xfrm>
          <a:prstGeom prst="foldedCorner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8" name="Rectangle: Folded Corner 7">
            <a:extLst>
              <a:ext uri="{FF2B5EF4-FFF2-40B4-BE49-F238E27FC236}">
                <a16:creationId xmlns:a16="http://schemas.microsoft.com/office/drawing/2014/main" id="{A9D6E1BD-9CBC-7E55-2034-F8939DD76196}"/>
              </a:ext>
            </a:extLst>
          </p:cNvPr>
          <p:cNvSpPr/>
          <p:nvPr/>
        </p:nvSpPr>
        <p:spPr>
          <a:xfrm>
            <a:off x="2301412" y="4877139"/>
            <a:ext cx="636996" cy="580556"/>
          </a:xfrm>
          <a:prstGeom prst="foldedCorner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DBA8520-7AE5-2A3E-509B-EFDCC409C38F}"/>
              </a:ext>
            </a:extLst>
          </p:cNvPr>
          <p:cNvSpPr txBox="1"/>
          <p:nvPr/>
        </p:nvSpPr>
        <p:spPr>
          <a:xfrm>
            <a:off x="2301412" y="4001294"/>
            <a:ext cx="6369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noProof="0" dirty="0"/>
              <a:t>. . .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CB9F155F-74D3-80E9-827B-D9CA431857B3}"/>
              </a:ext>
            </a:extLst>
          </p:cNvPr>
          <p:cNvCxnSpPr>
            <a:stCxn id="4" idx="0"/>
          </p:cNvCxnSpPr>
          <p:nvPr/>
        </p:nvCxnSpPr>
        <p:spPr>
          <a:xfrm flipV="1">
            <a:off x="1389738" y="2671281"/>
            <a:ext cx="28096" cy="1330013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9A6112F3-77FC-6184-C4F8-5E4F18AA1694}"/>
              </a:ext>
            </a:extLst>
          </p:cNvPr>
          <p:cNvCxnSpPr>
            <a:cxnSpLocks/>
          </p:cNvCxnSpPr>
          <p:nvPr/>
        </p:nvCxnSpPr>
        <p:spPr>
          <a:xfrm>
            <a:off x="1417834" y="2671281"/>
            <a:ext cx="883573" cy="0"/>
          </a:xfrm>
          <a:prstGeom prst="straightConnector1">
            <a:avLst/>
          </a:prstGeom>
          <a:ln w="254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E8C1945D-B672-70B7-0066-29C3D22F97E7}"/>
              </a:ext>
            </a:extLst>
          </p:cNvPr>
          <p:cNvCxnSpPr>
            <a:cxnSpLocks/>
            <a:endCxn id="7" idx="1"/>
          </p:cNvCxnSpPr>
          <p:nvPr/>
        </p:nvCxnSpPr>
        <p:spPr>
          <a:xfrm flipV="1">
            <a:off x="1403786" y="3451855"/>
            <a:ext cx="897627" cy="9837"/>
          </a:xfrm>
          <a:prstGeom prst="straightConnector1">
            <a:avLst/>
          </a:prstGeom>
          <a:ln w="254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19489D27-8F73-BF7D-4DB7-3BACDC273910}"/>
              </a:ext>
            </a:extLst>
          </p:cNvPr>
          <p:cNvCxnSpPr>
            <a:cxnSpLocks/>
          </p:cNvCxnSpPr>
          <p:nvPr/>
        </p:nvCxnSpPr>
        <p:spPr>
          <a:xfrm flipH="1" flipV="1">
            <a:off x="1405848" y="4502410"/>
            <a:ext cx="11986" cy="679562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8CEB39A4-04DD-D1D5-C854-0D082D83A17B}"/>
              </a:ext>
            </a:extLst>
          </p:cNvPr>
          <p:cNvCxnSpPr>
            <a:cxnSpLocks/>
            <a:endCxn id="8" idx="1"/>
          </p:cNvCxnSpPr>
          <p:nvPr/>
        </p:nvCxnSpPr>
        <p:spPr>
          <a:xfrm flipV="1">
            <a:off x="1417834" y="5167417"/>
            <a:ext cx="883578" cy="14555"/>
          </a:xfrm>
          <a:prstGeom prst="straightConnector1">
            <a:avLst/>
          </a:prstGeom>
          <a:ln w="254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87E5DA5A-7213-9D50-86AE-0909F1652DEA}"/>
              </a:ext>
            </a:extLst>
          </p:cNvPr>
          <p:cNvSpPr txBox="1"/>
          <p:nvPr/>
        </p:nvSpPr>
        <p:spPr>
          <a:xfrm>
            <a:off x="3836029" y="2496253"/>
            <a:ext cx="1273998" cy="369332"/>
          </a:xfrm>
          <a:prstGeom prst="rect">
            <a:avLst/>
          </a:prstGeom>
          <a:solidFill>
            <a:schemeClr val="accent6">
              <a:lumMod val="5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noProof="0" dirty="0">
                <a:solidFill>
                  <a:schemeClr val="bg1"/>
                </a:solidFill>
              </a:rPr>
              <a:t>Embedding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C30BA33-1535-0812-1BD9-8DB2795D4EF4}"/>
              </a:ext>
            </a:extLst>
          </p:cNvPr>
          <p:cNvSpPr txBox="1"/>
          <p:nvPr/>
        </p:nvSpPr>
        <p:spPr>
          <a:xfrm>
            <a:off x="3836029" y="3276163"/>
            <a:ext cx="1273998" cy="369332"/>
          </a:xfrm>
          <a:prstGeom prst="rect">
            <a:avLst/>
          </a:prstGeom>
          <a:solidFill>
            <a:schemeClr val="accent6">
              <a:lumMod val="5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noProof="0" dirty="0">
                <a:solidFill>
                  <a:schemeClr val="bg1"/>
                </a:solidFill>
              </a:rPr>
              <a:t>Embedding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27347B3-DD2A-A350-1611-C26E437415D4}"/>
              </a:ext>
            </a:extLst>
          </p:cNvPr>
          <p:cNvSpPr txBox="1"/>
          <p:nvPr/>
        </p:nvSpPr>
        <p:spPr>
          <a:xfrm>
            <a:off x="3830038" y="5014580"/>
            <a:ext cx="1273998" cy="369332"/>
          </a:xfrm>
          <a:prstGeom prst="rect">
            <a:avLst/>
          </a:prstGeom>
          <a:solidFill>
            <a:schemeClr val="accent6">
              <a:lumMod val="5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noProof="0" dirty="0">
                <a:solidFill>
                  <a:schemeClr val="bg1"/>
                </a:solidFill>
              </a:rPr>
              <a:t>Embedding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4C4DC618-76D2-A560-AC2A-681150577B95}"/>
                  </a:ext>
                </a:extLst>
              </p:cNvPr>
              <p:cNvSpPr txBox="1"/>
              <p:nvPr/>
            </p:nvSpPr>
            <p:spPr>
              <a:xfrm>
                <a:off x="6305766" y="2503889"/>
                <a:ext cx="3411021" cy="369332"/>
              </a:xfrm>
              <a:prstGeom prst="rect">
                <a:avLst/>
              </a:prstGeom>
              <a:solidFill>
                <a:schemeClr val="bg2"/>
              </a:solidFill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US" b="1" i="1" noProof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1" i="1" noProof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1" i="1" noProof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𝟎</m:t>
                          </m:r>
                          <m:r>
                            <a:rPr lang="en-US" b="1" i="1" noProof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en-US" b="1" i="1" noProof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𝟎𝟓</m:t>
                          </m:r>
                          <m:r>
                            <a:rPr lang="en-US" b="1" i="1" noProof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 −</m:t>
                          </m:r>
                          <m:r>
                            <a:rPr lang="en-US" b="1" i="1" noProof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𝟎</m:t>
                          </m:r>
                          <m:r>
                            <a:rPr lang="en-US" b="1" i="1" noProof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en-US" b="1" i="1" noProof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𝟎𝟗𝟓𝟓</m:t>
                          </m:r>
                          <m:r>
                            <a:rPr lang="en-US" b="1" i="1" noProof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 …, −</m:t>
                          </m:r>
                          <m:r>
                            <a:rPr lang="en-US" b="1" i="1" noProof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𝟎</m:t>
                          </m:r>
                          <m:r>
                            <a:rPr lang="en-US" b="1" i="1" noProof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en-US" b="1" i="1" noProof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𝟎𝟕𝟐𝟐</m:t>
                          </m:r>
                        </m:e>
                      </m:d>
                    </m:oMath>
                  </m:oMathPara>
                </a14:m>
                <a:endParaRPr lang="en-US" b="1" noProof="0" dirty="0"/>
              </a:p>
            </p:txBody>
          </p:sp>
        </mc:Choice>
        <mc:Fallback xmlns="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4C4DC618-76D2-A560-AC2A-681150577B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05766" y="2503889"/>
                <a:ext cx="3411021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E68E90A1-4D7D-4C50-C73A-9FF31B36E6B5}"/>
              </a:ext>
            </a:extLst>
          </p:cNvPr>
          <p:cNvCxnSpPr>
            <a:cxnSpLocks/>
          </p:cNvCxnSpPr>
          <p:nvPr/>
        </p:nvCxnSpPr>
        <p:spPr>
          <a:xfrm>
            <a:off x="2942437" y="2688555"/>
            <a:ext cx="883573" cy="0"/>
          </a:xfrm>
          <a:prstGeom prst="straightConnector1">
            <a:avLst/>
          </a:prstGeom>
          <a:ln w="254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8375BCA0-AC62-1FAC-F42E-35850E3ABC54}"/>
              </a:ext>
            </a:extLst>
          </p:cNvPr>
          <p:cNvCxnSpPr>
            <a:cxnSpLocks/>
          </p:cNvCxnSpPr>
          <p:nvPr/>
        </p:nvCxnSpPr>
        <p:spPr>
          <a:xfrm flipV="1">
            <a:off x="2928389" y="3469129"/>
            <a:ext cx="897627" cy="9837"/>
          </a:xfrm>
          <a:prstGeom prst="straightConnector1">
            <a:avLst/>
          </a:prstGeom>
          <a:ln w="254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7A6FE930-7BC8-CDC6-9056-098CEE2E1BCF}"/>
              </a:ext>
            </a:extLst>
          </p:cNvPr>
          <p:cNvCxnSpPr>
            <a:cxnSpLocks/>
          </p:cNvCxnSpPr>
          <p:nvPr/>
        </p:nvCxnSpPr>
        <p:spPr>
          <a:xfrm flipV="1">
            <a:off x="2942437" y="5184691"/>
            <a:ext cx="883578" cy="14555"/>
          </a:xfrm>
          <a:prstGeom prst="straightConnector1">
            <a:avLst/>
          </a:prstGeom>
          <a:ln w="254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TextBox 50">
            <a:extLst>
              <a:ext uri="{FF2B5EF4-FFF2-40B4-BE49-F238E27FC236}">
                <a16:creationId xmlns:a16="http://schemas.microsoft.com/office/drawing/2014/main" id="{9E510452-DC81-9BBD-AB5F-75E33E437200}"/>
              </a:ext>
            </a:extLst>
          </p:cNvPr>
          <p:cNvSpPr txBox="1"/>
          <p:nvPr/>
        </p:nvSpPr>
        <p:spPr>
          <a:xfrm>
            <a:off x="4148539" y="4001294"/>
            <a:ext cx="6369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noProof="0" dirty="0"/>
              <a:t>. . .</a:t>
            </a:r>
          </a:p>
        </p:txBody>
      </p: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54E32F19-6E9B-63A2-E3F1-69E4AC44ACBE}"/>
              </a:ext>
            </a:extLst>
          </p:cNvPr>
          <p:cNvCxnSpPr>
            <a:cxnSpLocks/>
          </p:cNvCxnSpPr>
          <p:nvPr/>
        </p:nvCxnSpPr>
        <p:spPr>
          <a:xfrm>
            <a:off x="5080751" y="2666362"/>
            <a:ext cx="883573" cy="0"/>
          </a:xfrm>
          <a:prstGeom prst="straightConnector1">
            <a:avLst/>
          </a:prstGeom>
          <a:ln w="254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93707BB8-56F3-A545-7785-83A75350C589}"/>
              </a:ext>
            </a:extLst>
          </p:cNvPr>
          <p:cNvCxnSpPr>
            <a:cxnSpLocks/>
          </p:cNvCxnSpPr>
          <p:nvPr/>
        </p:nvCxnSpPr>
        <p:spPr>
          <a:xfrm flipV="1">
            <a:off x="5066703" y="3446936"/>
            <a:ext cx="897627" cy="9837"/>
          </a:xfrm>
          <a:prstGeom prst="straightConnector1">
            <a:avLst/>
          </a:prstGeom>
          <a:ln w="254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7E83F29F-8F73-3308-4138-A6DCD404D58B}"/>
              </a:ext>
            </a:extLst>
          </p:cNvPr>
          <p:cNvCxnSpPr>
            <a:cxnSpLocks/>
          </p:cNvCxnSpPr>
          <p:nvPr/>
        </p:nvCxnSpPr>
        <p:spPr>
          <a:xfrm flipV="1">
            <a:off x="5080751" y="5162498"/>
            <a:ext cx="883578" cy="14555"/>
          </a:xfrm>
          <a:prstGeom prst="straightConnector1">
            <a:avLst/>
          </a:prstGeom>
          <a:ln w="254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Rectangle: Folded Corner 54">
            <a:extLst>
              <a:ext uri="{FF2B5EF4-FFF2-40B4-BE49-F238E27FC236}">
                <a16:creationId xmlns:a16="http://schemas.microsoft.com/office/drawing/2014/main" id="{433FF827-51B7-5C56-7749-B9E403D3F605}"/>
              </a:ext>
            </a:extLst>
          </p:cNvPr>
          <p:cNvSpPr/>
          <p:nvPr/>
        </p:nvSpPr>
        <p:spPr>
          <a:xfrm>
            <a:off x="9898297" y="2376084"/>
            <a:ext cx="636996" cy="580556"/>
          </a:xfrm>
          <a:prstGeom prst="foldedCorner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3BD10D71-2E74-CFBA-48A8-2AF5459DAE8A}"/>
                  </a:ext>
                </a:extLst>
              </p:cNvPr>
              <p:cNvSpPr txBox="1"/>
              <p:nvPr/>
            </p:nvSpPr>
            <p:spPr>
              <a:xfrm>
                <a:off x="6330596" y="3219382"/>
                <a:ext cx="3411021" cy="369332"/>
              </a:xfrm>
              <a:prstGeom prst="rect">
                <a:avLst/>
              </a:prstGeom>
              <a:solidFill>
                <a:schemeClr val="bg2"/>
              </a:solidFill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US" b="1" i="1" noProof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1" i="1" noProof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1" i="1" noProof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𝟎</m:t>
                          </m:r>
                          <m:r>
                            <a:rPr lang="en-US" b="1" i="1" noProof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en-US" b="1" i="1" noProof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𝟎𝟔𝟖</m:t>
                          </m:r>
                          <m:r>
                            <a:rPr lang="en-US" b="1" i="1" noProof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 −</m:t>
                          </m:r>
                          <m:r>
                            <a:rPr lang="en-US" b="1" i="1" noProof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𝟎</m:t>
                          </m:r>
                          <m:r>
                            <a:rPr lang="en-US" b="1" i="1" noProof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en-US" b="1" i="1" noProof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𝟎𝟐𝟓𝟓</m:t>
                          </m:r>
                          <m:r>
                            <a:rPr lang="en-US" b="1" i="1" noProof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 …, −</m:t>
                          </m:r>
                          <m:r>
                            <a:rPr lang="en-US" b="1" i="1" noProof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𝟎</m:t>
                          </m:r>
                          <m:r>
                            <a:rPr lang="en-US" b="1" i="1" noProof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en-US" b="1" i="1" noProof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𝟏𝟐𝟐𝟐</m:t>
                          </m:r>
                        </m:e>
                      </m:d>
                    </m:oMath>
                  </m:oMathPara>
                </a14:m>
                <a:endParaRPr lang="en-US" b="1" noProof="0" dirty="0"/>
              </a:p>
            </p:txBody>
          </p:sp>
        </mc:Choice>
        <mc:Fallback xmlns="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3BD10D71-2E74-CFBA-48A8-2AF5459DAE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30596" y="3219382"/>
                <a:ext cx="3411021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7" name="Rectangle: Folded Corner 56">
            <a:extLst>
              <a:ext uri="{FF2B5EF4-FFF2-40B4-BE49-F238E27FC236}">
                <a16:creationId xmlns:a16="http://schemas.microsoft.com/office/drawing/2014/main" id="{D912CDB0-3FBD-4408-4518-1FC7BE7AC452}"/>
              </a:ext>
            </a:extLst>
          </p:cNvPr>
          <p:cNvSpPr/>
          <p:nvPr/>
        </p:nvSpPr>
        <p:spPr>
          <a:xfrm>
            <a:off x="9923127" y="3091577"/>
            <a:ext cx="636996" cy="580556"/>
          </a:xfrm>
          <a:prstGeom prst="foldedCorner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D81DB551-3A36-7FA9-8FA1-66C3CD3171CB}"/>
                  </a:ext>
                </a:extLst>
              </p:cNvPr>
              <p:cNvSpPr txBox="1"/>
              <p:nvPr/>
            </p:nvSpPr>
            <p:spPr>
              <a:xfrm>
                <a:off x="6330596" y="4955280"/>
                <a:ext cx="3411021" cy="369332"/>
              </a:xfrm>
              <a:prstGeom prst="rect">
                <a:avLst/>
              </a:prstGeom>
              <a:solidFill>
                <a:schemeClr val="bg2"/>
              </a:solidFill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US" b="1" i="1" noProof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1" i="1" noProof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1" i="1" noProof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𝟎</m:t>
                          </m:r>
                          <m:r>
                            <a:rPr lang="en-US" b="1" i="1" noProof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en-US" b="1" i="1" noProof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𝟎𝟐𝟑</m:t>
                          </m:r>
                          <m:r>
                            <a:rPr lang="en-US" b="1" i="1" noProof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 −</m:t>
                          </m:r>
                          <m:r>
                            <a:rPr lang="en-US" b="1" i="1" noProof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𝟎</m:t>
                          </m:r>
                          <m:r>
                            <a:rPr lang="en-US" b="1" i="1" noProof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en-US" b="1" i="1" noProof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𝟎𝟒𝟏𝟐</m:t>
                          </m:r>
                          <m:r>
                            <a:rPr lang="en-US" b="1" i="1" noProof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 …, −</m:t>
                          </m:r>
                          <m:r>
                            <a:rPr lang="en-US" b="1" i="1" noProof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𝟎</m:t>
                          </m:r>
                          <m:r>
                            <a:rPr lang="en-US" b="1" i="1" noProof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en-US" b="1" i="1" noProof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𝟎𝟎𝟎𝟑</m:t>
                          </m:r>
                        </m:e>
                      </m:d>
                    </m:oMath>
                  </m:oMathPara>
                </a14:m>
                <a:endParaRPr lang="en-US" b="1" noProof="0" dirty="0"/>
              </a:p>
            </p:txBody>
          </p:sp>
        </mc:Choice>
        <mc:Fallback xmlns="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D81DB551-3A36-7FA9-8FA1-66C3CD3171C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30596" y="4955280"/>
                <a:ext cx="3411021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9" name="Rectangle: Folded Corner 58">
            <a:extLst>
              <a:ext uri="{FF2B5EF4-FFF2-40B4-BE49-F238E27FC236}">
                <a16:creationId xmlns:a16="http://schemas.microsoft.com/office/drawing/2014/main" id="{CA47AEF4-B5EE-5925-3648-02EA9D7798AC}"/>
              </a:ext>
            </a:extLst>
          </p:cNvPr>
          <p:cNvSpPr/>
          <p:nvPr/>
        </p:nvSpPr>
        <p:spPr>
          <a:xfrm>
            <a:off x="9923127" y="4827475"/>
            <a:ext cx="636996" cy="580556"/>
          </a:xfrm>
          <a:prstGeom prst="foldedCorner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3F1FED25-BCD7-14E8-A60A-A66FA88BE969}"/>
              </a:ext>
            </a:extLst>
          </p:cNvPr>
          <p:cNvSpPr txBox="1"/>
          <p:nvPr/>
        </p:nvSpPr>
        <p:spPr>
          <a:xfrm>
            <a:off x="1897724" y="5626705"/>
            <a:ext cx="14794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noProof="0" dirty="0"/>
              <a:t>Text splits</a:t>
            </a:r>
          </a:p>
        </p:txBody>
      </p:sp>
      <p:sp>
        <p:nvSpPr>
          <p:cNvPr id="61" name="Flowchart: Magnetic Disk 60">
            <a:extLst>
              <a:ext uri="{FF2B5EF4-FFF2-40B4-BE49-F238E27FC236}">
                <a16:creationId xmlns:a16="http://schemas.microsoft.com/office/drawing/2014/main" id="{3B751DFA-286A-268F-534D-81485B6AC8E5}"/>
              </a:ext>
            </a:extLst>
          </p:cNvPr>
          <p:cNvSpPr/>
          <p:nvPr/>
        </p:nvSpPr>
        <p:spPr>
          <a:xfrm>
            <a:off x="6187609" y="1527064"/>
            <a:ext cx="4672428" cy="4620779"/>
          </a:xfrm>
          <a:prstGeom prst="flowChartMagneticDisk">
            <a:avLst/>
          </a:prstGeom>
          <a:solidFill>
            <a:srgbClr val="7030A0">
              <a:alpha val="3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  <a:p>
            <a:pPr algn="ctr"/>
            <a:endParaRPr lang="en-US" noProof="0" dirty="0"/>
          </a:p>
          <a:p>
            <a:pPr algn="ctr"/>
            <a:endParaRPr lang="en-US" noProof="0" dirty="0"/>
          </a:p>
          <a:p>
            <a:pPr algn="ctr"/>
            <a:endParaRPr lang="en-US" noProof="0" dirty="0"/>
          </a:p>
          <a:p>
            <a:pPr algn="ctr"/>
            <a:endParaRPr lang="en-US" noProof="0" dirty="0"/>
          </a:p>
          <a:p>
            <a:pPr algn="ctr"/>
            <a:endParaRPr lang="en-US" noProof="0" dirty="0"/>
          </a:p>
          <a:p>
            <a:pPr algn="ctr"/>
            <a:endParaRPr lang="en-US" noProof="0" dirty="0"/>
          </a:p>
          <a:p>
            <a:pPr algn="ctr"/>
            <a:endParaRPr lang="en-US" noProof="0" dirty="0"/>
          </a:p>
          <a:p>
            <a:pPr algn="ctr"/>
            <a:endParaRPr lang="en-US" noProof="0" dirty="0"/>
          </a:p>
          <a:p>
            <a:pPr algn="ctr"/>
            <a:endParaRPr lang="en-US" noProof="0" dirty="0"/>
          </a:p>
          <a:p>
            <a:pPr algn="ctr"/>
            <a:endParaRPr lang="en-US" noProof="0" dirty="0"/>
          </a:p>
          <a:p>
            <a:pPr algn="ctr"/>
            <a:endParaRPr lang="en-US" noProof="0" dirty="0"/>
          </a:p>
          <a:p>
            <a:pPr algn="ctr"/>
            <a:r>
              <a:rPr lang="en-US" sz="2000" b="1" noProof="0" dirty="0"/>
              <a:t>Vector database</a:t>
            </a:r>
          </a:p>
        </p:txBody>
      </p:sp>
    </p:spTree>
    <p:extLst>
      <p:ext uri="{BB962C8B-B14F-4D97-AF65-F5344CB8AC3E}">
        <p14:creationId xmlns:p14="http://schemas.microsoft.com/office/powerpoint/2010/main" val="1284759048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5A73B7-2527-1A99-3FA5-7478C2B203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Chains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B99801-B83C-D202-B6AB-7BB7D19AE3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b="1" noProof="0" dirty="0"/>
              <a:t>Chain</a:t>
            </a:r>
            <a:r>
              <a:rPr lang="en-US" noProof="0" dirty="0"/>
              <a:t>: Sequence of calls to components</a:t>
            </a:r>
          </a:p>
          <a:p>
            <a:r>
              <a:rPr lang="en-US" noProof="0" dirty="0"/>
              <a:t>In the early days of </a:t>
            </a:r>
            <a:r>
              <a:rPr lang="en-US" noProof="0" dirty="0" err="1"/>
              <a:t>LangChain</a:t>
            </a:r>
            <a:r>
              <a:rPr lang="en-US" noProof="0" dirty="0"/>
              <a:t>, these were "pre-built" classes (like </a:t>
            </a:r>
            <a:r>
              <a:rPr lang="en-US" noProof="0" dirty="0" err="1"/>
              <a:t>RetrievalQA</a:t>
            </a:r>
            <a:r>
              <a:rPr lang="en-US" noProof="0" dirty="0"/>
              <a:t>), but modern </a:t>
            </a:r>
            <a:r>
              <a:rPr lang="en-US" noProof="0" dirty="0" err="1"/>
              <a:t>LangChain</a:t>
            </a:r>
            <a:r>
              <a:rPr lang="en-US" noProof="0" dirty="0"/>
              <a:t> uses a more flexible approach</a:t>
            </a:r>
          </a:p>
          <a:p>
            <a:r>
              <a:rPr lang="en-US" noProof="0" dirty="0"/>
              <a:t>Take an Input (User Question) → process it (Retrieval) → pass it to a Prompt → send it to an LLM → get an Output</a:t>
            </a:r>
          </a:p>
          <a:p>
            <a:r>
              <a:rPr lang="en-US" noProof="0" dirty="0"/>
              <a:t>Legacy vs. Modern: While "Chains" is the general term for the workflow, most developers have moved toward </a:t>
            </a:r>
            <a:r>
              <a:rPr lang="en-US" b="1" noProof="0" dirty="0"/>
              <a:t>LCEL (</a:t>
            </a:r>
            <a:r>
              <a:rPr lang="en-US" b="1" noProof="0" dirty="0" err="1"/>
              <a:t>LangChain</a:t>
            </a:r>
            <a:r>
              <a:rPr lang="en-US" b="1" noProof="0" dirty="0"/>
              <a:t> Expression Language)</a:t>
            </a:r>
            <a:r>
              <a:rPr lang="en-US" noProof="0" dirty="0"/>
              <a:t> for better control</a:t>
            </a:r>
          </a:p>
          <a:p>
            <a:r>
              <a:rPr lang="en-US" noProof="0" dirty="0"/>
              <a:t>Example</a:t>
            </a:r>
          </a:p>
          <a:p>
            <a:pPr marL="457200" lvl="1" indent="0">
              <a:buNone/>
            </a:pPr>
            <a:r>
              <a:rPr lang="en-US" sz="19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chain = prompt | model | </a:t>
            </a:r>
            <a:r>
              <a:rPr lang="en-US" sz="1900" noProof="0" dirty="0" err="1">
                <a:latin typeface="Cascadia Mono" panose="020B0609020000020004" pitchFamily="49" charset="0"/>
                <a:cs typeface="Cascadia Mono" panose="020B0609020000020004" pitchFamily="49" charset="0"/>
              </a:rPr>
              <a:t>output_parser</a:t>
            </a:r>
            <a:endParaRPr lang="en-US" sz="1900" noProof="0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pPr marL="457200" lvl="1" indent="0">
              <a:buNone/>
            </a:pPr>
            <a:r>
              <a:rPr lang="en-US" sz="19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response = </a:t>
            </a:r>
            <a:r>
              <a:rPr lang="en-US" sz="1900" noProof="0" dirty="0" err="1">
                <a:latin typeface="Cascadia Mono" panose="020B0609020000020004" pitchFamily="49" charset="0"/>
                <a:cs typeface="Cascadia Mono" panose="020B0609020000020004" pitchFamily="49" charset="0"/>
              </a:rPr>
              <a:t>chain.invoke</a:t>
            </a:r>
            <a:r>
              <a:rPr lang="en-US" sz="19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({"topic": "black holes"})</a:t>
            </a:r>
            <a:endParaRPr lang="en-US" noProof="0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04048082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BC453B-CC5C-6084-5987-BC4615AABD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LCEL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22AFA8-A938-803D-17A2-5596D3541A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noProof="0" dirty="0" err="1"/>
              <a:t>LangChain</a:t>
            </a:r>
            <a:r>
              <a:rPr lang="en-US" b="1" noProof="0" dirty="0"/>
              <a:t> Expression Language (LCEL)</a:t>
            </a:r>
            <a:r>
              <a:rPr lang="en-US" noProof="0" dirty="0"/>
              <a:t>: Modern, declarative way to build and customize chains in </a:t>
            </a:r>
            <a:r>
              <a:rPr lang="en-US" noProof="0" dirty="0" err="1"/>
              <a:t>LangChain</a:t>
            </a:r>
            <a:endParaRPr lang="en-US" noProof="0" dirty="0"/>
          </a:p>
          <a:p>
            <a:r>
              <a:rPr lang="en-US" noProof="0" dirty="0"/>
              <a:t>Replaces the older, "hidden" logic of legacy classes like </a:t>
            </a:r>
            <a:r>
              <a:rPr lang="en-US" noProof="0" dirty="0" err="1"/>
              <a:t>LLMChain</a:t>
            </a:r>
            <a:r>
              <a:rPr lang="en-US" noProof="0" dirty="0"/>
              <a:t> or </a:t>
            </a:r>
            <a:r>
              <a:rPr lang="en-US" noProof="0" dirty="0" err="1"/>
              <a:t>RetrievalQA</a:t>
            </a:r>
            <a:endParaRPr lang="en-US" noProof="0" dirty="0"/>
          </a:p>
          <a:p>
            <a:r>
              <a:rPr lang="en-US" noProof="0" dirty="0"/>
              <a:t>Treats every component (prompts, models, retrievers, parsers) as a "Runnable" that can be snapped together</a:t>
            </a:r>
          </a:p>
          <a:p>
            <a:endParaRPr lang="en-US" noProof="0" dirty="0"/>
          </a:p>
          <a:p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4115784356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6FB082-251C-6468-1063-24C60A2734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 err="1"/>
              <a:t>Runnables</a:t>
            </a:r>
            <a:r>
              <a:rPr lang="en-US" noProof="0" dirty="0"/>
              <a:t> and LCEL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3AC89C-1D8C-EB73-D6AD-E23B4A9286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b="1" noProof="0" dirty="0" err="1"/>
              <a:t>Runnables</a:t>
            </a:r>
            <a:r>
              <a:rPr lang="en-US" noProof="0" dirty="0"/>
              <a:t>: Building blocks of the </a:t>
            </a:r>
            <a:r>
              <a:rPr lang="en-US" b="1" noProof="0" dirty="0" err="1"/>
              <a:t>LangChain</a:t>
            </a:r>
            <a:r>
              <a:rPr lang="en-US" b="1" noProof="0" dirty="0"/>
              <a:t> Expression Language (LCEL)</a:t>
            </a:r>
          </a:p>
          <a:p>
            <a:r>
              <a:rPr lang="en-US" noProof="0" dirty="0"/>
              <a:t>"Runnable" is a standard interface that allows us to "pipe" components together using the | operator</a:t>
            </a:r>
          </a:p>
          <a:p>
            <a:r>
              <a:rPr lang="en-US" noProof="0" dirty="0"/>
              <a:t>Pipe Operator (|): Behaves like a Unix pipe and takes the output of the left side and feeds it as the input to the right side</a:t>
            </a:r>
          </a:p>
          <a:p>
            <a:pPr lvl="1"/>
            <a:r>
              <a:rPr lang="en-US" noProof="0" dirty="0"/>
              <a:t>Why use it? It automatically handles things like:</a:t>
            </a:r>
          </a:p>
          <a:p>
            <a:pPr lvl="2"/>
            <a:r>
              <a:rPr lang="en-US" noProof="0" dirty="0"/>
              <a:t>Async: Running tasks in the background</a:t>
            </a:r>
          </a:p>
          <a:p>
            <a:pPr lvl="2"/>
            <a:r>
              <a:rPr lang="en-US" noProof="0" dirty="0"/>
              <a:t>Batch: Processing multiple inputs at once</a:t>
            </a:r>
          </a:p>
          <a:p>
            <a:pPr lvl="2"/>
            <a:r>
              <a:rPr lang="en-US" noProof="0" dirty="0"/>
              <a:t>Streaming: Seeing the AI's response character by character</a:t>
            </a:r>
          </a:p>
          <a:p>
            <a:r>
              <a:rPr lang="en-US" noProof="0" dirty="0"/>
              <a:t>Code: module_2\2_langchain_lcel_runnable.py, module_2\2_langchain_multiple_streaming.py</a:t>
            </a:r>
          </a:p>
        </p:txBody>
      </p:sp>
    </p:spTree>
    <p:extLst>
      <p:ext uri="{BB962C8B-B14F-4D97-AF65-F5344CB8AC3E}">
        <p14:creationId xmlns:p14="http://schemas.microsoft.com/office/powerpoint/2010/main" val="2539288376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EEAF35-C34E-DFBA-3F36-1CB3B7DE9C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 err="1"/>
              <a:t>LangServe</a:t>
            </a:r>
            <a:endParaRPr lang="en-US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8CAA29-4C17-AE45-D1FE-14E70AB2A7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b="1" noProof="0" dirty="0" err="1"/>
              <a:t>LangServe</a:t>
            </a:r>
            <a:r>
              <a:rPr lang="en-US" noProof="0" dirty="0"/>
              <a:t>: Official way to turn our </a:t>
            </a:r>
            <a:r>
              <a:rPr lang="en-US" noProof="0" dirty="0" err="1"/>
              <a:t>LangChain</a:t>
            </a:r>
            <a:r>
              <a:rPr lang="en-US" noProof="0" dirty="0"/>
              <a:t> </a:t>
            </a:r>
            <a:r>
              <a:rPr lang="en-US" noProof="0" dirty="0" err="1"/>
              <a:t>runnables</a:t>
            </a:r>
            <a:r>
              <a:rPr lang="en-US" noProof="0" dirty="0"/>
              <a:t> and chains into a REST API</a:t>
            </a:r>
          </a:p>
          <a:p>
            <a:r>
              <a:rPr lang="en-US" noProof="0" dirty="0"/>
              <a:t>Built on top of </a:t>
            </a:r>
            <a:r>
              <a:rPr lang="en-US" noProof="0" dirty="0" err="1"/>
              <a:t>FastAPI</a:t>
            </a:r>
            <a:r>
              <a:rPr lang="en-US" noProof="0" dirty="0"/>
              <a:t> </a:t>
            </a:r>
          </a:p>
          <a:p>
            <a:r>
              <a:rPr lang="en-US" noProof="0" dirty="0"/>
              <a:t>Automatically handles the complex parts of deployment, like schema validation, multiple endpoints (/invoke, /batch, /stream), and even a built-in interactive playground</a:t>
            </a:r>
          </a:p>
          <a:p>
            <a:r>
              <a:rPr lang="en-US" noProof="0" dirty="0"/>
              <a:t>We register our </a:t>
            </a:r>
            <a:r>
              <a:rPr lang="en-US" noProof="0" dirty="0" err="1"/>
              <a:t>LangChain</a:t>
            </a:r>
            <a:r>
              <a:rPr lang="en-US" noProof="0" dirty="0"/>
              <a:t> code and register with a path – </a:t>
            </a:r>
            <a:r>
              <a:rPr lang="en-US" noProof="0" dirty="0" err="1"/>
              <a:t>LangServe</a:t>
            </a:r>
            <a:r>
              <a:rPr lang="en-US" noProof="0" dirty="0"/>
              <a:t> creates</a:t>
            </a:r>
          </a:p>
          <a:p>
            <a:pPr lvl="1"/>
            <a:r>
              <a:rPr lang="en-US" noProof="0" dirty="0"/>
              <a:t>API endpoints</a:t>
            </a:r>
          </a:p>
          <a:p>
            <a:pPr lvl="1"/>
            <a:r>
              <a:rPr lang="en-US" noProof="0" dirty="0"/>
              <a:t>Schema (Automatic JSON validation using </a:t>
            </a:r>
            <a:r>
              <a:rPr lang="en-US" noProof="0" dirty="0" err="1"/>
              <a:t>Pydantic</a:t>
            </a:r>
            <a:r>
              <a:rPr lang="en-US" noProof="0" dirty="0"/>
              <a:t>)</a:t>
            </a:r>
          </a:p>
          <a:p>
            <a:pPr lvl="1"/>
            <a:r>
              <a:rPr lang="en-US" noProof="0" dirty="0"/>
              <a:t>Playground to test the chain</a:t>
            </a:r>
          </a:p>
          <a:p>
            <a:pPr lvl="1"/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574087676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75A707-793A-6072-DD44-0BEEA0695F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9962DD-4C99-5694-6A43-77412E988D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 err="1"/>
              <a:t>LangServe</a:t>
            </a:r>
            <a:r>
              <a:rPr lang="en-US" noProof="0" dirty="0"/>
              <a:t>: How to Use?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65E8B8-6FE4-276E-90D2-568DC95F8B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noProof="0" dirty="0"/>
              <a:t>Create deployment code and run it: C:\code\agenticai_realpage\module_2\2_langchain_server.py</a:t>
            </a:r>
          </a:p>
          <a:p>
            <a:endParaRPr lang="en-US" noProof="0" dirty="0"/>
          </a:p>
          <a:p>
            <a:r>
              <a:rPr lang="en-US" noProof="0" dirty="0"/>
              <a:t>To test, browser: </a:t>
            </a:r>
            <a:r>
              <a:rPr lang="en-US" noProof="0" dirty="0">
                <a:hlinkClick r:id="rId2"/>
              </a:rPr>
              <a:t>http://localhost:8000/</a:t>
            </a:r>
            <a:r>
              <a:rPr lang="en-US">
                <a:hlinkClick r:id="rId2"/>
              </a:rPr>
              <a:t>ask</a:t>
            </a:r>
            <a:r>
              <a:rPr lang="en-US" noProof="0">
                <a:hlinkClick r:id="rId2"/>
              </a:rPr>
              <a:t>/</a:t>
            </a:r>
            <a:r>
              <a:rPr lang="en-US" noProof="0" dirty="0">
                <a:hlinkClick r:id="rId2"/>
              </a:rPr>
              <a:t>playground/</a:t>
            </a:r>
            <a:endParaRPr lang="en-US" noProof="0" dirty="0"/>
          </a:p>
          <a:p>
            <a:endParaRPr lang="en-US" noProof="0" dirty="0"/>
          </a:p>
          <a:p>
            <a:r>
              <a:rPr lang="en-US" noProof="0" dirty="0"/>
              <a:t>Through code: C:\code\agenticai_realpage\module_2\2_langchain_test_server.py</a:t>
            </a:r>
          </a:p>
          <a:p>
            <a:pPr lvl="1"/>
            <a:r>
              <a:rPr lang="en-US" dirty="0"/>
              <a:t>To run, Terminal -&gt; New Terminal Window and then run it</a:t>
            </a:r>
            <a:endParaRPr lang="en-US" noProof="0" dirty="0"/>
          </a:p>
          <a:p>
            <a:pPr lvl="1"/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4046456404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832938-B1F2-F5E3-DA83-1F8D78AF1C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Build a Q&amp;A Bot from PDFs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4B4CAF-D7BC-CBC6-ACB6-4C41425BE7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IN" dirty="0"/>
              <a:t>Chroma DB, Insurance example: </a:t>
            </a:r>
            <a:r>
              <a:rPr lang="fr-FR" dirty="0"/>
              <a:t>C:\code\agenticai_realpage\module_2\2_langchain_qand_a_bot_chroma.py</a:t>
            </a:r>
          </a:p>
          <a:p>
            <a:r>
              <a:rPr lang="fr-FR" dirty="0"/>
              <a:t>Test: Browser - </a:t>
            </a:r>
            <a:r>
              <a:rPr lang="fr-FR" dirty="0">
                <a:hlinkClick r:id="rId2"/>
              </a:rPr>
              <a:t>http://localhost:8000/ask/playground/</a:t>
            </a:r>
            <a:endParaRPr lang="fr-FR" dirty="0"/>
          </a:p>
          <a:p>
            <a:endParaRPr lang="fr-FR" dirty="0"/>
          </a:p>
          <a:p>
            <a:r>
              <a:rPr lang="fr-FR" dirty="0"/>
              <a:t>FAISS: C:\code\agenticai_realpage\module_2\2_langchain_qanda_bot_faiss.py</a:t>
            </a:r>
          </a:p>
          <a:p>
            <a:r>
              <a:rPr lang="fr-FR" dirty="0"/>
              <a:t>Test: Browser - </a:t>
            </a:r>
            <a:r>
              <a:rPr lang="fr-FR" dirty="0">
                <a:hlinkClick r:id="rId2"/>
              </a:rPr>
              <a:t>http://localhost:8000/ask/playground/</a:t>
            </a:r>
            <a:endParaRPr lang="fr-FR" dirty="0"/>
          </a:p>
          <a:p>
            <a:endParaRPr lang="fr-FR" dirty="0"/>
          </a:p>
          <a:p>
            <a:r>
              <a:rPr lang="en-US" dirty="0"/>
              <a:t>While Chroma manages a directory of files automatically, FAISS typically saves to a single .index file along with a .</a:t>
            </a:r>
            <a:r>
              <a:rPr lang="en-US" dirty="0" err="1"/>
              <a:t>pkl</a:t>
            </a:r>
            <a:r>
              <a:rPr lang="en-US" dirty="0"/>
              <a:t> for the documents</a:t>
            </a:r>
          </a:p>
          <a:p>
            <a:r>
              <a:rPr lang="en-US" dirty="0"/>
              <a:t>In </a:t>
            </a:r>
            <a:r>
              <a:rPr lang="en-US" dirty="0" err="1"/>
              <a:t>LangChain</a:t>
            </a:r>
            <a:r>
              <a:rPr lang="en-US" dirty="0"/>
              <a:t>, we use </a:t>
            </a:r>
            <a:r>
              <a:rPr lang="en-US" dirty="0" err="1"/>
              <a:t>save_local</a:t>
            </a:r>
            <a:r>
              <a:rPr lang="en-US" dirty="0"/>
              <a:t> and </a:t>
            </a:r>
            <a:r>
              <a:rPr lang="en-US" dirty="0" err="1"/>
              <a:t>load_local</a:t>
            </a:r>
            <a:r>
              <a:rPr lang="en-US" dirty="0"/>
              <a:t> for this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161479802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AD1D76-EECB-DDAC-B60D-8FC4952996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Chroma Versus FAISS</a:t>
            </a:r>
            <a:endParaRPr lang="en-GB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793C9237-10D9-4A6F-7860-17810317121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725967883"/>
              </p:ext>
            </p:extLst>
          </p:nvPr>
        </p:nvGraphicFramePr>
        <p:xfrm>
          <a:off x="675912" y="1441715"/>
          <a:ext cx="10840176" cy="5111366"/>
        </p:xfrm>
        <a:graphic>
          <a:graphicData uri="http://schemas.openxmlformats.org/drawingml/2006/table">
            <a:tbl>
              <a:tblPr firstRow="1">
                <a:tableStyleId>{B301B821-A1FF-4177-AEE7-76D212191A09}</a:tableStyleId>
              </a:tblPr>
              <a:tblGrid>
                <a:gridCol w="2219687">
                  <a:extLst>
                    <a:ext uri="{9D8B030D-6E8A-4147-A177-3AD203B41FA5}">
                      <a16:colId xmlns:a16="http://schemas.microsoft.com/office/drawing/2014/main" val="1056731669"/>
                    </a:ext>
                  </a:extLst>
                </a:gridCol>
                <a:gridCol w="4271854">
                  <a:extLst>
                    <a:ext uri="{9D8B030D-6E8A-4147-A177-3AD203B41FA5}">
                      <a16:colId xmlns:a16="http://schemas.microsoft.com/office/drawing/2014/main" val="2002365911"/>
                    </a:ext>
                  </a:extLst>
                </a:gridCol>
                <a:gridCol w="4348635">
                  <a:extLst>
                    <a:ext uri="{9D8B030D-6E8A-4147-A177-3AD203B41FA5}">
                      <a16:colId xmlns:a16="http://schemas.microsoft.com/office/drawing/2014/main" val="764825695"/>
                    </a:ext>
                  </a:extLst>
                </a:gridCol>
              </a:tblGrid>
              <a:tr h="24864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600"/>
                        <a:t>Aspect</a:t>
                      </a:r>
                    </a:p>
                  </a:txBody>
                  <a:tcPr marL="62162" marR="62162" marT="31081" marB="3108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dirty="0"/>
                        <a:t>Chroma code</a:t>
                      </a:r>
                      <a:endParaRPr lang="en-US" sz="1600" dirty="0"/>
                    </a:p>
                  </a:txBody>
                  <a:tcPr marL="62162" marR="62162" marT="31081" marB="3108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dirty="0"/>
                        <a:t>FAISS code</a:t>
                      </a:r>
                      <a:endParaRPr lang="en-US" sz="1600" dirty="0"/>
                    </a:p>
                  </a:txBody>
                  <a:tcPr marL="62162" marR="62162" marT="31081" marB="3108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88121079"/>
                  </a:ext>
                </a:extLst>
              </a:tr>
              <a:tr h="43513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600" dirty="0"/>
                        <a:t>What we are using</a:t>
                      </a:r>
                    </a:p>
                  </a:txBody>
                  <a:tcPr marL="62162" marR="62162" marT="31081" marB="3108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600"/>
                        <a:t>langchain_chroma.Chroma</a:t>
                      </a:r>
                    </a:p>
                  </a:txBody>
                  <a:tcPr marL="62162" marR="62162" marT="31081" marB="3108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600" dirty="0" err="1"/>
                        <a:t>langchain_community.vectorstores.FAISS</a:t>
                      </a:r>
                      <a:endParaRPr lang="en-GB" sz="1600" dirty="0"/>
                    </a:p>
                  </a:txBody>
                  <a:tcPr marL="62162" marR="62162" marT="31081" marB="3108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27228912"/>
                  </a:ext>
                </a:extLst>
              </a:tr>
              <a:tr h="24864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600" dirty="0"/>
                        <a:t>Installation</a:t>
                      </a:r>
                    </a:p>
                  </a:txBody>
                  <a:tcPr marL="62162" marR="62162" marT="31081" marB="3108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600"/>
                        <a:t>pip install chromadb</a:t>
                      </a:r>
                    </a:p>
                  </a:txBody>
                  <a:tcPr marL="62162" marR="62162" marT="31081" marB="3108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600" dirty="0"/>
                        <a:t>pip install </a:t>
                      </a:r>
                      <a:r>
                        <a:rPr lang="en-GB" sz="1600" dirty="0" err="1"/>
                        <a:t>faiss-cpu</a:t>
                      </a:r>
                      <a:endParaRPr lang="en-GB" sz="1600" dirty="0"/>
                    </a:p>
                  </a:txBody>
                  <a:tcPr marL="62162" marR="62162" marT="31081" marB="3108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78115166"/>
                  </a:ext>
                </a:extLst>
              </a:tr>
              <a:tr h="24864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600" dirty="0"/>
                        <a:t>Storage type</a:t>
                      </a:r>
                    </a:p>
                  </a:txBody>
                  <a:tcPr marL="62162" marR="62162" marT="31081" marB="3108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600" b="1"/>
                        <a:t>Embedded DB (DuckDB + files)</a:t>
                      </a:r>
                      <a:endParaRPr lang="en-GB" sz="1600"/>
                    </a:p>
                  </a:txBody>
                  <a:tcPr marL="62162" marR="62162" marT="31081" marB="3108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600" b="1" dirty="0"/>
                        <a:t>Index + pickle files</a:t>
                      </a:r>
                      <a:endParaRPr lang="en-GB" sz="1600" dirty="0"/>
                    </a:p>
                  </a:txBody>
                  <a:tcPr marL="62162" marR="62162" marT="31081" marB="3108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02644885"/>
                  </a:ext>
                </a:extLst>
              </a:tr>
              <a:tr h="24864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600" dirty="0"/>
                        <a:t>Persistence logic</a:t>
                      </a:r>
                    </a:p>
                  </a:txBody>
                  <a:tcPr marL="62162" marR="62162" marT="31081" marB="3108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600" b="1"/>
                        <a:t>Automatic</a:t>
                      </a:r>
                      <a:endParaRPr lang="en-GB" sz="1600"/>
                    </a:p>
                  </a:txBody>
                  <a:tcPr marL="62162" marR="62162" marT="31081" marB="3108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600" b="1" dirty="0"/>
                        <a:t>Manual</a:t>
                      </a:r>
                      <a:endParaRPr lang="en-GB" sz="1600" dirty="0"/>
                    </a:p>
                  </a:txBody>
                  <a:tcPr marL="62162" marR="62162" marT="31081" marB="3108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65257841"/>
                  </a:ext>
                </a:extLst>
              </a:tr>
              <a:tr h="43513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600" dirty="0"/>
                        <a:t>Persistence code</a:t>
                      </a:r>
                    </a:p>
                  </a:txBody>
                  <a:tcPr marL="62162" marR="62162" marT="31081" marB="3108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600"/>
                        <a:t>persist_directory=PERSIST_PATH</a:t>
                      </a:r>
                    </a:p>
                  </a:txBody>
                  <a:tcPr marL="62162" marR="62162" marT="31081" marB="3108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600" dirty="0" err="1"/>
                        <a:t>vector_db.save_local</a:t>
                      </a:r>
                      <a:r>
                        <a:rPr lang="en-GB" sz="1600" dirty="0"/>
                        <a:t>(PERSIST_PATH)</a:t>
                      </a:r>
                    </a:p>
                  </a:txBody>
                  <a:tcPr marL="62162" marR="62162" marT="31081" marB="3108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62715879"/>
                  </a:ext>
                </a:extLst>
              </a:tr>
              <a:tr h="6216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600" dirty="0"/>
                        <a:t>Load logic</a:t>
                      </a:r>
                    </a:p>
                  </a:txBody>
                  <a:tcPr marL="62162" marR="62162" marT="31081" marB="3108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Chroma(persist_directory=..., embedding_function=...)</a:t>
                      </a:r>
                    </a:p>
                  </a:txBody>
                  <a:tcPr marL="62162" marR="62162" marT="31081" marB="3108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 err="1"/>
                        <a:t>FAISS.load_local</a:t>
                      </a:r>
                      <a:r>
                        <a:rPr lang="en-US" sz="1600" dirty="0"/>
                        <a:t>(... </a:t>
                      </a:r>
                      <a:r>
                        <a:rPr lang="en-US" sz="1600" dirty="0" err="1"/>
                        <a:t>allow_dangerous_deserialization</a:t>
                      </a:r>
                      <a:r>
                        <a:rPr lang="en-US" sz="1600" dirty="0"/>
                        <a:t>=True)</a:t>
                      </a:r>
                    </a:p>
                  </a:txBody>
                  <a:tcPr marL="62162" marR="62162" marT="31081" marB="3108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87688934"/>
                  </a:ext>
                </a:extLst>
              </a:tr>
              <a:tr h="6216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600" dirty="0"/>
                        <a:t>Safety concern</a:t>
                      </a:r>
                    </a:p>
                  </a:txBody>
                  <a:tcPr marL="62162" marR="62162" marT="31081" marB="3108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600" dirty="0"/>
                        <a:t>No pickle, safer</a:t>
                      </a:r>
                    </a:p>
                  </a:txBody>
                  <a:tcPr marL="62162" marR="62162" marT="31081" marB="3108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/>
                        <a:t>Uses pickle → needs </a:t>
                      </a:r>
                      <a:r>
                        <a:rPr lang="en-US" sz="1600" dirty="0" err="1"/>
                        <a:t>allow_dangerous_deserialization</a:t>
                      </a:r>
                      <a:r>
                        <a:rPr lang="en-US" sz="1600" dirty="0"/>
                        <a:t>=True</a:t>
                      </a:r>
                    </a:p>
                  </a:txBody>
                  <a:tcPr marL="62162" marR="62162" marT="31081" marB="3108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34511849"/>
                  </a:ext>
                </a:extLst>
              </a:tr>
              <a:tr h="24864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600" dirty="0"/>
                        <a:t>Metadata handling</a:t>
                      </a:r>
                    </a:p>
                  </a:txBody>
                  <a:tcPr marL="62162" marR="62162" marT="31081" marB="3108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600"/>
                        <a:t>Native metadata + filtering</a:t>
                      </a:r>
                    </a:p>
                  </a:txBody>
                  <a:tcPr marL="62162" marR="62162" marT="31081" marB="3108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/>
                        <a:t>Stored, but filtering is limited</a:t>
                      </a:r>
                    </a:p>
                  </a:txBody>
                  <a:tcPr marL="62162" marR="62162" marT="31081" marB="3108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99293231"/>
                  </a:ext>
                </a:extLst>
              </a:tr>
              <a:tr h="24864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600" dirty="0"/>
                        <a:t>Dependency on </a:t>
                      </a:r>
                      <a:r>
                        <a:rPr lang="en-GB" sz="1600" dirty="0" err="1"/>
                        <a:t>LangChain</a:t>
                      </a:r>
                      <a:endParaRPr lang="en-GB" sz="1600" dirty="0"/>
                    </a:p>
                  </a:txBody>
                  <a:tcPr marL="62162" marR="62162" marT="31081" marB="3108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Lower (Chroma is its own DB)</a:t>
                      </a:r>
                    </a:p>
                  </a:txBody>
                  <a:tcPr marL="62162" marR="62162" marT="31081" marB="3108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/>
                        <a:t>High (FAISS wrapped by LC)</a:t>
                      </a:r>
                    </a:p>
                  </a:txBody>
                  <a:tcPr marL="62162" marR="62162" marT="31081" marB="3108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12943574"/>
                  </a:ext>
                </a:extLst>
              </a:tr>
              <a:tr h="24864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600" dirty="0"/>
                        <a:t>Ease of reset</a:t>
                      </a:r>
                    </a:p>
                  </a:txBody>
                  <a:tcPr marL="62162" marR="62162" marT="31081" marB="3108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600"/>
                        <a:t>Delete folder + re-ingest</a:t>
                      </a:r>
                    </a:p>
                  </a:txBody>
                  <a:tcPr marL="62162" marR="62162" marT="31081" marB="3108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600" dirty="0"/>
                        <a:t>Delete folder + re-ingest</a:t>
                      </a:r>
                    </a:p>
                  </a:txBody>
                  <a:tcPr marL="62162" marR="62162" marT="31081" marB="3108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5937335"/>
                  </a:ext>
                </a:extLst>
              </a:tr>
              <a:tr h="24864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600" dirty="0"/>
                        <a:t>Retriever code</a:t>
                      </a:r>
                    </a:p>
                  </a:txBody>
                  <a:tcPr marL="62162" marR="62162" marT="31081" marB="3108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600" b="1"/>
                        <a:t>Identical</a:t>
                      </a:r>
                      <a:endParaRPr lang="en-GB" sz="1600"/>
                    </a:p>
                  </a:txBody>
                  <a:tcPr marL="62162" marR="62162" marT="31081" marB="3108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600" b="1" dirty="0"/>
                        <a:t>Identical</a:t>
                      </a:r>
                      <a:endParaRPr lang="en-GB" sz="1600" dirty="0"/>
                    </a:p>
                  </a:txBody>
                  <a:tcPr marL="62162" marR="62162" marT="31081" marB="3108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49505216"/>
                  </a:ext>
                </a:extLst>
              </a:tr>
              <a:tr h="24864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600"/>
                        <a:t>RAG chain</a:t>
                      </a:r>
                    </a:p>
                  </a:txBody>
                  <a:tcPr marL="62162" marR="62162" marT="31081" marB="3108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600" b="1" dirty="0"/>
                        <a:t>No difference at all</a:t>
                      </a:r>
                      <a:endParaRPr lang="en-GB" sz="1600" dirty="0"/>
                    </a:p>
                  </a:txBody>
                  <a:tcPr marL="62162" marR="62162" marT="31081" marB="3108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600" b="1" dirty="0"/>
                        <a:t>No difference at all</a:t>
                      </a:r>
                      <a:endParaRPr lang="en-GB" sz="1600" dirty="0"/>
                    </a:p>
                  </a:txBody>
                  <a:tcPr marL="62162" marR="62162" marT="31081" marB="3108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1580951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62629940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A428B18-A60C-0260-5F11-5D133AE98E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Module 3: </a:t>
            </a:r>
            <a:r>
              <a:rPr lang="en-IN" dirty="0" err="1"/>
              <a:t>LangGraph</a:t>
            </a:r>
            <a:r>
              <a:rPr lang="en-IN" dirty="0"/>
              <a:t> for Stateful Agents and HITL</a:t>
            </a:r>
            <a:endParaRPr lang="en-GB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937C957-A7A4-EC96-E14A-A3ECB40F77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4674686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362C42-D7A6-3955-158D-394FB16F8E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698D0F-0697-A494-7718-238D867611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614254"/>
          </a:xfrm>
        </p:spPr>
        <p:txBody>
          <a:bodyPr>
            <a:normAutofit fontScale="90000"/>
          </a:bodyPr>
          <a:lstStyle/>
          <a:p>
            <a:r>
              <a:rPr lang="en-IN" noProof="0" dirty="0" err="1"/>
              <a:t>LangChain</a:t>
            </a:r>
            <a:r>
              <a:rPr lang="en-IN" noProof="0" dirty="0"/>
              <a:t> versus </a:t>
            </a:r>
            <a:r>
              <a:rPr lang="en-IN" noProof="0" dirty="0" err="1"/>
              <a:t>LangGraph</a:t>
            </a:r>
            <a:endParaRPr lang="en-IN" noProof="0" dirty="0"/>
          </a:p>
        </p:txBody>
      </p:sp>
      <p:graphicFrame>
        <p:nvGraphicFramePr>
          <p:cNvPr id="3" name="Content Placeholder 2">
            <a:extLst>
              <a:ext uri="{FF2B5EF4-FFF2-40B4-BE49-F238E27FC236}">
                <a16:creationId xmlns:a16="http://schemas.microsoft.com/office/drawing/2014/main" id="{2303E528-C456-D6E5-6A45-8AD2408F1489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921380" y="823658"/>
          <a:ext cx="10323645" cy="5601580"/>
        </p:xfrm>
        <a:graphic>
          <a:graphicData uri="http://schemas.openxmlformats.org/drawingml/2006/table">
            <a:tbl>
              <a:tblPr>
                <a:tableStyleId>{5DA37D80-6434-44D0-A028-1B22A696006F}</a:tableStyleId>
              </a:tblPr>
              <a:tblGrid>
                <a:gridCol w="2066125">
                  <a:extLst>
                    <a:ext uri="{9D8B030D-6E8A-4147-A177-3AD203B41FA5}">
                      <a16:colId xmlns:a16="http://schemas.microsoft.com/office/drawing/2014/main" val="2346622512"/>
                    </a:ext>
                  </a:extLst>
                </a:gridCol>
                <a:gridCol w="3999628">
                  <a:extLst>
                    <a:ext uri="{9D8B030D-6E8A-4147-A177-3AD203B41FA5}">
                      <a16:colId xmlns:a16="http://schemas.microsoft.com/office/drawing/2014/main" val="982790813"/>
                    </a:ext>
                  </a:extLst>
                </a:gridCol>
                <a:gridCol w="4257892">
                  <a:extLst>
                    <a:ext uri="{9D8B030D-6E8A-4147-A177-3AD203B41FA5}">
                      <a16:colId xmlns:a16="http://schemas.microsoft.com/office/drawing/2014/main" val="1860951309"/>
                    </a:ext>
                  </a:extLst>
                </a:gridCol>
              </a:tblGrid>
              <a:tr h="32462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 b="1" noProof="0" dirty="0"/>
                        <a:t>Aspect</a:t>
                      </a:r>
                      <a:endParaRPr lang="en-IN" sz="1800" noProof="0" dirty="0"/>
                    </a:p>
                  </a:txBody>
                  <a:tcPr marL="65929" marR="65929" marT="32965" marB="3296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 b="1" noProof="0" dirty="0" err="1"/>
                        <a:t>LangChain</a:t>
                      </a:r>
                      <a:endParaRPr lang="en-IN" sz="1800" noProof="0" dirty="0"/>
                    </a:p>
                  </a:txBody>
                  <a:tcPr marL="65929" marR="65929" marT="32965" marB="3296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 b="1" noProof="0" dirty="0" err="1"/>
                        <a:t>LangGraph</a:t>
                      </a:r>
                      <a:endParaRPr lang="en-IN" sz="1800" noProof="0" dirty="0"/>
                    </a:p>
                  </a:txBody>
                  <a:tcPr marL="65929" marR="65929" marT="32965" marB="32965" anchor="ctr"/>
                </a:tc>
                <a:extLst>
                  <a:ext uri="{0D108BD9-81ED-4DB2-BD59-A6C34878D82A}">
                    <a16:rowId xmlns:a16="http://schemas.microsoft.com/office/drawing/2014/main" val="3707437247"/>
                  </a:ext>
                </a:extLst>
              </a:tr>
              <a:tr h="81054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 b="1" noProof="0" dirty="0"/>
                        <a:t>Purpose</a:t>
                      </a:r>
                      <a:endParaRPr lang="en-IN" sz="1800" noProof="0" dirty="0"/>
                    </a:p>
                  </a:txBody>
                  <a:tcPr marL="65929" marR="65929" marT="32965" marB="3296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 noProof="0" dirty="0"/>
                        <a:t>Use LLMs as agents with access to external tools (APIs, databases, etc.)</a:t>
                      </a:r>
                    </a:p>
                  </a:txBody>
                  <a:tcPr marL="65929" marR="65929" marT="32965" marB="3296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 noProof="0" dirty="0"/>
                        <a:t>Build complex, stateful, multi-agent applications with LLMs</a:t>
                      </a:r>
                    </a:p>
                  </a:txBody>
                  <a:tcPr marL="65929" marR="65929" marT="32965" marB="32965" anchor="ctr"/>
                </a:tc>
                <a:extLst>
                  <a:ext uri="{0D108BD9-81ED-4DB2-BD59-A6C34878D82A}">
                    <a16:rowId xmlns:a16="http://schemas.microsoft.com/office/drawing/2014/main" val="3511167962"/>
                  </a:ext>
                </a:extLst>
              </a:tr>
              <a:tr h="56738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 b="1" noProof="0" dirty="0"/>
                        <a:t>Workflow type</a:t>
                      </a:r>
                      <a:endParaRPr lang="en-IN" sz="1800" noProof="0" dirty="0"/>
                    </a:p>
                  </a:txBody>
                  <a:tcPr marL="65929" marR="65929" marT="32965" marB="3296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 noProof="0" dirty="0"/>
                        <a:t>Simple, single-step or short workflows</a:t>
                      </a:r>
                    </a:p>
                  </a:txBody>
                  <a:tcPr marL="65929" marR="65929" marT="32965" marB="3296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 noProof="0" dirty="0"/>
                        <a:t>Complex, multi-step, long-running workflows</a:t>
                      </a:r>
                    </a:p>
                  </a:txBody>
                  <a:tcPr marL="65929" marR="65929" marT="32965" marB="32965" anchor="ctr"/>
                </a:tc>
                <a:extLst>
                  <a:ext uri="{0D108BD9-81ED-4DB2-BD59-A6C34878D82A}">
                    <a16:rowId xmlns:a16="http://schemas.microsoft.com/office/drawing/2014/main" val="673393596"/>
                  </a:ext>
                </a:extLst>
              </a:tr>
              <a:tr h="56738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 b="1" noProof="0" dirty="0"/>
                        <a:t>Agents involved</a:t>
                      </a:r>
                      <a:endParaRPr lang="en-IN" sz="1800" noProof="0" dirty="0"/>
                    </a:p>
                  </a:txBody>
                  <a:tcPr marL="65929" marR="65929" marT="32965" marB="3296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 noProof="0" dirty="0"/>
                        <a:t>Usually one agent handling requests</a:t>
                      </a:r>
                    </a:p>
                  </a:txBody>
                  <a:tcPr marL="65929" marR="65929" marT="32965" marB="3296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 noProof="0" dirty="0"/>
                        <a:t>Multiple agents collaborating and interacting</a:t>
                      </a:r>
                    </a:p>
                  </a:txBody>
                  <a:tcPr marL="65929" marR="65929" marT="32965" marB="32965" anchor="ctr"/>
                </a:tc>
                <a:extLst>
                  <a:ext uri="{0D108BD9-81ED-4DB2-BD59-A6C34878D82A}">
                    <a16:rowId xmlns:a16="http://schemas.microsoft.com/office/drawing/2014/main" val="1219371625"/>
                  </a:ext>
                </a:extLst>
              </a:tr>
              <a:tr h="5682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 b="1" noProof="0" dirty="0"/>
                        <a:t>State management</a:t>
                      </a:r>
                      <a:endParaRPr lang="en-IN" sz="1800" noProof="0" dirty="0"/>
                    </a:p>
                  </a:txBody>
                  <a:tcPr marL="65929" marR="65929" marT="32965" marB="3296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 noProof="0" dirty="0"/>
                        <a:t>Minimal or stateless; memory handled externally</a:t>
                      </a:r>
                    </a:p>
                  </a:txBody>
                  <a:tcPr marL="65929" marR="65929" marT="32965" marB="3296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 noProof="0" dirty="0"/>
                        <a:t>Built-in memory/state tracking across interactions</a:t>
                      </a:r>
                    </a:p>
                  </a:txBody>
                  <a:tcPr marL="65929" marR="65929" marT="32965" marB="32965" anchor="ctr"/>
                </a:tc>
                <a:extLst>
                  <a:ext uri="{0D108BD9-81ED-4DB2-BD59-A6C34878D82A}">
                    <a16:rowId xmlns:a16="http://schemas.microsoft.com/office/drawing/2014/main" val="1081419289"/>
                  </a:ext>
                </a:extLst>
              </a:tr>
              <a:tr h="81054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 b="1" noProof="0" dirty="0"/>
                        <a:t>Dynamic execution</a:t>
                      </a:r>
                      <a:endParaRPr lang="en-IN" sz="1800" noProof="0" dirty="0"/>
                    </a:p>
                  </a:txBody>
                  <a:tcPr marL="65929" marR="65929" marT="32965" marB="3296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 noProof="0" dirty="0"/>
                        <a:t>Limited; follows predefined steps</a:t>
                      </a:r>
                    </a:p>
                  </a:txBody>
                  <a:tcPr marL="65929" marR="65929" marT="32965" marB="3296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 noProof="0" dirty="0"/>
                        <a:t>Supports dynamic branching, agent coordination, and runtime decisions</a:t>
                      </a:r>
                    </a:p>
                  </a:txBody>
                  <a:tcPr marL="65929" marR="65929" marT="32965" marB="32965" anchor="ctr"/>
                </a:tc>
                <a:extLst>
                  <a:ext uri="{0D108BD9-81ED-4DB2-BD59-A6C34878D82A}">
                    <a16:rowId xmlns:a16="http://schemas.microsoft.com/office/drawing/2014/main" val="4125623054"/>
                  </a:ext>
                </a:extLst>
              </a:tr>
              <a:tr h="5682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 b="1" noProof="0" dirty="0"/>
                        <a:t>Best for</a:t>
                      </a:r>
                      <a:endParaRPr lang="en-IN" sz="1800" noProof="0" dirty="0"/>
                    </a:p>
                  </a:txBody>
                  <a:tcPr marL="65929" marR="65929" marT="32965" marB="3296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 noProof="0" dirty="0"/>
                        <a:t>Chatbots, calculators, document queries</a:t>
                      </a:r>
                    </a:p>
                  </a:txBody>
                  <a:tcPr marL="65929" marR="65929" marT="32965" marB="3296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 noProof="0" dirty="0"/>
                        <a:t>Automation systems, multi-agent orchestration, AI workflows</a:t>
                      </a:r>
                    </a:p>
                  </a:txBody>
                  <a:tcPr marL="65929" marR="65929" marT="32965" marB="32965" anchor="ctr"/>
                </a:tc>
                <a:extLst>
                  <a:ext uri="{0D108BD9-81ED-4DB2-BD59-A6C34878D82A}">
                    <a16:rowId xmlns:a16="http://schemas.microsoft.com/office/drawing/2014/main" val="3539083421"/>
                  </a:ext>
                </a:extLst>
              </a:tr>
              <a:tr h="5682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 b="1" noProof="0" dirty="0"/>
                        <a:t>Learning curve</a:t>
                      </a:r>
                      <a:endParaRPr lang="en-IN" sz="1800" noProof="0" dirty="0"/>
                    </a:p>
                  </a:txBody>
                  <a:tcPr marL="65929" marR="65929" marT="32965" marB="3296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 noProof="0" dirty="0"/>
                        <a:t>Easier; basic LLM + tools interface</a:t>
                      </a:r>
                    </a:p>
                  </a:txBody>
                  <a:tcPr marL="65929" marR="65929" marT="32965" marB="3296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 noProof="0" dirty="0"/>
                        <a:t>Steeper; requires understanding of agents, state, and coordination</a:t>
                      </a:r>
                    </a:p>
                  </a:txBody>
                  <a:tcPr marL="65929" marR="65929" marT="32965" marB="32965" anchor="ctr"/>
                </a:tc>
                <a:extLst>
                  <a:ext uri="{0D108BD9-81ED-4DB2-BD59-A6C34878D82A}">
                    <a16:rowId xmlns:a16="http://schemas.microsoft.com/office/drawing/2014/main" val="3449461024"/>
                  </a:ext>
                </a:extLst>
              </a:tr>
              <a:tr h="56738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 b="1" noProof="0" dirty="0"/>
                        <a:t>Relationship</a:t>
                      </a:r>
                      <a:endParaRPr lang="en-IN" sz="1800" noProof="0" dirty="0"/>
                    </a:p>
                  </a:txBody>
                  <a:tcPr marL="65929" marR="65929" marT="32965" marB="3296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 noProof="0" dirty="0"/>
                        <a:t>Foundational concepts</a:t>
                      </a:r>
                    </a:p>
                  </a:txBody>
                  <a:tcPr marL="65929" marR="65929" marT="32965" marB="3296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 noProof="0" dirty="0"/>
                        <a:t>Builds on and extends </a:t>
                      </a:r>
                      <a:r>
                        <a:rPr lang="en-IN" sz="1800" noProof="0" dirty="0" err="1"/>
                        <a:t>LangChain</a:t>
                      </a:r>
                      <a:r>
                        <a:rPr lang="en-IN" sz="1800" noProof="0" dirty="0"/>
                        <a:t> principles</a:t>
                      </a:r>
                    </a:p>
                  </a:txBody>
                  <a:tcPr marL="65929" marR="65929" marT="32965" marB="32965" anchor="ctr"/>
                </a:tc>
                <a:extLst>
                  <a:ext uri="{0D108BD9-81ED-4DB2-BD59-A6C34878D82A}">
                    <a16:rowId xmlns:a16="http://schemas.microsoft.com/office/drawing/2014/main" val="107077159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02469357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93D703-6E19-8FBC-9BD2-EF7DFFADD4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03D721-80DB-A4D9-A42C-8A20B51459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 err="1"/>
              <a:t>LangGraph</a:t>
            </a:r>
            <a:r>
              <a:rPr lang="en-IN" noProof="0" dirty="0"/>
              <a:t>: </a:t>
            </a:r>
            <a:br>
              <a:rPr lang="en-IN" noProof="0" dirty="0"/>
            </a:br>
            <a:r>
              <a:rPr lang="en-IN" noProof="0" dirty="0"/>
              <a:t>Key Components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B9E709-C9B5-A166-56AF-B76B022B8F5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 noProof="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0E164C3-67EF-F87D-8F4B-E47071DBC200}"/>
              </a:ext>
            </a:extLst>
          </p:cNvPr>
          <p:cNvSpPr txBox="1"/>
          <p:nvPr/>
        </p:nvSpPr>
        <p:spPr>
          <a:xfrm>
            <a:off x="2242473" y="5375391"/>
            <a:ext cx="3629098" cy="923330"/>
          </a:xfrm>
          <a:prstGeom prst="rect">
            <a:avLst/>
          </a:prstGeom>
          <a:solidFill>
            <a:schemeClr val="accent4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IN" noProof="0" dirty="0">
                <a:solidFill>
                  <a:schemeClr val="bg1"/>
                </a:solidFill>
              </a:rPr>
              <a:t>Data structure that describes the information flowing through the graph at each stage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F217A50-29C9-8511-C8E3-B87C7C526914}"/>
              </a:ext>
            </a:extLst>
          </p:cNvPr>
          <p:cNvSpPr txBox="1"/>
          <p:nvPr/>
        </p:nvSpPr>
        <p:spPr>
          <a:xfrm>
            <a:off x="2269132" y="2258311"/>
            <a:ext cx="3629098" cy="923330"/>
          </a:xfrm>
          <a:prstGeom prst="rect">
            <a:avLst/>
          </a:prstGeom>
          <a:solidFill>
            <a:schemeClr val="accent4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IN" noProof="0" dirty="0">
                <a:solidFill>
                  <a:schemeClr val="bg1"/>
                </a:solidFill>
              </a:rPr>
              <a:t>Step or operation in the graph – Takes an input state and produces an output state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9C6E926-85D9-FC16-9E86-D78290A7A364}"/>
              </a:ext>
            </a:extLst>
          </p:cNvPr>
          <p:cNvSpPr txBox="1"/>
          <p:nvPr/>
        </p:nvSpPr>
        <p:spPr>
          <a:xfrm>
            <a:off x="2269132" y="4121410"/>
            <a:ext cx="3629098" cy="646331"/>
          </a:xfrm>
          <a:prstGeom prst="rect">
            <a:avLst/>
          </a:prstGeom>
          <a:solidFill>
            <a:schemeClr val="accent4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IN" noProof="0" dirty="0">
                <a:solidFill>
                  <a:schemeClr val="bg1"/>
                </a:solidFill>
              </a:rPr>
              <a:t>Connects two nodes and decides how information flows through them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33DD474-090A-F881-C9C9-3A3C09399BBE}"/>
              </a:ext>
            </a:extLst>
          </p:cNvPr>
          <p:cNvSpPr txBox="1"/>
          <p:nvPr/>
        </p:nvSpPr>
        <p:spPr>
          <a:xfrm>
            <a:off x="5871571" y="423490"/>
            <a:ext cx="3629098" cy="646331"/>
          </a:xfrm>
          <a:prstGeom prst="rect">
            <a:avLst/>
          </a:prstGeom>
          <a:solidFill>
            <a:schemeClr val="accent4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IN" noProof="0" dirty="0">
                <a:solidFill>
                  <a:schemeClr val="bg1"/>
                </a:solidFill>
              </a:rPr>
              <a:t>The overall structure that organizes nodes and edges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3A6C80D0-CE97-8D71-EFE3-C2B43EC2CB0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29873" y="1195935"/>
            <a:ext cx="3312495" cy="5393323"/>
          </a:xfrm>
          <a:prstGeom prst="rect">
            <a:avLst/>
          </a:prstGeom>
        </p:spPr>
      </p:pic>
      <p:sp>
        <p:nvSpPr>
          <p:cNvPr id="11" name="Oval 10">
            <a:extLst>
              <a:ext uri="{FF2B5EF4-FFF2-40B4-BE49-F238E27FC236}">
                <a16:creationId xmlns:a16="http://schemas.microsoft.com/office/drawing/2014/main" id="{D9B548EF-589E-DC04-C7E0-608E3985A153}"/>
              </a:ext>
            </a:extLst>
          </p:cNvPr>
          <p:cNvSpPr/>
          <p:nvPr/>
        </p:nvSpPr>
        <p:spPr>
          <a:xfrm>
            <a:off x="1024295" y="2443048"/>
            <a:ext cx="1165686" cy="59331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b="1" noProof="0" dirty="0">
                <a:solidFill>
                  <a:srgbClr val="FF0000"/>
                </a:solidFill>
              </a:rPr>
              <a:t>Node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D38CF3B4-29BD-B289-F395-AF709CB2C470}"/>
              </a:ext>
            </a:extLst>
          </p:cNvPr>
          <p:cNvSpPr/>
          <p:nvPr/>
        </p:nvSpPr>
        <p:spPr>
          <a:xfrm>
            <a:off x="1024295" y="4174428"/>
            <a:ext cx="1165686" cy="59331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b="1" noProof="0" dirty="0">
                <a:solidFill>
                  <a:srgbClr val="FF0000"/>
                </a:solidFill>
              </a:rPr>
              <a:t>Edge</a:t>
            </a: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1858EDEA-1E5C-6465-3D4D-81D933BF5887}"/>
              </a:ext>
            </a:extLst>
          </p:cNvPr>
          <p:cNvSpPr/>
          <p:nvPr/>
        </p:nvSpPr>
        <p:spPr>
          <a:xfrm>
            <a:off x="9619807" y="434593"/>
            <a:ext cx="1165686" cy="59331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b="1" noProof="0" dirty="0">
                <a:solidFill>
                  <a:srgbClr val="FF0000"/>
                </a:solidFill>
              </a:rPr>
              <a:t>Graph</a:t>
            </a: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AB8151AD-D564-9BF3-31AD-56AC5D3A5760}"/>
              </a:ext>
            </a:extLst>
          </p:cNvPr>
          <p:cNvSpPr/>
          <p:nvPr/>
        </p:nvSpPr>
        <p:spPr>
          <a:xfrm>
            <a:off x="1035396" y="5540399"/>
            <a:ext cx="1165686" cy="59331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b="1" noProof="0" dirty="0">
                <a:solidFill>
                  <a:srgbClr val="FF0000"/>
                </a:solidFill>
              </a:rPr>
              <a:t>State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D5A2205B-1530-2A89-ADFC-BC7726C64C8A}"/>
              </a:ext>
            </a:extLst>
          </p:cNvPr>
          <p:cNvCxnSpPr/>
          <p:nvPr/>
        </p:nvCxnSpPr>
        <p:spPr>
          <a:xfrm>
            <a:off x="5947091" y="5772581"/>
            <a:ext cx="1347169" cy="0"/>
          </a:xfrm>
          <a:prstGeom prst="straightConnector1">
            <a:avLst/>
          </a:prstGeom>
          <a:ln w="28575"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A0CCB02A-8881-0160-9F83-48A7B89F1939}"/>
              </a:ext>
            </a:extLst>
          </p:cNvPr>
          <p:cNvSpPr txBox="1"/>
          <p:nvPr/>
        </p:nvSpPr>
        <p:spPr>
          <a:xfrm>
            <a:off x="8187720" y="5464598"/>
            <a:ext cx="928361" cy="646331"/>
          </a:xfrm>
          <a:prstGeom prst="rect">
            <a:avLst/>
          </a:prstGeom>
          <a:gradFill>
            <a:gsLst>
              <a:gs pos="0">
                <a:srgbClr val="FFFF00"/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</p:spPr>
        <p:txBody>
          <a:bodyPr wrap="square" rtlCol="0">
            <a:spAutoFit/>
          </a:bodyPr>
          <a:lstStyle/>
          <a:p>
            <a:pPr algn="ctr"/>
            <a:r>
              <a:rPr lang="en-IN" noProof="0" dirty="0"/>
              <a:t>Final balance</a:t>
            </a:r>
          </a:p>
        </p:txBody>
      </p:sp>
    </p:spTree>
    <p:extLst>
      <p:ext uri="{BB962C8B-B14F-4D97-AF65-F5344CB8AC3E}">
        <p14:creationId xmlns:p14="http://schemas.microsoft.com/office/powerpoint/2010/main" val="3397234998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BE631A-5B43-426A-4481-A91BA2DE34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40837D-9543-B95F-D9A8-C2ABD6B7E3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IN" sz="3600" noProof="0" dirty="0"/>
              <a:t>First </a:t>
            </a:r>
            <a:r>
              <a:rPr lang="en-IN" sz="3600" noProof="0" dirty="0" err="1"/>
              <a:t>LangGraph</a:t>
            </a:r>
            <a:r>
              <a:rPr lang="en-IN" sz="3600" noProof="0" dirty="0"/>
              <a:t> Application </a:t>
            </a:r>
            <a:r>
              <a:rPr lang="en-IN" sz="3200" noProof="0" dirty="0"/>
              <a:t>(3_1_langgraph_basic.py)</a:t>
            </a:r>
            <a:endParaRPr lang="en-IN" sz="3600" noProof="0" dirty="0"/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CBA39C2E-21FA-04A5-51F0-156EE364917A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5772586" y="1837794"/>
          <a:ext cx="5884269" cy="2164080"/>
        </p:xfrm>
        <a:graphic>
          <a:graphicData uri="http://schemas.openxmlformats.org/drawingml/2006/table">
            <a:tbl>
              <a:tblPr>
                <a:tableStyleId>{9DCAF9ED-07DC-4A11-8D7F-57B35C25682E}</a:tableStyleId>
              </a:tblPr>
              <a:tblGrid>
                <a:gridCol w="1430932">
                  <a:extLst>
                    <a:ext uri="{9D8B030D-6E8A-4147-A177-3AD203B41FA5}">
                      <a16:colId xmlns:a16="http://schemas.microsoft.com/office/drawing/2014/main" val="2390569819"/>
                    </a:ext>
                  </a:extLst>
                </a:gridCol>
                <a:gridCol w="4453337">
                  <a:extLst>
                    <a:ext uri="{9D8B030D-6E8A-4147-A177-3AD203B41FA5}">
                      <a16:colId xmlns:a16="http://schemas.microsoft.com/office/drawing/2014/main" val="3223538110"/>
                    </a:ext>
                  </a:extLst>
                </a:gridCol>
              </a:tblGrid>
              <a:tr h="17209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b="1" noProof="0" dirty="0"/>
                        <a:t>Class / Constant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b="1" noProof="0" dirty="0"/>
                        <a:t>Description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6313162"/>
                  </a:ext>
                </a:extLst>
              </a:tr>
              <a:tr h="30116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b="1" noProof="0" dirty="0" err="1"/>
                        <a:t>StateGraph</a:t>
                      </a:r>
                      <a:endParaRPr lang="en-IN" sz="1400" noProof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noProof="0" dirty="0"/>
                        <a:t>The main class for building graphs in </a:t>
                      </a:r>
                      <a:r>
                        <a:rPr lang="en-IN" sz="1400" noProof="0" dirty="0" err="1"/>
                        <a:t>LangGraph</a:t>
                      </a:r>
                      <a:endParaRPr lang="en-IN" sz="1400" noProof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77452833"/>
                  </a:ext>
                </a:extLst>
              </a:tr>
              <a:tr h="43023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b="1" noProof="0" dirty="0"/>
                        <a:t>START / END</a:t>
                      </a:r>
                      <a:endParaRPr lang="en-IN" sz="1400" noProof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noProof="0" dirty="0"/>
                        <a:t>Special constants representing entry and exit points of the graph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24298840"/>
                  </a:ext>
                </a:extLst>
              </a:tr>
              <a:tr h="43023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b="1" noProof="0" dirty="0" err="1"/>
                        <a:t>ChatOpenAI</a:t>
                      </a:r>
                      <a:endParaRPr lang="en-IN" sz="1400" noProof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noProof="0" dirty="0"/>
                        <a:t>The OpenAI integration from </a:t>
                      </a:r>
                      <a:r>
                        <a:rPr lang="en-IN" sz="1400" noProof="0" dirty="0" err="1"/>
                        <a:t>LangChain</a:t>
                      </a:r>
                      <a:r>
                        <a:rPr lang="en-IN" sz="1400" noProof="0" dirty="0"/>
                        <a:t>, used for connecting language models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9470750"/>
                  </a:ext>
                </a:extLst>
              </a:tr>
              <a:tr h="43023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b="1" noProof="0" dirty="0" err="1"/>
                        <a:t>TypedDict</a:t>
                      </a:r>
                      <a:endParaRPr lang="en-IN" sz="1400" noProof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noProof="0" dirty="0"/>
                        <a:t>Used to define the structure and types of data that flows through the graph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66235941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B6A50B62-FCEB-47AB-2A9F-A11A867AC038}"/>
              </a:ext>
            </a:extLst>
          </p:cNvPr>
          <p:cNvSpPr txBox="1"/>
          <p:nvPr/>
        </p:nvSpPr>
        <p:spPr>
          <a:xfrm>
            <a:off x="169854" y="2394193"/>
            <a:ext cx="5517809" cy="738664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IN" sz="14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from </a:t>
            </a:r>
            <a:r>
              <a:rPr lang="en-IN" sz="1400" noProof="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langgraph.graph</a:t>
            </a:r>
            <a:r>
              <a:rPr lang="en-IN" sz="14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 import </a:t>
            </a:r>
            <a:r>
              <a:rPr lang="en-IN" sz="1400" noProof="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StateGraph</a:t>
            </a:r>
            <a:r>
              <a:rPr lang="en-IN" sz="14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, START, END</a:t>
            </a:r>
          </a:p>
          <a:p>
            <a:r>
              <a:rPr lang="en-IN" sz="14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from </a:t>
            </a:r>
            <a:r>
              <a:rPr lang="en-IN" sz="1400" noProof="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langchain_openai</a:t>
            </a:r>
            <a:r>
              <a:rPr lang="en-IN" sz="14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 import </a:t>
            </a:r>
            <a:r>
              <a:rPr lang="en-IN" sz="1400" noProof="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ChatOpenAI</a:t>
            </a:r>
            <a:endParaRPr lang="en-IN" sz="1400" noProof="0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IN" sz="14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from typing import </a:t>
            </a:r>
            <a:r>
              <a:rPr lang="en-IN" sz="1400" noProof="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TypedDict</a:t>
            </a:r>
            <a:endParaRPr lang="en-IN" sz="1400" noProof="0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6DED3AF-2217-4A8D-6B65-92820AFA4A0B}"/>
              </a:ext>
            </a:extLst>
          </p:cNvPr>
          <p:cNvSpPr txBox="1"/>
          <p:nvPr/>
        </p:nvSpPr>
        <p:spPr>
          <a:xfrm>
            <a:off x="169853" y="4612718"/>
            <a:ext cx="5517809" cy="95410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IN" sz="14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class </a:t>
            </a:r>
            <a:r>
              <a:rPr lang="en-IN" sz="1400" noProof="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GraphState</a:t>
            </a:r>
            <a:r>
              <a:rPr lang="en-IN" sz="14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(</a:t>
            </a:r>
            <a:r>
              <a:rPr lang="en-IN" sz="1400" noProof="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TypedDict</a:t>
            </a:r>
            <a:r>
              <a:rPr lang="en-IN" sz="14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):</a:t>
            </a:r>
          </a:p>
          <a:p>
            <a:r>
              <a:rPr lang="en-IN" sz="14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    </a:t>
            </a:r>
            <a:r>
              <a:rPr lang="en-IN" sz="1400" noProof="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user_name</a:t>
            </a:r>
            <a:r>
              <a:rPr lang="en-IN" sz="14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: str</a:t>
            </a:r>
          </a:p>
          <a:p>
            <a:r>
              <a:rPr lang="en-IN" sz="14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    greeting: str</a:t>
            </a:r>
          </a:p>
          <a:p>
            <a:r>
              <a:rPr lang="en-IN" sz="14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    messages: list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62C7F87-A376-7B1B-4A15-1C2AF6E56FF9}"/>
              </a:ext>
            </a:extLst>
          </p:cNvPr>
          <p:cNvSpPr txBox="1"/>
          <p:nvPr/>
        </p:nvSpPr>
        <p:spPr>
          <a:xfrm>
            <a:off x="5772585" y="4292794"/>
            <a:ext cx="5884269" cy="2308324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IN" noProof="0" dirty="0" err="1"/>
              <a:t>LangGraph</a:t>
            </a:r>
            <a:r>
              <a:rPr lang="en-IN" noProof="0" dirty="0"/>
              <a:t> uses a </a:t>
            </a:r>
            <a:r>
              <a:rPr lang="en-IN" noProof="0" dirty="0">
                <a:solidFill>
                  <a:srgbClr val="FF0000"/>
                </a:solidFill>
              </a:rPr>
              <a:t>state-based architecture</a:t>
            </a:r>
            <a:r>
              <a:rPr lang="en-IN" noProof="0" dirty="0"/>
              <a:t>. Instead of passing data between individual nodes, all data flows through a shared "state" object. Think of it like a shared clipboard that each step can read from and write to.</a:t>
            </a:r>
          </a:p>
          <a:p>
            <a:endParaRPr lang="en-IN" noProof="0" dirty="0"/>
          </a:p>
          <a:p>
            <a:r>
              <a:rPr lang="en-IN" noProof="0" dirty="0" err="1"/>
              <a:t>user_name</a:t>
            </a:r>
            <a:r>
              <a:rPr lang="en-IN" noProof="0" dirty="0"/>
              <a:t>: Stores the user's name</a:t>
            </a:r>
          </a:p>
          <a:p>
            <a:r>
              <a:rPr lang="en-IN" noProof="0" dirty="0"/>
              <a:t>greeting: Stores the generated greeting message</a:t>
            </a:r>
          </a:p>
          <a:p>
            <a:r>
              <a:rPr lang="en-IN" noProof="0" dirty="0"/>
              <a:t>messages: Keeps a log of the conversation</a:t>
            </a:r>
          </a:p>
        </p:txBody>
      </p:sp>
    </p:spTree>
    <p:extLst>
      <p:ext uri="{BB962C8B-B14F-4D97-AF65-F5344CB8AC3E}">
        <p14:creationId xmlns:p14="http://schemas.microsoft.com/office/powerpoint/2010/main" val="2976976055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8F97C8-03AB-FB3C-C9AB-1E316F66E0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2CCD07-A8D9-FE15-5093-C76EF6E6CE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IN" sz="3600" noProof="0" dirty="0"/>
              <a:t>First </a:t>
            </a:r>
            <a:r>
              <a:rPr lang="en-IN" sz="3600" noProof="0" dirty="0" err="1"/>
              <a:t>LangGraph</a:t>
            </a:r>
            <a:r>
              <a:rPr lang="en-IN" sz="3600" noProof="0" dirty="0"/>
              <a:t> Application </a:t>
            </a:r>
            <a:r>
              <a:rPr lang="en-IN" sz="3200" noProof="0" dirty="0"/>
              <a:t>(3_1_langgraph_basic.py)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B96FCB7-9E58-A72C-79A1-C5FF565A77B0}"/>
              </a:ext>
            </a:extLst>
          </p:cNvPr>
          <p:cNvSpPr txBox="1"/>
          <p:nvPr/>
        </p:nvSpPr>
        <p:spPr>
          <a:xfrm>
            <a:off x="190795" y="1620062"/>
            <a:ext cx="5517809" cy="2246769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IN" sz="14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def </a:t>
            </a:r>
            <a:r>
              <a:rPr lang="en-IN" sz="1400" noProof="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ask_name_node</a:t>
            </a:r>
            <a:r>
              <a:rPr lang="en-IN" sz="14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(state: </a:t>
            </a:r>
            <a:r>
              <a:rPr lang="en-IN" sz="1400" noProof="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GraphState</a:t>
            </a:r>
            <a:r>
              <a:rPr lang="en-IN" sz="14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) -&gt; </a:t>
            </a:r>
            <a:r>
              <a:rPr lang="en-IN" sz="1400" noProof="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GraphState</a:t>
            </a:r>
            <a:r>
              <a:rPr lang="en-IN" sz="14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:</a:t>
            </a:r>
          </a:p>
          <a:p>
            <a:r>
              <a:rPr lang="en-IN" sz="14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    </a:t>
            </a:r>
            <a:r>
              <a:rPr lang="en-IN" sz="1400" noProof="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user_input</a:t>
            </a:r>
            <a:r>
              <a:rPr lang="en-IN" sz="14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 = input("Bot: What is your name? ")</a:t>
            </a:r>
          </a:p>
          <a:p>
            <a:r>
              <a:rPr lang="en-IN" sz="14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    </a:t>
            </a:r>
          </a:p>
          <a:p>
            <a:r>
              <a:rPr lang="en-IN" sz="14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    return {</a:t>
            </a:r>
          </a:p>
          <a:p>
            <a:r>
              <a:rPr lang="en-IN" sz="14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        **state,</a:t>
            </a:r>
          </a:p>
          <a:p>
            <a:r>
              <a:rPr lang="en-IN" sz="14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        "</a:t>
            </a:r>
            <a:r>
              <a:rPr lang="en-IN" sz="1400" noProof="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user_name</a:t>
            </a:r>
            <a:r>
              <a:rPr lang="en-IN" sz="14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": </a:t>
            </a:r>
            <a:r>
              <a:rPr lang="en-IN" sz="1400" noProof="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user_input</a:t>
            </a:r>
            <a:r>
              <a:rPr lang="en-IN" sz="14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,</a:t>
            </a:r>
          </a:p>
          <a:p>
            <a:r>
              <a:rPr lang="en-IN" sz="14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        "messages": </a:t>
            </a:r>
            <a:r>
              <a:rPr lang="en-IN" sz="1400" noProof="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state.get</a:t>
            </a:r>
            <a:r>
              <a:rPr lang="en-IN" sz="14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("messages", []) + [</a:t>
            </a:r>
            <a:r>
              <a:rPr lang="en-IN" sz="1400" noProof="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f"User</a:t>
            </a:r>
            <a:r>
              <a:rPr lang="en-IN" sz="14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 provided name: {</a:t>
            </a:r>
            <a:r>
              <a:rPr lang="en-IN" sz="1400" noProof="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user_input</a:t>
            </a:r>
            <a:r>
              <a:rPr lang="en-IN" sz="14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}"]</a:t>
            </a:r>
          </a:p>
          <a:p>
            <a:r>
              <a:rPr lang="en-IN" sz="14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    }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E9599F19-92AF-D6E3-7DD0-D0A668D110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 noProof="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5B613B6-D2B8-B63F-B45C-4575566157D8}"/>
              </a:ext>
            </a:extLst>
          </p:cNvPr>
          <p:cNvSpPr txBox="1"/>
          <p:nvPr/>
        </p:nvSpPr>
        <p:spPr>
          <a:xfrm>
            <a:off x="5765607" y="1777706"/>
            <a:ext cx="5465460" cy="175432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b="1" noProof="0" dirty="0"/>
              <a:t>Node function 1</a:t>
            </a:r>
          </a:p>
          <a:p>
            <a:r>
              <a:rPr lang="en-IN" noProof="0" dirty="0"/>
              <a:t>Takes the current state as input</a:t>
            </a:r>
          </a:p>
          <a:p>
            <a:r>
              <a:rPr lang="en-IN" noProof="0" dirty="0"/>
              <a:t>Asks user for their name</a:t>
            </a:r>
          </a:p>
          <a:p>
            <a:r>
              <a:rPr lang="en-IN" noProof="0" dirty="0"/>
              <a:t>Returns a </a:t>
            </a:r>
            <a:r>
              <a:rPr lang="en-IN" b="1" noProof="0" dirty="0"/>
              <a:t>new state </a:t>
            </a:r>
            <a:r>
              <a:rPr lang="en-IN" noProof="0" dirty="0"/>
              <a:t>with updated information</a:t>
            </a:r>
          </a:p>
          <a:p>
            <a:pPr lvl="1"/>
            <a:r>
              <a:rPr lang="en-IN" noProof="0" dirty="0"/>
              <a:t>**state copies all existing state data</a:t>
            </a:r>
          </a:p>
          <a:p>
            <a:pPr lvl="1"/>
            <a:r>
              <a:rPr lang="en-IN" noProof="0" dirty="0"/>
              <a:t>Updates specific fields (</a:t>
            </a:r>
            <a:r>
              <a:rPr lang="en-IN" noProof="0" dirty="0" err="1"/>
              <a:t>user_name</a:t>
            </a:r>
            <a:r>
              <a:rPr lang="en-IN" noProof="0" dirty="0"/>
              <a:t>, messages)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2E4F228-FA84-C6B3-20A3-4E31686A436A}"/>
              </a:ext>
            </a:extLst>
          </p:cNvPr>
          <p:cNvSpPr txBox="1"/>
          <p:nvPr/>
        </p:nvSpPr>
        <p:spPr>
          <a:xfrm>
            <a:off x="190795" y="3963130"/>
            <a:ext cx="5517809" cy="2677656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IN" sz="14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def </a:t>
            </a:r>
            <a:r>
              <a:rPr lang="en-IN" sz="1400" noProof="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greet_user_node</a:t>
            </a:r>
            <a:r>
              <a:rPr lang="en-IN" sz="14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(state: </a:t>
            </a:r>
            <a:r>
              <a:rPr lang="en-IN" sz="1400" noProof="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GraphState</a:t>
            </a:r>
            <a:r>
              <a:rPr lang="en-IN" sz="14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) -&gt; </a:t>
            </a:r>
            <a:r>
              <a:rPr lang="en-IN" sz="1400" noProof="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GraphState</a:t>
            </a:r>
            <a:r>
              <a:rPr lang="en-IN" sz="14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:</a:t>
            </a:r>
          </a:p>
          <a:p>
            <a:r>
              <a:rPr lang="en-IN" sz="14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    </a:t>
            </a:r>
            <a:r>
              <a:rPr lang="en-IN" sz="1400" noProof="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user_name</a:t>
            </a:r>
            <a:r>
              <a:rPr lang="en-IN" sz="14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 = </a:t>
            </a:r>
            <a:r>
              <a:rPr lang="en-IN" sz="1400" noProof="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state.get</a:t>
            </a:r>
            <a:r>
              <a:rPr lang="en-IN" sz="14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("</a:t>
            </a:r>
            <a:r>
              <a:rPr lang="en-IN" sz="1400" noProof="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user_name</a:t>
            </a:r>
            <a:r>
              <a:rPr lang="en-IN" sz="14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", "there")</a:t>
            </a:r>
          </a:p>
          <a:p>
            <a:r>
              <a:rPr lang="en-IN" sz="14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    greeting = </a:t>
            </a:r>
            <a:r>
              <a:rPr lang="en-IN" sz="1400" noProof="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f"Hello</a:t>
            </a:r>
            <a:r>
              <a:rPr lang="en-IN" sz="14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 {</a:t>
            </a:r>
            <a:r>
              <a:rPr lang="en-IN" sz="1400" noProof="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user_name</a:t>
            </a:r>
            <a:r>
              <a:rPr lang="en-IN" sz="14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}! Nice to meet you."</a:t>
            </a:r>
          </a:p>
          <a:p>
            <a:r>
              <a:rPr lang="en-IN" sz="14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    </a:t>
            </a:r>
          </a:p>
          <a:p>
            <a:r>
              <a:rPr lang="en-IN" sz="14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    return {</a:t>
            </a:r>
          </a:p>
          <a:p>
            <a:r>
              <a:rPr lang="en-IN" sz="14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        **state,</a:t>
            </a:r>
          </a:p>
          <a:p>
            <a:r>
              <a:rPr lang="en-IN" sz="14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        "greeting": greeting,</a:t>
            </a:r>
          </a:p>
          <a:p>
            <a:r>
              <a:rPr lang="en-IN" sz="14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        "messages": </a:t>
            </a:r>
            <a:r>
              <a:rPr lang="en-IN" sz="1400" noProof="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state.get</a:t>
            </a:r>
            <a:r>
              <a:rPr lang="en-IN" sz="14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("messages", []) + [</a:t>
            </a:r>
            <a:r>
              <a:rPr lang="en-IN" sz="1400" noProof="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f"Bot</a:t>
            </a:r>
            <a:r>
              <a:rPr lang="en-IN" sz="14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: {greeting}"]</a:t>
            </a:r>
          </a:p>
          <a:p>
            <a:r>
              <a:rPr lang="en-IN" sz="14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    }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1A0D6CD-F29D-1F36-0754-A4694BF42FCB}"/>
              </a:ext>
            </a:extLst>
          </p:cNvPr>
          <p:cNvSpPr txBox="1"/>
          <p:nvPr/>
        </p:nvSpPr>
        <p:spPr>
          <a:xfrm>
            <a:off x="5765607" y="4120774"/>
            <a:ext cx="5465460" cy="120032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b="1" noProof="0" dirty="0"/>
              <a:t>Node function 2</a:t>
            </a:r>
          </a:p>
          <a:p>
            <a:r>
              <a:rPr lang="en-IN" noProof="0" dirty="0"/>
              <a:t>Reads </a:t>
            </a:r>
            <a:r>
              <a:rPr lang="en-IN" noProof="0" dirty="0" err="1"/>
              <a:t>user_name</a:t>
            </a:r>
            <a:r>
              <a:rPr lang="en-IN" noProof="0" dirty="0"/>
              <a:t> from the current state</a:t>
            </a:r>
          </a:p>
          <a:p>
            <a:r>
              <a:rPr lang="en-IN" noProof="0" dirty="0"/>
              <a:t>Creates a personalized greeting</a:t>
            </a:r>
          </a:p>
          <a:p>
            <a:r>
              <a:rPr lang="en-IN" noProof="0" dirty="0"/>
              <a:t>Updates state with the greeting and conversation log</a:t>
            </a:r>
          </a:p>
        </p:txBody>
      </p:sp>
    </p:spTree>
    <p:extLst>
      <p:ext uri="{BB962C8B-B14F-4D97-AF65-F5344CB8AC3E}">
        <p14:creationId xmlns:p14="http://schemas.microsoft.com/office/powerpoint/2010/main" val="3454714155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A2E51B-37AA-5180-D724-E4F292179B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C7C13C-8BC4-63BD-D6C8-39CF661684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IN" sz="3600" noProof="0" dirty="0"/>
              <a:t>First </a:t>
            </a:r>
            <a:r>
              <a:rPr lang="en-IN" sz="3600" noProof="0" dirty="0" err="1"/>
              <a:t>LangGraph</a:t>
            </a:r>
            <a:r>
              <a:rPr lang="en-IN" sz="3600" noProof="0" dirty="0"/>
              <a:t> Application </a:t>
            </a:r>
            <a:r>
              <a:rPr lang="en-IN" sz="3200" noProof="0" dirty="0"/>
              <a:t>(3_1_langgraph_basic.py)</a:t>
            </a:r>
            <a:endParaRPr lang="en-IN" sz="3600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F1513CF-2D97-CDF7-6855-4605877419D8}"/>
              </a:ext>
            </a:extLst>
          </p:cNvPr>
          <p:cNvSpPr txBox="1"/>
          <p:nvPr/>
        </p:nvSpPr>
        <p:spPr>
          <a:xfrm>
            <a:off x="190795" y="2117194"/>
            <a:ext cx="5517809" cy="3108543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IN" sz="14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def </a:t>
            </a:r>
            <a:r>
              <a:rPr lang="en-IN" sz="1400" noProof="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create_greeting_graph</a:t>
            </a:r>
            <a:r>
              <a:rPr lang="en-IN" sz="14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():</a:t>
            </a:r>
          </a:p>
          <a:p>
            <a:r>
              <a:rPr lang="en-IN" sz="14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    workflow = </a:t>
            </a:r>
            <a:r>
              <a:rPr lang="en-IN" sz="1400" noProof="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StateGraph</a:t>
            </a:r>
            <a:r>
              <a:rPr lang="en-IN" sz="14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(</a:t>
            </a:r>
            <a:r>
              <a:rPr lang="en-IN" sz="1400" noProof="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GraphState</a:t>
            </a:r>
            <a:r>
              <a:rPr lang="en-IN" sz="14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)</a:t>
            </a:r>
          </a:p>
          <a:p>
            <a:r>
              <a:rPr lang="en-IN" sz="14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    </a:t>
            </a:r>
          </a:p>
          <a:p>
            <a:r>
              <a:rPr lang="en-IN" sz="14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    # Add nodes</a:t>
            </a:r>
          </a:p>
          <a:p>
            <a:r>
              <a:rPr lang="en-IN" sz="14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    </a:t>
            </a:r>
            <a:r>
              <a:rPr lang="en-IN" sz="1400" noProof="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workflow.add_node</a:t>
            </a:r>
            <a:r>
              <a:rPr lang="en-IN" sz="14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("</a:t>
            </a:r>
            <a:r>
              <a:rPr lang="en-IN" sz="1400" noProof="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ask_name</a:t>
            </a:r>
            <a:r>
              <a:rPr lang="en-IN" sz="14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", </a:t>
            </a:r>
            <a:r>
              <a:rPr lang="en-IN" sz="1400" noProof="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ask_name_node</a:t>
            </a:r>
            <a:r>
              <a:rPr lang="en-IN" sz="14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)</a:t>
            </a:r>
          </a:p>
          <a:p>
            <a:r>
              <a:rPr lang="en-IN" sz="14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    </a:t>
            </a:r>
            <a:r>
              <a:rPr lang="en-IN" sz="1400" noProof="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workflow.add_node</a:t>
            </a:r>
            <a:r>
              <a:rPr lang="en-IN" sz="14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("</a:t>
            </a:r>
            <a:r>
              <a:rPr lang="en-IN" sz="1400" noProof="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greet_user</a:t>
            </a:r>
            <a:r>
              <a:rPr lang="en-IN" sz="14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", </a:t>
            </a:r>
            <a:r>
              <a:rPr lang="en-IN" sz="1400" noProof="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greet_user_node</a:t>
            </a:r>
            <a:r>
              <a:rPr lang="en-IN" sz="14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)</a:t>
            </a:r>
          </a:p>
          <a:p>
            <a:r>
              <a:rPr lang="en-IN" sz="14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    </a:t>
            </a:r>
          </a:p>
          <a:p>
            <a:r>
              <a:rPr lang="en-IN" sz="14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    # Add edges</a:t>
            </a:r>
          </a:p>
          <a:p>
            <a:r>
              <a:rPr lang="en-IN" sz="14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    </a:t>
            </a:r>
            <a:r>
              <a:rPr lang="en-IN" sz="1400" noProof="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workflow.add_edge</a:t>
            </a:r>
            <a:r>
              <a:rPr lang="en-IN" sz="14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(START, "</a:t>
            </a:r>
            <a:r>
              <a:rPr lang="en-IN" sz="1400" noProof="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ask_name</a:t>
            </a:r>
            <a:r>
              <a:rPr lang="en-IN" sz="14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")</a:t>
            </a:r>
          </a:p>
          <a:p>
            <a:r>
              <a:rPr lang="en-IN" sz="14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    </a:t>
            </a:r>
            <a:r>
              <a:rPr lang="en-IN" sz="1400" noProof="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workflow.add_edge</a:t>
            </a:r>
            <a:r>
              <a:rPr lang="en-IN" sz="14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("</a:t>
            </a:r>
            <a:r>
              <a:rPr lang="en-IN" sz="1400" noProof="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ask_name</a:t>
            </a:r>
            <a:r>
              <a:rPr lang="en-IN" sz="14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", "</a:t>
            </a:r>
            <a:r>
              <a:rPr lang="en-IN" sz="1400" noProof="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greet_user</a:t>
            </a:r>
            <a:r>
              <a:rPr lang="en-IN" sz="14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")</a:t>
            </a:r>
          </a:p>
          <a:p>
            <a:r>
              <a:rPr lang="en-IN" sz="14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    </a:t>
            </a:r>
            <a:r>
              <a:rPr lang="en-IN" sz="1400" noProof="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workflow.add_edge</a:t>
            </a:r>
            <a:r>
              <a:rPr lang="en-IN" sz="14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("</a:t>
            </a:r>
            <a:r>
              <a:rPr lang="en-IN" sz="1400" noProof="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greet_user</a:t>
            </a:r>
            <a:r>
              <a:rPr lang="en-IN" sz="14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", END)</a:t>
            </a:r>
          </a:p>
          <a:p>
            <a:r>
              <a:rPr lang="en-IN" sz="14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    </a:t>
            </a:r>
          </a:p>
          <a:p>
            <a:r>
              <a:rPr lang="en-IN" sz="14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    return </a:t>
            </a:r>
            <a:r>
              <a:rPr lang="en-IN" sz="1400" noProof="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workflow.compile</a:t>
            </a:r>
            <a:r>
              <a:rPr lang="en-IN" sz="14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()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7832E842-61DC-B04E-DBC6-B84DF19375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 noProof="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AAF69CA-261C-0AF3-E4F7-232A6DFB0EFC}"/>
              </a:ext>
            </a:extLst>
          </p:cNvPr>
          <p:cNvSpPr txBox="1"/>
          <p:nvPr/>
        </p:nvSpPr>
        <p:spPr>
          <a:xfrm>
            <a:off x="5765607" y="2274838"/>
            <a:ext cx="5465460" cy="2308324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b="1" noProof="0" dirty="0"/>
              <a:t>Graph Construction</a:t>
            </a:r>
          </a:p>
          <a:p>
            <a:r>
              <a:rPr lang="en-IN" noProof="0" dirty="0"/>
              <a:t>Structure: START → </a:t>
            </a:r>
            <a:r>
              <a:rPr lang="en-IN" noProof="0" dirty="0" err="1"/>
              <a:t>ask_name</a:t>
            </a:r>
            <a:r>
              <a:rPr lang="en-IN" noProof="0" dirty="0"/>
              <a:t> → </a:t>
            </a:r>
            <a:r>
              <a:rPr lang="en-IN" noProof="0" dirty="0" err="1"/>
              <a:t>greet_user</a:t>
            </a:r>
            <a:r>
              <a:rPr lang="en-IN" noProof="0" dirty="0"/>
              <a:t> → END</a:t>
            </a:r>
          </a:p>
          <a:p>
            <a:endParaRPr lang="en-IN" noProof="0" dirty="0"/>
          </a:p>
          <a:p>
            <a:r>
              <a:rPr lang="en-IN" noProof="0" dirty="0"/>
              <a:t>Nodes represent processing steps (functions)</a:t>
            </a:r>
          </a:p>
          <a:p>
            <a:r>
              <a:rPr lang="en-IN" noProof="0" dirty="0"/>
              <a:t>Edges define the flow between steps</a:t>
            </a:r>
          </a:p>
          <a:p>
            <a:r>
              <a:rPr lang="en-IN" noProof="0" dirty="0"/>
              <a:t>START is where execution begins</a:t>
            </a:r>
          </a:p>
          <a:p>
            <a:r>
              <a:rPr lang="en-IN" noProof="0" dirty="0"/>
              <a:t>END is where execution terminates</a:t>
            </a:r>
          </a:p>
          <a:p>
            <a:r>
              <a:rPr lang="en-IN" noProof="0" dirty="0"/>
              <a:t>.compile() creates the executable graph</a:t>
            </a:r>
          </a:p>
        </p:txBody>
      </p:sp>
    </p:spTree>
    <p:extLst>
      <p:ext uri="{BB962C8B-B14F-4D97-AF65-F5344CB8AC3E}">
        <p14:creationId xmlns:p14="http://schemas.microsoft.com/office/powerpoint/2010/main" val="3399171209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A451D4-2F6A-77AD-905D-BEFEF3B073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6079CF-B612-A7E2-B853-DBEACF0582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IN" sz="3600" noProof="0" dirty="0"/>
              <a:t>First </a:t>
            </a:r>
            <a:r>
              <a:rPr lang="en-IN" sz="3600" noProof="0" dirty="0" err="1"/>
              <a:t>LangGraph</a:t>
            </a:r>
            <a:r>
              <a:rPr lang="en-IN" sz="3600" noProof="0" dirty="0"/>
              <a:t> Application </a:t>
            </a:r>
            <a:r>
              <a:rPr lang="en-IN" sz="3200" noProof="0" dirty="0"/>
              <a:t>(3_1_langgraph_basic.py)</a:t>
            </a:r>
            <a:endParaRPr lang="en-IN" sz="3600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F7E9372-AA0E-3103-FFDF-5F8F162FFB9C}"/>
              </a:ext>
            </a:extLst>
          </p:cNvPr>
          <p:cNvSpPr txBox="1"/>
          <p:nvPr/>
        </p:nvSpPr>
        <p:spPr>
          <a:xfrm>
            <a:off x="190795" y="2117194"/>
            <a:ext cx="5517809" cy="2677656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IN" sz="14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# Create the graph</a:t>
            </a:r>
          </a:p>
          <a:p>
            <a:r>
              <a:rPr lang="en-IN" sz="14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app = </a:t>
            </a:r>
            <a:r>
              <a:rPr lang="en-IN" sz="1400" noProof="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create_greeting_graph</a:t>
            </a:r>
            <a:r>
              <a:rPr lang="en-IN" sz="14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()</a:t>
            </a:r>
          </a:p>
          <a:p>
            <a:endParaRPr lang="en-IN" sz="1400" noProof="0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IN" sz="14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# Initialize state</a:t>
            </a:r>
          </a:p>
          <a:p>
            <a:r>
              <a:rPr lang="en-IN" sz="1400" noProof="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initial_state</a:t>
            </a:r>
            <a:r>
              <a:rPr lang="en-IN" sz="14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 = </a:t>
            </a:r>
            <a:r>
              <a:rPr lang="en-IN" sz="1400" noProof="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GraphState</a:t>
            </a:r>
            <a:r>
              <a:rPr lang="en-IN" sz="14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(</a:t>
            </a:r>
          </a:p>
          <a:p>
            <a:r>
              <a:rPr lang="en-IN" sz="14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    </a:t>
            </a:r>
            <a:r>
              <a:rPr lang="en-IN" sz="1400" noProof="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user_name</a:t>
            </a:r>
            <a:r>
              <a:rPr lang="en-IN" sz="14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="",</a:t>
            </a:r>
          </a:p>
          <a:p>
            <a:r>
              <a:rPr lang="en-IN" sz="14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    greeting="",</a:t>
            </a:r>
          </a:p>
          <a:p>
            <a:r>
              <a:rPr lang="en-IN" sz="14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    messages=[]</a:t>
            </a:r>
          </a:p>
          <a:p>
            <a:r>
              <a:rPr lang="en-IN" sz="14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)</a:t>
            </a:r>
          </a:p>
          <a:p>
            <a:endParaRPr lang="en-IN" sz="1400" noProof="0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IN" sz="14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# Run the graph</a:t>
            </a:r>
          </a:p>
          <a:p>
            <a:r>
              <a:rPr lang="en-IN" sz="1400" noProof="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final_state</a:t>
            </a:r>
            <a:r>
              <a:rPr lang="en-IN" sz="14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 = </a:t>
            </a:r>
            <a:r>
              <a:rPr lang="en-IN" sz="1400" noProof="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app.invoke</a:t>
            </a:r>
            <a:r>
              <a:rPr lang="en-IN" sz="14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(</a:t>
            </a:r>
            <a:r>
              <a:rPr lang="en-IN" sz="1400" noProof="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initial_state</a:t>
            </a:r>
            <a:r>
              <a:rPr lang="en-IN" sz="14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)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0D23DBD-02DA-F510-EED2-6B0E42F0605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 noProof="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1CBAD3E-0C4D-7571-BFDC-8E177148902C}"/>
              </a:ext>
            </a:extLst>
          </p:cNvPr>
          <p:cNvSpPr txBox="1"/>
          <p:nvPr/>
        </p:nvSpPr>
        <p:spPr>
          <a:xfrm>
            <a:off x="5765607" y="2274838"/>
            <a:ext cx="5465460" cy="147732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b="1" noProof="0" dirty="0"/>
              <a:t>Execution</a:t>
            </a:r>
          </a:p>
          <a:p>
            <a:pPr marL="342900" indent="-342900">
              <a:buFont typeface="+mj-lt"/>
              <a:buAutoNum type="arabicPeriod"/>
            </a:pPr>
            <a:r>
              <a:rPr lang="en-IN" noProof="0" dirty="0"/>
              <a:t>Initialize: Create empty state</a:t>
            </a:r>
          </a:p>
          <a:p>
            <a:pPr marL="342900" indent="-342900">
              <a:buFont typeface="+mj-lt"/>
              <a:buAutoNum type="arabicPeriod"/>
            </a:pPr>
            <a:r>
              <a:rPr lang="en-IN" noProof="0" dirty="0"/>
              <a:t>Invoke: Start execution at START node</a:t>
            </a:r>
          </a:p>
          <a:p>
            <a:pPr marL="342900" indent="-342900">
              <a:buFont typeface="+mj-lt"/>
              <a:buAutoNum type="arabicPeriod"/>
            </a:pPr>
            <a:r>
              <a:rPr lang="en-IN" noProof="0" dirty="0"/>
              <a:t>Flow: State passes through: </a:t>
            </a:r>
            <a:r>
              <a:rPr lang="en-IN" noProof="0" dirty="0" err="1"/>
              <a:t>ask_name</a:t>
            </a:r>
            <a:r>
              <a:rPr lang="en-IN" noProof="0" dirty="0"/>
              <a:t> → </a:t>
            </a:r>
            <a:r>
              <a:rPr lang="en-IN" noProof="0" dirty="0" err="1"/>
              <a:t>greet_user</a:t>
            </a:r>
            <a:endParaRPr lang="en-IN" noProof="0" dirty="0"/>
          </a:p>
          <a:p>
            <a:pPr marL="342900" indent="-342900">
              <a:buFont typeface="+mj-lt"/>
              <a:buAutoNum type="arabicPeriod"/>
            </a:pPr>
            <a:r>
              <a:rPr lang="en-IN" noProof="0" dirty="0"/>
              <a:t>Result: Get final state with all accumulated data</a:t>
            </a:r>
          </a:p>
        </p:txBody>
      </p:sp>
    </p:spTree>
    <p:extLst>
      <p:ext uri="{BB962C8B-B14F-4D97-AF65-F5344CB8AC3E}">
        <p14:creationId xmlns:p14="http://schemas.microsoft.com/office/powerpoint/2010/main" val="4052565202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E0DD70-3D97-70DC-67F8-2CA73976E3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IN" sz="3200" dirty="0" err="1"/>
              <a:t>LangGraph</a:t>
            </a:r>
            <a:r>
              <a:rPr lang="en-IN" sz="3200" dirty="0"/>
              <a:t> Reducer </a:t>
            </a:r>
            <a:br>
              <a:rPr lang="en-IN" sz="3200" dirty="0"/>
            </a:br>
            <a:r>
              <a:rPr lang="en-IN" sz="2400" dirty="0"/>
              <a:t>(</a:t>
            </a:r>
            <a:r>
              <a:rPr lang="en-US" sz="2400" dirty="0"/>
              <a:t>3_2_langgraph_without_reducer.py, 3_3_langgraph_without_reducer.py)</a:t>
            </a:r>
            <a:endParaRPr lang="en-GB" sz="2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77D955-A403-45D0-E353-0C027A3252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23951"/>
            <a:ext cx="10515600" cy="4753012"/>
          </a:xfrm>
        </p:spPr>
        <p:txBody>
          <a:bodyPr/>
          <a:lstStyle/>
          <a:p>
            <a:r>
              <a:rPr lang="en-US" b="1" dirty="0"/>
              <a:t>Reducer</a:t>
            </a:r>
            <a:r>
              <a:rPr lang="en-US" dirty="0"/>
              <a:t>: Defines how state values are merged when multiple nodes write to the same key</a:t>
            </a:r>
          </a:p>
          <a:p>
            <a:r>
              <a:rPr lang="en-US" dirty="0"/>
              <a:t>Answers the question: “When many agents update the same state, how do we combine it?”</a:t>
            </a:r>
          </a:p>
          <a:p>
            <a:endParaRPr lang="en-GB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31B39E5-6800-419E-5656-9D37E4A02DA6}"/>
              </a:ext>
            </a:extLst>
          </p:cNvPr>
          <p:cNvSpPr txBox="1"/>
          <p:nvPr/>
        </p:nvSpPr>
        <p:spPr>
          <a:xfrm>
            <a:off x="551432" y="3622698"/>
            <a:ext cx="4837246" cy="286232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IN" b="1" dirty="0"/>
              <a:t>Without reducer</a:t>
            </a:r>
          </a:p>
          <a:p>
            <a:endParaRPr lang="en-GB" dirty="0"/>
          </a:p>
          <a:p>
            <a:r>
              <a:rPr lang="en-US" dirty="0"/>
              <a:t>class State(</a:t>
            </a:r>
            <a:r>
              <a:rPr lang="en-US" dirty="0" err="1"/>
              <a:t>TypedDict</a:t>
            </a:r>
            <a:r>
              <a:rPr lang="en-US" dirty="0"/>
              <a:t>):</a:t>
            </a:r>
          </a:p>
          <a:p>
            <a:r>
              <a:rPr lang="en-US" dirty="0"/>
              <a:t>    messages: List[str]</a:t>
            </a:r>
          </a:p>
          <a:p>
            <a:endParaRPr lang="en-US" dirty="0"/>
          </a:p>
          <a:p>
            <a:r>
              <a:rPr lang="en-US" dirty="0"/>
              <a:t>def </a:t>
            </a:r>
            <a:r>
              <a:rPr lang="en-US" dirty="0" err="1"/>
              <a:t>agent_a</a:t>
            </a:r>
            <a:r>
              <a:rPr lang="en-US" dirty="0"/>
              <a:t>(state: State):</a:t>
            </a:r>
          </a:p>
          <a:p>
            <a:r>
              <a:rPr lang="en-US" strike="sngStrike" dirty="0"/>
              <a:t>    return {"messages": ["Hello from Agent A"]}</a:t>
            </a:r>
          </a:p>
          <a:p>
            <a:endParaRPr lang="en-US" dirty="0"/>
          </a:p>
          <a:p>
            <a:r>
              <a:rPr lang="en-US" dirty="0"/>
              <a:t>def </a:t>
            </a:r>
            <a:r>
              <a:rPr lang="en-US" dirty="0" err="1"/>
              <a:t>agent_b</a:t>
            </a:r>
            <a:r>
              <a:rPr lang="en-US" dirty="0"/>
              <a:t>(state: State):</a:t>
            </a:r>
          </a:p>
          <a:p>
            <a:r>
              <a:rPr lang="en-US" dirty="0"/>
              <a:t>    return {"messages": ["Hello from Agent B"]}</a:t>
            </a:r>
            <a:endParaRPr lang="en-GB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0D65E82-1BB1-5B47-ACCD-64CDD63607D4}"/>
              </a:ext>
            </a:extLst>
          </p:cNvPr>
          <p:cNvSpPr txBox="1"/>
          <p:nvPr/>
        </p:nvSpPr>
        <p:spPr>
          <a:xfrm>
            <a:off x="5833953" y="2880701"/>
            <a:ext cx="5913644" cy="3693319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IN" b="1" dirty="0"/>
              <a:t>With reducer</a:t>
            </a:r>
          </a:p>
          <a:p>
            <a:endParaRPr lang="en-IN" dirty="0"/>
          </a:p>
          <a:p>
            <a:r>
              <a:rPr lang="en-US" dirty="0"/>
              <a:t>def </a:t>
            </a:r>
            <a:r>
              <a:rPr lang="en-US" dirty="0" err="1">
                <a:solidFill>
                  <a:srgbClr val="FF0000"/>
                </a:solidFill>
              </a:rPr>
              <a:t>add_messages</a:t>
            </a:r>
            <a:r>
              <a:rPr lang="en-US" dirty="0"/>
              <a:t>(old: List[str], new: List[str]) -&gt; List[str]:</a:t>
            </a:r>
          </a:p>
          <a:p>
            <a:r>
              <a:rPr lang="en-US" dirty="0"/>
              <a:t>    return old + new # This is the reducer function</a:t>
            </a:r>
          </a:p>
          <a:p>
            <a:endParaRPr lang="en-US" dirty="0"/>
          </a:p>
          <a:p>
            <a:r>
              <a:rPr lang="en-US" dirty="0"/>
              <a:t>class State(</a:t>
            </a:r>
            <a:r>
              <a:rPr lang="en-US" dirty="0" err="1"/>
              <a:t>TypedDict</a:t>
            </a:r>
            <a:r>
              <a:rPr lang="en-US" dirty="0"/>
              <a:t>):</a:t>
            </a:r>
          </a:p>
          <a:p>
            <a:r>
              <a:rPr lang="en-US" dirty="0"/>
              <a:t>    messages: </a:t>
            </a:r>
            <a:r>
              <a:rPr lang="en-US" dirty="0">
                <a:solidFill>
                  <a:srgbClr val="FF0000"/>
                </a:solidFill>
              </a:rPr>
              <a:t>Annotated[List[str], </a:t>
            </a:r>
            <a:r>
              <a:rPr lang="en-US" dirty="0" err="1">
                <a:solidFill>
                  <a:srgbClr val="FF0000"/>
                </a:solidFill>
              </a:rPr>
              <a:t>add_messages</a:t>
            </a:r>
            <a:r>
              <a:rPr lang="en-US" dirty="0"/>
              <a:t>]</a:t>
            </a:r>
          </a:p>
          <a:p>
            <a:endParaRPr lang="en-US" dirty="0"/>
          </a:p>
          <a:p>
            <a:r>
              <a:rPr lang="en-US" dirty="0"/>
              <a:t>def </a:t>
            </a:r>
            <a:r>
              <a:rPr lang="en-US" dirty="0" err="1"/>
              <a:t>agent_a</a:t>
            </a:r>
            <a:r>
              <a:rPr lang="en-US" dirty="0"/>
              <a:t>(state: State):</a:t>
            </a:r>
          </a:p>
          <a:p>
            <a:r>
              <a:rPr lang="en-US" dirty="0"/>
              <a:t>    return {"messages": ["Hello from Agent A"]} # Not lost</a:t>
            </a:r>
            <a:br>
              <a:rPr lang="en-US" dirty="0"/>
            </a:br>
            <a:endParaRPr lang="en-US" dirty="0"/>
          </a:p>
          <a:p>
            <a:r>
              <a:rPr lang="en-US" dirty="0"/>
              <a:t>def </a:t>
            </a:r>
            <a:r>
              <a:rPr lang="en-US" dirty="0" err="1"/>
              <a:t>agent_b</a:t>
            </a:r>
            <a:r>
              <a:rPr lang="en-US" dirty="0"/>
              <a:t>(state: State):</a:t>
            </a:r>
          </a:p>
          <a:p>
            <a:r>
              <a:rPr lang="en-US" dirty="0"/>
              <a:t>    return {"messages": ["Hello from Agent B"]}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154802201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EBED00-06AC-B941-A8D9-CF0B1F177A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Using Reducer with LLM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E9FB02-19FF-5E49-235D-AD7E8A5F4C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Check the product return policy of two e-commerce websites</a:t>
            </a:r>
          </a:p>
          <a:p>
            <a:r>
              <a:rPr lang="en-IN" dirty="0"/>
              <a:t>Use a reducer to combine the outputs of the two</a:t>
            </a:r>
          </a:p>
          <a:p>
            <a:r>
              <a:rPr lang="en-IN" dirty="0"/>
              <a:t>Create two agents and run them in parallel</a:t>
            </a:r>
          </a:p>
          <a:p>
            <a:r>
              <a:rPr lang="en-IN" dirty="0"/>
              <a:t>Code: 3_4_langgraph_reducer_return_policy.py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630465034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35102A-41F6-F380-89C7-C87FC94816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"/>
            <a:ext cx="10515600" cy="681036"/>
          </a:xfrm>
        </p:spPr>
        <p:txBody>
          <a:bodyPr>
            <a:normAutofit fontScale="90000"/>
          </a:bodyPr>
          <a:lstStyle/>
          <a:p>
            <a:r>
              <a:rPr lang="en-IN" dirty="0"/>
              <a:t>Looping in </a:t>
            </a:r>
            <a:r>
              <a:rPr lang="en-IN" dirty="0" err="1"/>
              <a:t>LangGraph</a:t>
            </a:r>
            <a:r>
              <a:rPr lang="en-IN" dirty="0"/>
              <a:t> (3_5_langgraph_loop.py)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5C95C5-8E14-90C7-B2E5-ADEF6C4808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781777"/>
            <a:ext cx="10515600" cy="5395186"/>
          </a:xfrm>
        </p:spPr>
        <p:txBody>
          <a:bodyPr>
            <a:normAutofit/>
          </a:bodyPr>
          <a:lstStyle/>
          <a:p>
            <a:r>
              <a:rPr lang="en-US" b="1" dirty="0"/>
              <a:t>Loop</a:t>
            </a:r>
            <a:r>
              <a:rPr lang="en-US" dirty="0"/>
              <a:t>: A node can run more than once, based on state</a:t>
            </a:r>
          </a:p>
          <a:p>
            <a:endParaRPr lang="en-GB" dirty="0"/>
          </a:p>
        </p:txBody>
      </p:sp>
      <p:sp>
        <p:nvSpPr>
          <p:cNvPr id="9" name="Rectangle: Folded Corner 8">
            <a:extLst>
              <a:ext uri="{FF2B5EF4-FFF2-40B4-BE49-F238E27FC236}">
                <a16:creationId xmlns:a16="http://schemas.microsoft.com/office/drawing/2014/main" id="{B3F4F482-C065-87D7-CED4-A5292651ADB1}"/>
              </a:ext>
            </a:extLst>
          </p:cNvPr>
          <p:cNvSpPr/>
          <p:nvPr/>
        </p:nvSpPr>
        <p:spPr>
          <a:xfrm>
            <a:off x="781777" y="1312268"/>
            <a:ext cx="2938644" cy="1863701"/>
          </a:xfrm>
          <a:prstGeom prst="foldedCorner">
            <a:avLst/>
          </a:prstGeom>
          <a:solidFill>
            <a:schemeClr val="accent3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dirty="0"/>
              <a:t>class </a:t>
            </a:r>
            <a:r>
              <a:rPr lang="en-US" sz="1400" dirty="0" err="1"/>
              <a:t>AgentState</a:t>
            </a:r>
            <a:r>
              <a:rPr lang="en-US" sz="1400" dirty="0"/>
              <a:t>(</a:t>
            </a:r>
            <a:r>
              <a:rPr lang="en-US" sz="1400" dirty="0" err="1"/>
              <a:t>TypedDict</a:t>
            </a:r>
            <a:r>
              <a:rPr lang="en-US" sz="1400" dirty="0"/>
              <a:t>):</a:t>
            </a:r>
          </a:p>
          <a:p>
            <a:r>
              <a:rPr lang="en-US" sz="1400" dirty="0"/>
              <a:t>    question: str</a:t>
            </a:r>
          </a:p>
          <a:p>
            <a:r>
              <a:rPr lang="en-US" sz="1400" dirty="0"/>
              <a:t>    answer: str</a:t>
            </a:r>
          </a:p>
          <a:p>
            <a:r>
              <a:rPr lang="en-US" sz="1400" dirty="0"/>
              <a:t>    history: List[str]</a:t>
            </a:r>
          </a:p>
          <a:p>
            <a:r>
              <a:rPr lang="en-US" sz="1400" dirty="0"/>
              <a:t>    iterations: int</a:t>
            </a:r>
          </a:p>
          <a:p>
            <a:r>
              <a:rPr lang="en-US" sz="1400" dirty="0"/>
              <a:t>    </a:t>
            </a:r>
            <a:r>
              <a:rPr lang="en-US" sz="1400" dirty="0">
                <a:solidFill>
                  <a:srgbClr val="FFFF00"/>
                </a:solidFill>
              </a:rPr>
              <a:t>decision</a:t>
            </a:r>
            <a:r>
              <a:rPr lang="en-US" sz="1400" dirty="0"/>
              <a:t>: str  # "continue" or "stop"</a:t>
            </a:r>
            <a:endParaRPr lang="en-GB" sz="14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AE4DBA3-9983-AA09-1B44-D68BFA6282E6}"/>
              </a:ext>
            </a:extLst>
          </p:cNvPr>
          <p:cNvSpPr txBox="1"/>
          <p:nvPr/>
        </p:nvSpPr>
        <p:spPr>
          <a:xfrm>
            <a:off x="4006608" y="1312268"/>
            <a:ext cx="3825123" cy="338554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IN" sz="1600" dirty="0"/>
              <a:t>Nodes to run in sequence:</a:t>
            </a:r>
          </a:p>
          <a:p>
            <a:r>
              <a:rPr lang="en-IN" sz="1600" b="1" dirty="0"/>
              <a:t>answer</a:t>
            </a:r>
          </a:p>
          <a:p>
            <a:r>
              <a:rPr lang="en-GB" sz="1600" b="1" dirty="0"/>
              <a:t>evaluate</a:t>
            </a:r>
          </a:p>
          <a:p>
            <a:endParaRPr lang="en-GB" sz="1600" dirty="0"/>
          </a:p>
          <a:p>
            <a:r>
              <a:rPr lang="en-GB" sz="1600" dirty="0"/>
              <a:t>Then a conditional edge</a:t>
            </a:r>
          </a:p>
          <a:p>
            <a:r>
              <a:rPr lang="en-US" sz="1600" dirty="0" err="1"/>
              <a:t>builder.add_conditional_edges</a:t>
            </a:r>
            <a:r>
              <a:rPr lang="en-US" sz="1600" dirty="0"/>
              <a:t>(</a:t>
            </a:r>
          </a:p>
          <a:p>
            <a:r>
              <a:rPr lang="en-US" sz="1600" dirty="0"/>
              <a:t>    "</a:t>
            </a:r>
            <a:r>
              <a:rPr lang="en-US" sz="1600" b="1" dirty="0"/>
              <a:t>evaluate</a:t>
            </a:r>
            <a:r>
              <a:rPr lang="en-US" sz="1600" dirty="0"/>
              <a:t>",</a:t>
            </a:r>
          </a:p>
          <a:p>
            <a:r>
              <a:rPr lang="en-US" sz="1600" dirty="0"/>
              <a:t>    </a:t>
            </a:r>
            <a:r>
              <a:rPr lang="en-US" sz="1600" b="1" dirty="0" err="1"/>
              <a:t>should_continue</a:t>
            </a:r>
            <a:r>
              <a:rPr lang="en-US" sz="1600" dirty="0"/>
              <a:t>,</a:t>
            </a:r>
          </a:p>
          <a:p>
            <a:r>
              <a:rPr lang="en-US" sz="1600" dirty="0"/>
              <a:t>    {</a:t>
            </a:r>
          </a:p>
          <a:p>
            <a:r>
              <a:rPr lang="en-US" sz="1600" dirty="0"/>
              <a:t>        "continue": "</a:t>
            </a:r>
            <a:r>
              <a:rPr lang="en-US" sz="1600" b="1" dirty="0"/>
              <a:t>answer</a:t>
            </a:r>
            <a:r>
              <a:rPr lang="en-US" sz="1600" dirty="0"/>
              <a:t>",  # LOOP</a:t>
            </a:r>
          </a:p>
          <a:p>
            <a:r>
              <a:rPr lang="en-US" sz="1600" dirty="0"/>
              <a:t>        "stop": END                    # EXIT</a:t>
            </a:r>
          </a:p>
          <a:p>
            <a:r>
              <a:rPr lang="en-US" sz="1600" dirty="0"/>
              <a:t>    }</a:t>
            </a:r>
          </a:p>
          <a:p>
            <a:r>
              <a:rPr lang="en-US" sz="1600" dirty="0"/>
              <a:t>)</a:t>
            </a:r>
            <a:endParaRPr lang="en-GB" sz="16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C9F205E-3FEC-059F-FCF6-3CE6BB95A258}"/>
              </a:ext>
            </a:extLst>
          </p:cNvPr>
          <p:cNvSpPr txBox="1"/>
          <p:nvPr/>
        </p:nvSpPr>
        <p:spPr>
          <a:xfrm>
            <a:off x="8117919" y="1312268"/>
            <a:ext cx="3671560" cy="1169551"/>
          </a:xfrm>
          <a:prstGeom prst="rect">
            <a:avLst/>
          </a:prstGeom>
          <a:solidFill>
            <a:schemeClr val="accent3">
              <a:lumMod val="5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IN" sz="1400" dirty="0">
                <a:solidFill>
                  <a:schemeClr val="bg1"/>
                </a:solidFill>
              </a:rPr>
              <a:t>Node = </a:t>
            </a:r>
            <a:r>
              <a:rPr lang="en-IN" sz="1400" b="1" dirty="0">
                <a:solidFill>
                  <a:schemeClr val="bg1"/>
                </a:solidFill>
              </a:rPr>
              <a:t>answer</a:t>
            </a:r>
          </a:p>
          <a:p>
            <a:endParaRPr lang="en-IN" sz="1400" dirty="0">
              <a:solidFill>
                <a:schemeClr val="bg1"/>
              </a:solidFill>
            </a:endParaRPr>
          </a:p>
          <a:p>
            <a:r>
              <a:rPr lang="en-IN" sz="1400" dirty="0">
                <a:solidFill>
                  <a:schemeClr val="bg1"/>
                </a:solidFill>
              </a:rPr>
              <a:t>Send question and previous answer(s) to LLM</a:t>
            </a:r>
          </a:p>
          <a:p>
            <a:r>
              <a:rPr lang="en-IN" sz="1400" dirty="0">
                <a:solidFill>
                  <a:schemeClr val="bg1"/>
                </a:solidFill>
              </a:rPr>
              <a:t>Improve answer if needed</a:t>
            </a:r>
          </a:p>
          <a:p>
            <a:r>
              <a:rPr lang="en-IN" sz="1400" dirty="0">
                <a:solidFill>
                  <a:schemeClr val="bg1"/>
                </a:solidFill>
              </a:rPr>
              <a:t>Increase iteration count by 1</a:t>
            </a:r>
            <a:endParaRPr lang="en-GB" sz="1400" dirty="0">
              <a:solidFill>
                <a:schemeClr val="bg1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A8A4F68-F4EA-1ABB-66AF-397537549A08}"/>
              </a:ext>
            </a:extLst>
          </p:cNvPr>
          <p:cNvSpPr txBox="1"/>
          <p:nvPr/>
        </p:nvSpPr>
        <p:spPr>
          <a:xfrm>
            <a:off x="8117919" y="2755996"/>
            <a:ext cx="3671560" cy="954107"/>
          </a:xfrm>
          <a:prstGeom prst="rect">
            <a:avLst/>
          </a:prstGeom>
          <a:solidFill>
            <a:schemeClr val="accent3">
              <a:lumMod val="5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IN" sz="1400" dirty="0">
                <a:solidFill>
                  <a:schemeClr val="bg1"/>
                </a:solidFill>
              </a:rPr>
              <a:t>Node = </a:t>
            </a:r>
            <a:r>
              <a:rPr lang="en-IN" sz="1400" b="1" dirty="0">
                <a:solidFill>
                  <a:schemeClr val="bg1"/>
                </a:solidFill>
              </a:rPr>
              <a:t>evaluate</a:t>
            </a:r>
          </a:p>
          <a:p>
            <a:endParaRPr lang="en-IN" sz="1400" dirty="0">
              <a:solidFill>
                <a:schemeClr val="bg1"/>
              </a:solidFill>
            </a:endParaRPr>
          </a:p>
          <a:p>
            <a:r>
              <a:rPr lang="en-IN" sz="1400" dirty="0">
                <a:solidFill>
                  <a:schemeClr val="bg1"/>
                </a:solidFill>
              </a:rPr>
              <a:t>Send question and latest answer to LLM</a:t>
            </a:r>
          </a:p>
          <a:p>
            <a:r>
              <a:rPr lang="en-IN" sz="1400" dirty="0">
                <a:solidFill>
                  <a:schemeClr val="bg1"/>
                </a:solidFill>
              </a:rPr>
              <a:t>Ask if continue or stop and return the decision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E99DAD8-7CF3-D677-D26B-BF4871993EAC}"/>
              </a:ext>
            </a:extLst>
          </p:cNvPr>
          <p:cNvSpPr txBox="1"/>
          <p:nvPr/>
        </p:nvSpPr>
        <p:spPr>
          <a:xfrm>
            <a:off x="8117918" y="3989425"/>
            <a:ext cx="3671560" cy="954107"/>
          </a:xfrm>
          <a:prstGeom prst="rect">
            <a:avLst/>
          </a:prstGeom>
          <a:solidFill>
            <a:schemeClr val="accent3">
              <a:lumMod val="5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IN" sz="1400" dirty="0">
                <a:solidFill>
                  <a:schemeClr val="bg1"/>
                </a:solidFill>
              </a:rPr>
              <a:t>Conditional logic in function </a:t>
            </a:r>
            <a:r>
              <a:rPr lang="en-IN" sz="1400" dirty="0" err="1">
                <a:solidFill>
                  <a:schemeClr val="bg1"/>
                </a:solidFill>
              </a:rPr>
              <a:t>should_continue</a:t>
            </a:r>
            <a:r>
              <a:rPr lang="en-IN" sz="1400" dirty="0">
                <a:solidFill>
                  <a:schemeClr val="bg1"/>
                </a:solidFill>
              </a:rPr>
              <a:t>()</a:t>
            </a:r>
            <a:endParaRPr lang="en-IN" sz="1400" b="1" dirty="0">
              <a:solidFill>
                <a:schemeClr val="bg1"/>
              </a:solidFill>
            </a:endParaRPr>
          </a:p>
          <a:p>
            <a:endParaRPr lang="en-IN" sz="1400" dirty="0">
              <a:solidFill>
                <a:schemeClr val="bg1"/>
              </a:solidFill>
            </a:endParaRPr>
          </a:p>
          <a:p>
            <a:r>
              <a:rPr lang="en-IN" sz="1400" dirty="0">
                <a:solidFill>
                  <a:schemeClr val="bg1"/>
                </a:solidFill>
              </a:rPr>
              <a:t>If iteration count &gt;= 3 then stop</a:t>
            </a:r>
          </a:p>
          <a:p>
            <a:r>
              <a:rPr lang="en-IN" sz="1400" dirty="0">
                <a:solidFill>
                  <a:schemeClr val="bg1"/>
                </a:solidFill>
              </a:rPr>
              <a:t>Otherwise return the decision as it is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9CE3069-D762-E581-35C2-5D24B8820FB1}"/>
              </a:ext>
            </a:extLst>
          </p:cNvPr>
          <p:cNvSpPr txBox="1"/>
          <p:nvPr/>
        </p:nvSpPr>
        <p:spPr>
          <a:xfrm>
            <a:off x="293167" y="4820268"/>
            <a:ext cx="7622326" cy="1846659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600"/>
            </a:lvl1pPr>
          </a:lstStyle>
          <a:p>
            <a:pPr algn="ctr"/>
            <a:r>
              <a:rPr lang="en-IN" b="1" dirty="0"/>
              <a:t>Main logic</a:t>
            </a:r>
          </a:p>
          <a:p>
            <a:pPr marL="342900" indent="-342900">
              <a:buFont typeface="+mj-lt"/>
              <a:buAutoNum type="arabicPeriod"/>
            </a:pPr>
            <a:r>
              <a:rPr lang="en-IN" dirty="0"/>
              <a:t>Call the “answer” node and get the latest/refined answer for the question from LLM</a:t>
            </a:r>
          </a:p>
          <a:p>
            <a:pPr marL="342900" indent="-342900">
              <a:buFont typeface="+mj-lt"/>
              <a:buAutoNum type="arabicPeriod"/>
            </a:pPr>
            <a:r>
              <a:rPr lang="en-IN" dirty="0"/>
              <a:t>Using “evaluate” node, pass this on to LLM and ask, more iterations needed? It will return decision as “continue” or “stop”</a:t>
            </a:r>
          </a:p>
          <a:p>
            <a:pPr marL="342900" indent="-342900">
              <a:buFont typeface="+mj-lt"/>
              <a:buAutoNum type="arabicPeriod"/>
            </a:pPr>
            <a:r>
              <a:rPr lang="en-IN" dirty="0"/>
              <a:t>Take this to the “</a:t>
            </a:r>
            <a:r>
              <a:rPr lang="en-IN" dirty="0" err="1"/>
              <a:t>should_continue</a:t>
            </a:r>
            <a:r>
              <a:rPr lang="en-IN" dirty="0"/>
              <a:t>()” function and check if iteration count has exceeded 3, in which case decision = “stop”</a:t>
            </a:r>
          </a:p>
          <a:p>
            <a:pPr marL="342900" indent="-342900">
              <a:buFont typeface="+mj-lt"/>
              <a:buAutoNum type="arabicPeriod"/>
            </a:pPr>
            <a:r>
              <a:rPr lang="en-IN" dirty="0"/>
              <a:t>Return the decision, which will either cause it to loop back to answer or stop</a:t>
            </a:r>
            <a:endParaRPr lang="en-GB" dirty="0"/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123844C4-825B-5143-88EA-0C1EF1C4AEB0}"/>
              </a:ext>
            </a:extLst>
          </p:cNvPr>
          <p:cNvCxnSpPr/>
          <p:nvPr/>
        </p:nvCxnSpPr>
        <p:spPr>
          <a:xfrm flipV="1">
            <a:off x="5556202" y="3989425"/>
            <a:ext cx="0" cy="1043265"/>
          </a:xfrm>
          <a:prstGeom prst="straightConnector1">
            <a:avLst/>
          </a:prstGeom>
          <a:ln w="28575">
            <a:solidFill>
              <a:schemeClr val="accent2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16176377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5CB6DF-DC99-2933-2AE0-437C72FB37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 err="1"/>
              <a:t>LangGraph</a:t>
            </a:r>
            <a:r>
              <a:rPr lang="en-IN" dirty="0"/>
              <a:t> Looping Patterns</a:t>
            </a:r>
            <a:endParaRPr lang="en-GB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8A90A456-55BF-438A-9206-9F583CD9E32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537680854"/>
              </p:ext>
            </p:extLst>
          </p:nvPr>
        </p:nvGraphicFramePr>
        <p:xfrm>
          <a:off x="459527" y="1347169"/>
          <a:ext cx="11272945" cy="5402336"/>
        </p:xfrm>
        <a:graphic>
          <a:graphicData uri="http://schemas.openxmlformats.org/drawingml/2006/table">
            <a:tbl>
              <a:tblPr firstRow="1">
                <a:tableStyleId>{72833802-FEF1-4C79-8D5D-14CF1EAF98D9}</a:tableStyleId>
              </a:tblPr>
              <a:tblGrid>
                <a:gridCol w="2254589">
                  <a:extLst>
                    <a:ext uri="{9D8B030D-6E8A-4147-A177-3AD203B41FA5}">
                      <a16:colId xmlns:a16="http://schemas.microsoft.com/office/drawing/2014/main" val="1390956729"/>
                    </a:ext>
                  </a:extLst>
                </a:gridCol>
                <a:gridCol w="2254589">
                  <a:extLst>
                    <a:ext uri="{9D8B030D-6E8A-4147-A177-3AD203B41FA5}">
                      <a16:colId xmlns:a16="http://schemas.microsoft.com/office/drawing/2014/main" val="3724024691"/>
                    </a:ext>
                  </a:extLst>
                </a:gridCol>
                <a:gridCol w="2254589">
                  <a:extLst>
                    <a:ext uri="{9D8B030D-6E8A-4147-A177-3AD203B41FA5}">
                      <a16:colId xmlns:a16="http://schemas.microsoft.com/office/drawing/2014/main" val="4032343764"/>
                    </a:ext>
                  </a:extLst>
                </a:gridCol>
                <a:gridCol w="2254589">
                  <a:extLst>
                    <a:ext uri="{9D8B030D-6E8A-4147-A177-3AD203B41FA5}">
                      <a16:colId xmlns:a16="http://schemas.microsoft.com/office/drawing/2014/main" val="3330319427"/>
                    </a:ext>
                  </a:extLst>
                </a:gridCol>
                <a:gridCol w="2254589">
                  <a:extLst>
                    <a:ext uri="{9D8B030D-6E8A-4147-A177-3AD203B41FA5}">
                      <a16:colId xmlns:a16="http://schemas.microsoft.com/office/drawing/2014/main" val="4177491375"/>
                    </a:ext>
                  </a:extLst>
                </a:gridCol>
              </a:tblGrid>
              <a:tr h="26187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/>
                        <a:t>Pattern</a:t>
                      </a:r>
                    </a:p>
                  </a:txBody>
                  <a:tcPr marL="61286" marR="61286" marT="30643" marB="3064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/>
                        <a:t>State Fields Used</a:t>
                      </a:r>
                    </a:p>
                  </a:txBody>
                  <a:tcPr marL="61286" marR="61286" marT="30643" marB="3064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/>
                        <a:t>Who Updates State</a:t>
                      </a:r>
                    </a:p>
                  </a:txBody>
                  <a:tcPr marL="61286" marR="61286" marT="30643" marB="3064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/>
                        <a:t>Stop Condition</a:t>
                      </a:r>
                    </a:p>
                  </a:txBody>
                  <a:tcPr marL="61286" marR="61286" marT="30643" marB="3064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/>
                        <a:t>Typical Use Case</a:t>
                      </a:r>
                    </a:p>
                  </a:txBody>
                  <a:tcPr marL="61286" marR="61286" marT="30643" marB="3064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98955885"/>
                  </a:ext>
                </a:extLst>
              </a:tr>
              <a:tr h="45828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 b="1"/>
                        <a:t>Fixed iteration loop</a:t>
                      </a:r>
                      <a:endParaRPr lang="en-GB" sz="1800"/>
                    </a:p>
                  </a:txBody>
                  <a:tcPr marL="61286" marR="61286" marT="30643" marB="3064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/>
                        <a:t>iterations: int</a:t>
                      </a:r>
                    </a:p>
                  </a:txBody>
                  <a:tcPr marL="61286" marR="61286" marT="30643" marB="3064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/>
                        <a:t>Worker node</a:t>
                      </a:r>
                    </a:p>
                  </a:txBody>
                  <a:tcPr marL="61286" marR="61286" marT="30643" marB="3064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/>
                        <a:t>iterations &gt;= N</a:t>
                      </a:r>
                    </a:p>
                  </a:txBody>
                  <a:tcPr marL="61286" marR="61286" marT="30643" marB="3064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/>
                        <a:t>Bounded retries, safe guard</a:t>
                      </a:r>
                    </a:p>
                  </a:txBody>
                  <a:tcPr marL="61286" marR="61286" marT="30643" marB="3064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25856848"/>
                  </a:ext>
                </a:extLst>
              </a:tr>
              <a:tr h="45828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 b="1"/>
                        <a:t>LLM-decided loop</a:t>
                      </a:r>
                      <a:endParaRPr lang="en-GB" sz="1800"/>
                    </a:p>
                  </a:txBody>
                  <a:tcPr marL="61286" marR="61286" marT="30643" marB="3064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/>
                        <a:t>decision: str</a:t>
                      </a:r>
                    </a:p>
                  </a:txBody>
                  <a:tcPr marL="61286" marR="61286" marT="30643" marB="3064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/>
                        <a:t>Evaluator LLM</a:t>
                      </a:r>
                    </a:p>
                  </a:txBody>
                  <a:tcPr marL="61286" marR="61286" marT="30643" marB="3064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/>
                        <a:t>decision == "stop"</a:t>
                      </a:r>
                    </a:p>
                  </a:txBody>
                  <a:tcPr marL="61286" marR="61286" marT="30643" marB="3064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/>
                        <a:t>Self-refining answers</a:t>
                      </a:r>
                    </a:p>
                  </a:txBody>
                  <a:tcPr marL="61286" marR="61286" marT="30643" marB="3064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8023509"/>
                  </a:ext>
                </a:extLst>
              </a:tr>
              <a:tr h="45828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 b="1"/>
                        <a:t>Hybrid loop (LLM + counter)</a:t>
                      </a:r>
                      <a:endParaRPr lang="en-GB" sz="1800"/>
                    </a:p>
                  </a:txBody>
                  <a:tcPr marL="61286" marR="61286" marT="30643" marB="3064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/>
                        <a:t>iterations, decision</a:t>
                      </a:r>
                    </a:p>
                  </a:txBody>
                  <a:tcPr marL="61286" marR="61286" marT="30643" marB="3064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/>
                        <a:t>Worker + Evaluator</a:t>
                      </a:r>
                    </a:p>
                  </a:txBody>
                  <a:tcPr marL="61286" marR="61286" marT="30643" marB="3064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/>
                        <a:t>Either condition met</a:t>
                      </a:r>
                    </a:p>
                  </a:txBody>
                  <a:tcPr marL="61286" marR="61286" marT="30643" marB="3064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/>
                        <a:t>Production-safe self-critique</a:t>
                      </a:r>
                    </a:p>
                  </a:txBody>
                  <a:tcPr marL="61286" marR="61286" marT="30643" marB="3064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63121428"/>
                  </a:ext>
                </a:extLst>
              </a:tr>
              <a:tr h="45828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 b="1"/>
                        <a:t>Quality-threshold loop</a:t>
                      </a:r>
                      <a:endParaRPr lang="en-GB" sz="1800"/>
                    </a:p>
                  </a:txBody>
                  <a:tcPr marL="61286" marR="61286" marT="30643" marB="3064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/>
                        <a:t>score: float</a:t>
                      </a:r>
                    </a:p>
                  </a:txBody>
                  <a:tcPr marL="61286" marR="61286" marT="30643" marB="3064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/>
                        <a:t>Scoring node</a:t>
                      </a:r>
                    </a:p>
                  </a:txBody>
                  <a:tcPr marL="61286" marR="61286" marT="30643" marB="3064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/>
                        <a:t>score &gt;= threshold</a:t>
                      </a:r>
                    </a:p>
                  </a:txBody>
                  <a:tcPr marL="61286" marR="61286" marT="30643" marB="3064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/>
                        <a:t>RAG answer validation</a:t>
                      </a:r>
                    </a:p>
                  </a:txBody>
                  <a:tcPr marL="61286" marR="61286" marT="30643" marB="3064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67475501"/>
                  </a:ext>
                </a:extLst>
              </a:tr>
              <a:tr h="45828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 b="1"/>
                        <a:t>Tool-retry loop</a:t>
                      </a:r>
                      <a:endParaRPr lang="en-GB" sz="1800"/>
                    </a:p>
                  </a:txBody>
                  <a:tcPr marL="61286" marR="61286" marT="30643" marB="3064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/>
                        <a:t>tool_attempts: int</a:t>
                      </a:r>
                    </a:p>
                  </a:txBody>
                  <a:tcPr marL="61286" marR="61286" marT="30643" marB="3064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/>
                        <a:t>Tool node</a:t>
                      </a:r>
                    </a:p>
                  </a:txBody>
                  <a:tcPr marL="61286" marR="61286" marT="30643" marB="3064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/>
                        <a:t>tool_attempts &gt;= max</a:t>
                      </a:r>
                    </a:p>
                  </a:txBody>
                  <a:tcPr marL="61286" marR="61286" marT="30643" marB="3064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/>
                        <a:t>Unreliable API calls</a:t>
                      </a:r>
                    </a:p>
                  </a:txBody>
                  <a:tcPr marL="61286" marR="61286" marT="30643" marB="3064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45522664"/>
                  </a:ext>
                </a:extLst>
              </a:tr>
              <a:tr h="45828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 b="1"/>
                        <a:t>Budget-aware loop</a:t>
                      </a:r>
                      <a:endParaRPr lang="en-GB" sz="1800"/>
                    </a:p>
                  </a:txBody>
                  <a:tcPr marL="61286" marR="61286" marT="30643" marB="3064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/>
                        <a:t>tokens_used: int</a:t>
                      </a:r>
                    </a:p>
                  </a:txBody>
                  <a:tcPr marL="61286" marR="61286" marT="30643" marB="3064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/>
                        <a:t>LLM node</a:t>
                      </a:r>
                    </a:p>
                  </a:txBody>
                  <a:tcPr marL="61286" marR="61286" marT="30643" marB="3064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/>
                        <a:t>Budget exceeded</a:t>
                      </a:r>
                    </a:p>
                  </a:txBody>
                  <a:tcPr marL="61286" marR="61286" marT="30643" marB="3064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/>
                        <a:t>Cost-controlled agents</a:t>
                      </a:r>
                    </a:p>
                  </a:txBody>
                  <a:tcPr marL="61286" marR="61286" marT="30643" marB="3064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06105051"/>
                  </a:ext>
                </a:extLst>
              </a:tr>
              <a:tr h="45828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 b="1"/>
                        <a:t>Memory-driven loop</a:t>
                      </a:r>
                      <a:endParaRPr lang="en-GB" sz="1800"/>
                    </a:p>
                  </a:txBody>
                  <a:tcPr marL="61286" marR="61286" marT="30643" marB="3064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/>
                        <a:t>history: list</a:t>
                      </a:r>
                    </a:p>
                  </a:txBody>
                  <a:tcPr marL="61286" marR="61286" marT="30643" marB="3064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/>
                        <a:t>Any node</a:t>
                      </a:r>
                    </a:p>
                  </a:txBody>
                  <a:tcPr marL="61286" marR="61286" marT="30643" marB="3064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/>
                        <a:t>No new info added</a:t>
                      </a:r>
                    </a:p>
                  </a:txBody>
                  <a:tcPr marL="61286" marR="61286" marT="30643" marB="3064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/>
                        <a:t>Reasoning saturation</a:t>
                      </a:r>
                    </a:p>
                  </a:txBody>
                  <a:tcPr marL="61286" marR="61286" marT="30643" marB="3064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25832064"/>
                  </a:ext>
                </a:extLst>
              </a:tr>
              <a:tr h="26187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 b="1"/>
                        <a:t>Event-driven loop</a:t>
                      </a:r>
                      <a:endParaRPr lang="en-GB" sz="1800"/>
                    </a:p>
                  </a:txBody>
                  <a:tcPr marL="61286" marR="61286" marT="30643" marB="3064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/>
                        <a:t>events: list</a:t>
                      </a:r>
                    </a:p>
                  </a:txBody>
                  <a:tcPr marL="61286" marR="61286" marT="30643" marB="3064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/>
                        <a:t>External input</a:t>
                      </a:r>
                    </a:p>
                  </a:txBody>
                  <a:tcPr marL="61286" marR="61286" marT="30643" marB="3064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/>
                        <a:t>Event resolved</a:t>
                      </a:r>
                    </a:p>
                  </a:txBody>
                  <a:tcPr marL="61286" marR="61286" marT="30643" marB="3064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/>
                        <a:t>Human-in-the-loop</a:t>
                      </a:r>
                    </a:p>
                  </a:txBody>
                  <a:tcPr marL="61286" marR="61286" marT="30643" marB="3064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2684783"/>
                  </a:ext>
                </a:extLst>
              </a:tr>
              <a:tr h="45828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 b="1"/>
                        <a:t>Error-recovery loop</a:t>
                      </a:r>
                      <a:endParaRPr lang="en-GB" sz="1800"/>
                    </a:p>
                  </a:txBody>
                  <a:tcPr marL="61286" marR="61286" marT="30643" marB="3064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/>
                        <a:t>error_count: int</a:t>
                      </a:r>
                    </a:p>
                  </a:txBody>
                  <a:tcPr marL="61286" marR="61286" marT="30643" marB="3064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/>
                        <a:t>Exception handler</a:t>
                      </a:r>
                    </a:p>
                  </a:txBody>
                  <a:tcPr marL="61286" marR="61286" marT="30643" marB="3064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/>
                        <a:t>Errors exceed limit</a:t>
                      </a:r>
                    </a:p>
                  </a:txBody>
                  <a:tcPr marL="61286" marR="61286" marT="30643" marB="3064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/>
                        <a:t>Robust pipelines</a:t>
                      </a:r>
                    </a:p>
                  </a:txBody>
                  <a:tcPr marL="61286" marR="61286" marT="30643" marB="3064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50257805"/>
                  </a:ext>
                </a:extLst>
              </a:tr>
              <a:tr h="45828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 b="1"/>
                        <a:t>Multi-agent consensus loop</a:t>
                      </a:r>
                      <a:endParaRPr lang="en-GB" sz="1800"/>
                    </a:p>
                  </a:txBody>
                  <a:tcPr marL="61286" marR="61286" marT="30643" marB="3064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/>
                        <a:t>votes: dict</a:t>
                      </a:r>
                    </a:p>
                  </a:txBody>
                  <a:tcPr marL="61286" marR="61286" marT="30643" marB="3064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/>
                        <a:t>Parallel agents</a:t>
                      </a:r>
                    </a:p>
                  </a:txBody>
                  <a:tcPr marL="61286" marR="61286" marT="30643" marB="3064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/>
                        <a:t>Consensus reached</a:t>
                      </a:r>
                    </a:p>
                  </a:txBody>
                  <a:tcPr marL="61286" marR="61286" marT="30643" marB="3064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 dirty="0"/>
                        <a:t>Agent debates</a:t>
                      </a:r>
                    </a:p>
                  </a:txBody>
                  <a:tcPr marL="61286" marR="61286" marT="30643" marB="3064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2814351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13375901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FC7CA3-9C27-9C9A-65A2-836F7482E0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Human Control and Override Workflows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A7CDA0-45FC-7418-C53B-4AB9434C19D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Human control workflow</a:t>
            </a:r>
            <a:r>
              <a:rPr lang="en-US" dirty="0"/>
              <a:t>: The graph pauses, escalates, or reroutes based on human input instead of continuing autonomously</a:t>
            </a:r>
          </a:p>
          <a:p>
            <a:r>
              <a:rPr lang="en-US" dirty="0"/>
              <a:t>Humans do not interrupt nodes – They change the state</a:t>
            </a:r>
          </a:p>
          <a:p>
            <a:r>
              <a:rPr lang="en-US" dirty="0"/>
              <a:t>Implementation</a:t>
            </a:r>
          </a:p>
          <a:p>
            <a:pPr marL="0" indent="0">
              <a:buNone/>
            </a:pPr>
            <a:r>
              <a:rPr lang="en-US" sz="2000" dirty="0">
                <a:latin typeface="Cascadia Code" panose="020B0609020000020004" pitchFamily="49" charset="0"/>
                <a:cs typeface="Cascadia Code" panose="020B0609020000020004" pitchFamily="49" charset="0"/>
              </a:rPr>
              <a:t>class </a:t>
            </a:r>
            <a:r>
              <a:rPr lang="en-US" sz="200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AgentState</a:t>
            </a:r>
            <a:r>
              <a:rPr lang="en-US" sz="2000" dirty="0">
                <a:latin typeface="Cascadia Code" panose="020B0609020000020004" pitchFamily="49" charset="0"/>
                <a:cs typeface="Cascadia Code" panose="020B0609020000020004" pitchFamily="49" charset="0"/>
              </a:rPr>
              <a:t>(</a:t>
            </a:r>
            <a:r>
              <a:rPr lang="en-US" sz="200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TypedDict</a:t>
            </a:r>
            <a:r>
              <a:rPr lang="en-US" sz="2000" dirty="0">
                <a:latin typeface="Cascadia Code" panose="020B0609020000020004" pitchFamily="49" charset="0"/>
                <a:cs typeface="Cascadia Code" panose="020B0609020000020004" pitchFamily="49" charset="0"/>
              </a:rPr>
              <a:t>):</a:t>
            </a:r>
          </a:p>
          <a:p>
            <a:pPr marL="0" indent="0">
              <a:buNone/>
            </a:pPr>
            <a:r>
              <a:rPr lang="en-US" sz="2000" dirty="0">
                <a:latin typeface="Cascadia Code" panose="020B0609020000020004" pitchFamily="49" charset="0"/>
                <a:cs typeface="Cascadia Code" panose="020B0609020000020004" pitchFamily="49" charset="0"/>
              </a:rPr>
              <a:t>    task: str</a:t>
            </a:r>
          </a:p>
          <a:p>
            <a:pPr marL="0" indent="0">
              <a:buNone/>
            </a:pPr>
            <a:r>
              <a:rPr lang="en-US" sz="2000" dirty="0">
                <a:latin typeface="Cascadia Code" panose="020B0609020000020004" pitchFamily="49" charset="0"/>
                <a:cs typeface="Cascadia Code" panose="020B0609020000020004" pitchFamily="49" charset="0"/>
              </a:rPr>
              <a:t>    result: str</a:t>
            </a:r>
          </a:p>
          <a:p>
            <a:pPr marL="0" indent="0">
              <a:buNone/>
            </a:pPr>
            <a:r>
              <a:rPr lang="en-US" sz="2000" dirty="0">
                <a:latin typeface="Cascadia Code" panose="020B0609020000020004" pitchFamily="49" charset="0"/>
                <a:cs typeface="Cascadia Code" panose="020B0609020000020004" pitchFamily="49" charset="0"/>
              </a:rPr>
              <a:t>    status: str        # auto | </a:t>
            </a:r>
            <a:r>
              <a:rPr lang="en-US" sz="200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needs_review</a:t>
            </a:r>
            <a:r>
              <a:rPr lang="en-US" sz="2000" dirty="0">
                <a:latin typeface="Cascadia Code" panose="020B0609020000020004" pitchFamily="49" charset="0"/>
                <a:cs typeface="Cascadia Code" panose="020B0609020000020004" pitchFamily="49" charset="0"/>
              </a:rPr>
              <a:t> | approved | rejected</a:t>
            </a:r>
          </a:p>
          <a:p>
            <a:pPr marL="0" indent="0">
              <a:buNone/>
            </a:pPr>
            <a:r>
              <a:rPr lang="en-US" sz="2000" dirty="0">
                <a:latin typeface="Cascadia Code" panose="020B0609020000020004" pitchFamily="49" charset="0"/>
                <a:cs typeface="Cascadia Code" panose="020B0609020000020004" pitchFamily="49" charset="0"/>
              </a:rPr>
              <a:t>    </a:t>
            </a:r>
            <a:r>
              <a:rPr lang="en-US" sz="2000" dirty="0" err="1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human_feedback</a:t>
            </a:r>
            <a:r>
              <a:rPr lang="en-US" sz="2000" dirty="0">
                <a:latin typeface="Cascadia Code" panose="020B0609020000020004" pitchFamily="49" charset="0"/>
                <a:cs typeface="Cascadia Code" panose="020B0609020000020004" pitchFamily="49" charset="0"/>
              </a:rPr>
              <a:t>: str</a:t>
            </a:r>
            <a:endParaRPr lang="en-US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438171282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0E8148-310C-42DF-0714-7C492B296C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Human In The Loop (HITL) Pattern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E85BE7-DA58-D890-B177-A7745EF835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IN" dirty="0"/>
              <a:t>Step 1: Agent reaches some uncertainty</a:t>
            </a:r>
          </a:p>
          <a:p>
            <a:pPr marL="0" indent="0">
              <a:buNone/>
            </a:pPr>
            <a:r>
              <a:rPr lang="en-US" sz="2000" dirty="0">
                <a:latin typeface="Cascadia Code" panose="020B0609020000020004" pitchFamily="49" charset="0"/>
                <a:cs typeface="Cascadia Code" panose="020B0609020000020004" pitchFamily="49" charset="0"/>
              </a:rPr>
              <a:t>def </a:t>
            </a:r>
            <a:r>
              <a:rPr lang="en-US" sz="200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agent_node</a:t>
            </a:r>
            <a:r>
              <a:rPr lang="en-US" sz="2000" dirty="0">
                <a:latin typeface="Cascadia Code" panose="020B0609020000020004" pitchFamily="49" charset="0"/>
                <a:cs typeface="Cascadia Code" panose="020B0609020000020004" pitchFamily="49" charset="0"/>
              </a:rPr>
              <a:t>(state):</a:t>
            </a:r>
          </a:p>
          <a:p>
            <a:pPr marL="0" indent="0">
              <a:buNone/>
            </a:pPr>
            <a:r>
              <a:rPr lang="en-US" sz="2000" dirty="0">
                <a:latin typeface="Cascadia Code" panose="020B0609020000020004" pitchFamily="49" charset="0"/>
                <a:cs typeface="Cascadia Code" panose="020B0609020000020004" pitchFamily="49" charset="0"/>
              </a:rPr>
              <a:t>    if "maybe" in state["result"]:</a:t>
            </a:r>
          </a:p>
          <a:p>
            <a:pPr marL="0" indent="0">
              <a:buNone/>
            </a:pPr>
            <a:r>
              <a:rPr lang="en-US" sz="2000" dirty="0">
                <a:latin typeface="Cascadia Code" panose="020B0609020000020004" pitchFamily="49" charset="0"/>
                <a:cs typeface="Cascadia Code" panose="020B0609020000020004" pitchFamily="49" charset="0"/>
              </a:rPr>
              <a:t>        return {"status": "</a:t>
            </a:r>
            <a:r>
              <a:rPr lang="en-US" sz="200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needs_review</a:t>
            </a:r>
            <a:r>
              <a:rPr lang="en-US" sz="2000" dirty="0">
                <a:latin typeface="Cascadia Code" panose="020B0609020000020004" pitchFamily="49" charset="0"/>
                <a:cs typeface="Cascadia Code" panose="020B0609020000020004" pitchFamily="49" charset="0"/>
              </a:rPr>
              <a:t>"}</a:t>
            </a:r>
          </a:p>
          <a:p>
            <a:pPr marL="0" indent="0">
              <a:buNone/>
            </a:pPr>
            <a:r>
              <a:rPr lang="en-US" sz="2000" dirty="0">
                <a:latin typeface="Cascadia Code" panose="020B0609020000020004" pitchFamily="49" charset="0"/>
                <a:cs typeface="Cascadia Code" panose="020B0609020000020004" pitchFamily="49" charset="0"/>
              </a:rPr>
              <a:t>    return {"status": "auto"}</a:t>
            </a:r>
            <a:endParaRPr lang="en-US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endParaRPr lang="en-IN" dirty="0"/>
          </a:p>
          <a:p>
            <a:r>
              <a:rPr lang="en-IN" dirty="0"/>
              <a:t>Step 2: Conditional edge pauses or escalates</a:t>
            </a:r>
          </a:p>
          <a:p>
            <a:pPr marL="0" indent="0">
              <a:buNone/>
            </a:pPr>
            <a:r>
              <a:rPr lang="en-US" sz="2200" dirty="0">
                <a:latin typeface="Cascadia Code" panose="020B0609020000020004" pitchFamily="49" charset="0"/>
                <a:cs typeface="Cascadia Code" panose="020B0609020000020004" pitchFamily="49" charset="0"/>
              </a:rPr>
              <a:t>def route(state):</a:t>
            </a:r>
          </a:p>
          <a:p>
            <a:pPr marL="0" indent="0">
              <a:buNone/>
            </a:pPr>
            <a:r>
              <a:rPr lang="en-US" sz="2200" dirty="0">
                <a:latin typeface="Cascadia Code" panose="020B0609020000020004" pitchFamily="49" charset="0"/>
                <a:cs typeface="Cascadia Code" panose="020B0609020000020004" pitchFamily="49" charset="0"/>
              </a:rPr>
              <a:t>    if state["status"] == "</a:t>
            </a:r>
            <a:r>
              <a:rPr lang="en-US" sz="220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needs_review</a:t>
            </a:r>
            <a:r>
              <a:rPr lang="en-US" sz="2200" dirty="0">
                <a:latin typeface="Cascadia Code" panose="020B0609020000020004" pitchFamily="49" charset="0"/>
                <a:cs typeface="Cascadia Code" panose="020B0609020000020004" pitchFamily="49" charset="0"/>
              </a:rPr>
              <a:t>":</a:t>
            </a:r>
          </a:p>
          <a:p>
            <a:pPr marL="0" indent="0">
              <a:buNone/>
            </a:pPr>
            <a:r>
              <a:rPr lang="en-US" sz="2200" dirty="0">
                <a:latin typeface="Cascadia Code" panose="020B0609020000020004" pitchFamily="49" charset="0"/>
                <a:cs typeface="Cascadia Code" panose="020B0609020000020004" pitchFamily="49" charset="0"/>
              </a:rPr>
              <a:t>        return "human"</a:t>
            </a:r>
          </a:p>
          <a:p>
            <a:pPr marL="0" indent="0">
              <a:buNone/>
            </a:pPr>
            <a:r>
              <a:rPr lang="en-US" sz="2200" dirty="0">
                <a:latin typeface="Cascadia Code" panose="020B0609020000020004" pitchFamily="49" charset="0"/>
                <a:cs typeface="Cascadia Code" panose="020B0609020000020004" pitchFamily="49" charset="0"/>
              </a:rPr>
              <a:t>    return "end"</a:t>
            </a:r>
            <a:endParaRPr lang="en-US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509652558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EE5B84-24A8-0BFC-7367-E77F9E9CF9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623B43-A632-64C1-ACAF-1449FC76AB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Human In The Loop (HITL) Pattern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8FC712-4BDC-BFF0-8234-AE8D533679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IN" dirty="0"/>
              <a:t>Step 3: Human node waits for input</a:t>
            </a:r>
          </a:p>
          <a:p>
            <a:pPr marL="0" indent="0">
              <a:buNone/>
            </a:pPr>
            <a:r>
              <a:rPr lang="en-US" sz="2000" dirty="0">
                <a:latin typeface="Cascadia Code" panose="020B0609020000020004" pitchFamily="49" charset="0"/>
                <a:cs typeface="Cascadia Code" panose="020B0609020000020004" pitchFamily="49" charset="0"/>
              </a:rPr>
              <a:t>def </a:t>
            </a:r>
            <a:r>
              <a:rPr lang="en-US" sz="200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human_review_node</a:t>
            </a:r>
            <a:r>
              <a:rPr lang="en-US" sz="2000" dirty="0">
                <a:latin typeface="Cascadia Code" panose="020B0609020000020004" pitchFamily="49" charset="0"/>
                <a:cs typeface="Cascadia Code" panose="020B0609020000020004" pitchFamily="49" charset="0"/>
              </a:rPr>
              <a:t>(state):</a:t>
            </a:r>
          </a:p>
          <a:p>
            <a:pPr marL="0" indent="0">
              <a:buNone/>
            </a:pPr>
            <a:r>
              <a:rPr lang="en-US" sz="2000" dirty="0">
                <a:latin typeface="Cascadia Code" panose="020B0609020000020004" pitchFamily="49" charset="0"/>
                <a:cs typeface="Cascadia Code" panose="020B0609020000020004" pitchFamily="49" charset="0"/>
              </a:rPr>
              <a:t>    # In practice: UI, API, webhook, Slack, n8n, etc.</a:t>
            </a:r>
          </a:p>
          <a:p>
            <a:pPr marL="0" indent="0">
              <a:buNone/>
            </a:pPr>
            <a:r>
              <a:rPr lang="en-US" sz="2000" dirty="0">
                <a:latin typeface="Cascadia Code" panose="020B0609020000020004" pitchFamily="49" charset="0"/>
                <a:cs typeface="Cascadia Code" panose="020B0609020000020004" pitchFamily="49" charset="0"/>
              </a:rPr>
              <a:t>    return {</a:t>
            </a:r>
          </a:p>
          <a:p>
            <a:pPr marL="0" indent="0">
              <a:buNone/>
            </a:pPr>
            <a:r>
              <a:rPr lang="en-US" sz="2000" dirty="0">
                <a:latin typeface="Cascadia Code" panose="020B0609020000020004" pitchFamily="49" charset="0"/>
                <a:cs typeface="Cascadia Code" panose="020B0609020000020004" pitchFamily="49" charset="0"/>
              </a:rPr>
              <a:t>        "</a:t>
            </a:r>
            <a:r>
              <a:rPr lang="en-US" sz="200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human_feedback</a:t>
            </a:r>
            <a:r>
              <a:rPr lang="en-US" sz="2000" dirty="0">
                <a:latin typeface="Cascadia Code" panose="020B0609020000020004" pitchFamily="49" charset="0"/>
                <a:cs typeface="Cascadia Code" panose="020B0609020000020004" pitchFamily="49" charset="0"/>
              </a:rPr>
              <a:t>": "Approved with changes",</a:t>
            </a:r>
          </a:p>
          <a:p>
            <a:pPr marL="0" indent="0">
              <a:buNone/>
            </a:pPr>
            <a:r>
              <a:rPr lang="en-US" sz="2000" dirty="0">
                <a:latin typeface="Cascadia Code" panose="020B0609020000020004" pitchFamily="49" charset="0"/>
                <a:cs typeface="Cascadia Code" panose="020B0609020000020004" pitchFamily="49" charset="0"/>
              </a:rPr>
              <a:t>        "status": "approved"</a:t>
            </a:r>
          </a:p>
          <a:p>
            <a:pPr marL="0" indent="0">
              <a:buNone/>
            </a:pPr>
            <a:r>
              <a:rPr lang="en-US" sz="2000" dirty="0">
                <a:latin typeface="Cascadia Code" panose="020B0609020000020004" pitchFamily="49" charset="0"/>
                <a:cs typeface="Cascadia Code" panose="020B0609020000020004" pitchFamily="49" charset="0"/>
              </a:rPr>
              <a:t>    }</a:t>
            </a:r>
          </a:p>
          <a:p>
            <a:endParaRPr lang="en-IN" dirty="0"/>
          </a:p>
          <a:p>
            <a:r>
              <a:rPr lang="en-IN" dirty="0"/>
              <a:t>Step 4: Graph resumes based on human decision</a:t>
            </a:r>
          </a:p>
          <a:p>
            <a:pPr marL="0" indent="0">
              <a:buNone/>
            </a:pPr>
            <a:r>
              <a:rPr lang="en-US" sz="2200" dirty="0">
                <a:latin typeface="Cascadia Code" panose="020B0609020000020004" pitchFamily="49" charset="0"/>
                <a:cs typeface="Cascadia Code" panose="020B0609020000020004" pitchFamily="49" charset="0"/>
              </a:rPr>
              <a:t>def </a:t>
            </a:r>
            <a:r>
              <a:rPr lang="en-US" sz="220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post_review_route</a:t>
            </a:r>
            <a:r>
              <a:rPr lang="en-US" sz="2200" dirty="0">
                <a:latin typeface="Cascadia Code" panose="020B0609020000020004" pitchFamily="49" charset="0"/>
                <a:cs typeface="Cascadia Code" panose="020B0609020000020004" pitchFamily="49" charset="0"/>
              </a:rPr>
              <a:t>(state):</a:t>
            </a:r>
          </a:p>
          <a:p>
            <a:pPr marL="0" indent="0">
              <a:buNone/>
            </a:pPr>
            <a:r>
              <a:rPr lang="en-US" sz="2200" dirty="0">
                <a:latin typeface="Cascadia Code" panose="020B0609020000020004" pitchFamily="49" charset="0"/>
                <a:cs typeface="Cascadia Code" panose="020B0609020000020004" pitchFamily="49" charset="0"/>
              </a:rPr>
              <a:t>    return state["status"]  # approved / rejected</a:t>
            </a:r>
          </a:p>
          <a:p>
            <a:pPr marL="0" indent="0">
              <a:buNone/>
            </a:pPr>
            <a:endParaRPr lang="en-US" sz="2200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IN" dirty="0"/>
              <a:t>Code: 3_6_langgraph_hitl.py</a:t>
            </a:r>
          </a:p>
          <a:p>
            <a:pPr marL="0" indent="0">
              <a:buNone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490073452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BFB39E-5F02-3B5C-485A-EED6B84798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 err="1"/>
              <a:t>LangGraph</a:t>
            </a:r>
            <a:r>
              <a:rPr lang="en-IN" noProof="0" dirty="0"/>
              <a:t> Memory Options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AA24AB14-F3AC-6418-1202-75052D2E4E43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482885" y="1690688"/>
          <a:ext cx="10870916" cy="4480560"/>
        </p:xfrm>
        <a:graphic>
          <a:graphicData uri="http://schemas.openxmlformats.org/drawingml/2006/table">
            <a:tbl>
              <a:tblPr/>
              <a:tblGrid>
                <a:gridCol w="3215812">
                  <a:extLst>
                    <a:ext uri="{9D8B030D-6E8A-4147-A177-3AD203B41FA5}">
                      <a16:colId xmlns:a16="http://schemas.microsoft.com/office/drawing/2014/main" val="4125191519"/>
                    </a:ext>
                  </a:extLst>
                </a:gridCol>
                <a:gridCol w="2219646">
                  <a:extLst>
                    <a:ext uri="{9D8B030D-6E8A-4147-A177-3AD203B41FA5}">
                      <a16:colId xmlns:a16="http://schemas.microsoft.com/office/drawing/2014/main" val="440972129"/>
                    </a:ext>
                  </a:extLst>
                </a:gridCol>
                <a:gridCol w="3338673">
                  <a:extLst>
                    <a:ext uri="{9D8B030D-6E8A-4147-A177-3AD203B41FA5}">
                      <a16:colId xmlns:a16="http://schemas.microsoft.com/office/drawing/2014/main" val="2029455846"/>
                    </a:ext>
                  </a:extLst>
                </a:gridCol>
                <a:gridCol w="2096785">
                  <a:extLst>
                    <a:ext uri="{9D8B030D-6E8A-4147-A177-3AD203B41FA5}">
                      <a16:colId xmlns:a16="http://schemas.microsoft.com/office/drawing/2014/main" val="449993443"/>
                    </a:ext>
                  </a:extLst>
                </a:gridCol>
              </a:tblGrid>
              <a:tr h="42610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400" b="1" noProof="0" dirty="0"/>
                        <a:t>Memory Type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400" b="1" noProof="0" dirty="0"/>
                        <a:t>Persistence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400" b="1" noProof="0" dirty="0"/>
                        <a:t>Typical Use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400" b="1" noProof="0" dirty="0"/>
                        <a:t>Scope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47587075"/>
                  </a:ext>
                </a:extLst>
              </a:tr>
              <a:tr h="74567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400" b="1" noProof="0" dirty="0"/>
                        <a:t>In-memory / ephemeral memory</a:t>
                      </a:r>
                      <a:endParaRPr lang="en-IN" sz="2400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400" noProof="0" dirty="0"/>
                        <a:t>Volatile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400" noProof="0" dirty="0"/>
                        <a:t>Temporary context sharing between nodes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400" noProof="0" dirty="0"/>
                        <a:t>Single run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11971842"/>
                  </a:ext>
                </a:extLst>
              </a:tr>
              <a:tr h="138483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400" b="1" noProof="0" dirty="0" err="1"/>
                        <a:t>Checkpointer</a:t>
                      </a:r>
                      <a:r>
                        <a:rPr lang="en-IN" sz="2400" b="1" noProof="0" dirty="0"/>
                        <a:t> memory</a:t>
                      </a:r>
                      <a:r>
                        <a:rPr lang="en-IN" sz="2400" noProof="0" dirty="0"/>
                        <a:t> (e.g. </a:t>
                      </a:r>
                      <a:r>
                        <a:rPr lang="en-IN" sz="2400" noProof="0" dirty="0" err="1">
                          <a:latin typeface="Courier New" panose="02070309020205020404" pitchFamily="49" charset="0"/>
                        </a:rPr>
                        <a:t>MemorySaver</a:t>
                      </a:r>
                      <a:r>
                        <a:rPr lang="en-IN" sz="2400" noProof="0" dirty="0"/>
                        <a:t>, </a:t>
                      </a:r>
                      <a:r>
                        <a:rPr lang="en-IN" sz="2400" noProof="0" dirty="0" err="1">
                          <a:latin typeface="Courier New" panose="02070309020205020404" pitchFamily="49" charset="0"/>
                        </a:rPr>
                        <a:t>SqliteSaver</a:t>
                      </a:r>
                      <a:r>
                        <a:rPr lang="en-IN" sz="2400" noProof="0" dirty="0"/>
                        <a:t>, </a:t>
                      </a:r>
                      <a:r>
                        <a:rPr lang="en-IN" sz="2400" noProof="0" dirty="0" err="1">
                          <a:latin typeface="Courier New" panose="02070309020205020404" pitchFamily="49" charset="0"/>
                        </a:rPr>
                        <a:t>RedisSaver</a:t>
                      </a:r>
                      <a:r>
                        <a:rPr lang="en-IN" sz="2400" noProof="0" dirty="0"/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400" noProof="0" dirty="0"/>
                        <a:t>Persistent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400" noProof="0" dirty="0"/>
                        <a:t>Resume runs, maintain conversation across sessions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400" noProof="0" dirty="0"/>
                        <a:t>Multi-run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75410272"/>
                  </a:ext>
                </a:extLst>
              </a:tr>
              <a:tr h="106525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400" b="1" noProof="0" dirty="0"/>
                        <a:t>External store memory</a:t>
                      </a:r>
                      <a:r>
                        <a:rPr lang="en-IN" sz="2400" noProof="0" dirty="0"/>
                        <a:t> (DB/Vector DB, custom stores)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400" noProof="0" dirty="0"/>
                        <a:t>Persistent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400" noProof="0" dirty="0"/>
                        <a:t>Long-term or semantic recall (Chroma, done separately)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400" noProof="0" dirty="0"/>
                        <a:t>Global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21244554"/>
                  </a:ext>
                </a:extLst>
              </a:tr>
              <a:tr h="42610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400" b="1" noProof="0" dirty="0"/>
                        <a:t>Custom memory class</a:t>
                      </a:r>
                      <a:endParaRPr lang="en-IN" sz="2400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400" noProof="0" dirty="0"/>
                        <a:t>User-defined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400" noProof="0" dirty="0"/>
                        <a:t>Specialized </a:t>
                      </a:r>
                      <a:r>
                        <a:rPr lang="en-IN" sz="2400" noProof="0" dirty="0" err="1"/>
                        <a:t>behaviors</a:t>
                      </a:r>
                      <a:endParaRPr lang="en-IN" sz="2400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400" noProof="0" dirty="0"/>
                        <a:t>Custom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1661689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4865617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3C297D-FC6D-F189-3996-1919A239E8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539001"/>
          </a:xfrm>
        </p:spPr>
        <p:txBody>
          <a:bodyPr>
            <a:normAutofit fontScale="90000"/>
          </a:bodyPr>
          <a:lstStyle/>
          <a:p>
            <a:r>
              <a:rPr lang="en-IN" noProof="0" dirty="0"/>
              <a:t>Memory Details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6BF587A0-6AD0-3E34-E3E1-AA54513074D5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256462" y="1211461"/>
          <a:ext cx="11568701" cy="454152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537438">
                  <a:extLst>
                    <a:ext uri="{9D8B030D-6E8A-4147-A177-3AD203B41FA5}">
                      <a16:colId xmlns:a16="http://schemas.microsoft.com/office/drawing/2014/main" val="2645502338"/>
                    </a:ext>
                  </a:extLst>
                </a:gridCol>
                <a:gridCol w="3566858">
                  <a:extLst>
                    <a:ext uri="{9D8B030D-6E8A-4147-A177-3AD203B41FA5}">
                      <a16:colId xmlns:a16="http://schemas.microsoft.com/office/drawing/2014/main" val="2045287010"/>
                    </a:ext>
                  </a:extLst>
                </a:gridCol>
                <a:gridCol w="2617557">
                  <a:extLst>
                    <a:ext uri="{9D8B030D-6E8A-4147-A177-3AD203B41FA5}">
                      <a16:colId xmlns:a16="http://schemas.microsoft.com/office/drawing/2014/main" val="3529050310"/>
                    </a:ext>
                  </a:extLst>
                </a:gridCol>
                <a:gridCol w="3846848">
                  <a:extLst>
                    <a:ext uri="{9D8B030D-6E8A-4147-A177-3AD203B41FA5}">
                      <a16:colId xmlns:a16="http://schemas.microsoft.com/office/drawing/2014/main" val="195529399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IN" sz="2000" noProof="0" dirty="0"/>
                        <a:t>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2000" noProof="0" dirty="0"/>
                        <a:t>Details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2000" noProof="0" dirty="0"/>
                        <a:t>Pros and Cons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2000" noProof="0" dirty="0"/>
                        <a:t>Code Example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7259747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sz="2000" b="1" noProof="0" dirty="0"/>
                        <a:t>Ephemeral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IN" sz="2000" noProof="0" dirty="0"/>
                        <a:t>Default way of storing variables passed between nodes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IN" sz="2000" noProof="0" dirty="0"/>
                        <a:t>Lives only during graph execution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IN" sz="2000" noProof="0" dirty="0"/>
                        <a:t>Cleared once the run finishes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2000" noProof="0" dirty="0"/>
                        <a:t>Fast, No set-up</a:t>
                      </a:r>
                    </a:p>
                    <a:p>
                      <a:r>
                        <a:rPr lang="en-IN" sz="2000" noProof="0" dirty="0"/>
                        <a:t>Perfect for single-runs</a:t>
                      </a:r>
                    </a:p>
                    <a:p>
                      <a:endParaRPr lang="en-IN" sz="2000" noProof="0" dirty="0"/>
                    </a:p>
                    <a:p>
                      <a:r>
                        <a:rPr lang="en-IN" sz="2000" noProof="0" dirty="0"/>
                        <a:t>Lost after process ends</a:t>
                      </a:r>
                    </a:p>
                    <a:p>
                      <a:r>
                        <a:rPr lang="en-IN" sz="2000" noProof="0" dirty="0"/>
                        <a:t>No persistence / checkpointing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2000" noProof="0" dirty="0"/>
                        <a:t>3_4_1_langgraph_memory_ephemeral.py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652131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sz="2000" b="1" noProof="0" dirty="0"/>
                        <a:t>Checkpoint-based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2000" noProof="0" dirty="0"/>
                        <a:t>Main 0ptions:</a:t>
                      </a:r>
                    </a:p>
                    <a:p>
                      <a:r>
                        <a:rPr lang="en-IN" sz="2000" noProof="0" dirty="0" err="1"/>
                        <a:t>MemorySaver</a:t>
                      </a:r>
                      <a:r>
                        <a:rPr lang="en-IN" sz="2000" noProof="0" dirty="0"/>
                        <a:t> (in-memory checkpoints)</a:t>
                      </a:r>
                    </a:p>
                    <a:p>
                      <a:r>
                        <a:rPr lang="en-IN" sz="2000" noProof="0" dirty="0" err="1"/>
                        <a:t>SqliteSaver</a:t>
                      </a:r>
                      <a:r>
                        <a:rPr lang="en-IN" sz="2000" noProof="0" dirty="0"/>
                        <a:t> (SQLite-backed persistence)</a:t>
                      </a:r>
                    </a:p>
                    <a:p>
                      <a:r>
                        <a:rPr lang="en-IN" sz="2000" noProof="0" dirty="0" err="1"/>
                        <a:t>RedisSaver</a:t>
                      </a:r>
                      <a:r>
                        <a:rPr lang="en-IN" sz="2000" noProof="0" dirty="0"/>
                        <a:t> (distributed persistence)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sz="2000" noProof="0" dirty="0"/>
                        <a:t>Allows a graph to pause, persist, and resume</a:t>
                      </a:r>
                    </a:p>
                    <a:p>
                      <a:endParaRPr lang="en-IN" sz="2000" noProof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2000" noProof="0" dirty="0"/>
                        <a:t>3_4_2_langgraph_memory_checkpointer_memory_saver.py, 3_4_3_langgraph_memory_sqllite_memory_saver.py, 3_4_5_langgraph_memory_sqllite_read_saved_data.py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2492789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39892920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F5F571-E521-BA4E-740F-1C3FEF3BA8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Memory: Bank Example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8D9EEE-7375-EC47-250A-5951AF9A91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IN" dirty="0"/>
              <a:t>Let user enter up to 5 bank transactions and then deliberately crash the application</a:t>
            </a:r>
          </a:p>
          <a:p>
            <a:r>
              <a:rPr lang="en-IN" dirty="0"/>
              <a:t>If the user restarts, </a:t>
            </a:r>
            <a:r>
              <a:rPr lang="en-IN" dirty="0" err="1"/>
              <a:t>MemorySaver</a:t>
            </a:r>
            <a:r>
              <a:rPr lang="en-IN" dirty="0"/>
              <a:t> and </a:t>
            </a:r>
            <a:r>
              <a:rPr lang="en-IN" dirty="0" err="1"/>
              <a:t>Sqllite</a:t>
            </a:r>
            <a:r>
              <a:rPr lang="en-IN" dirty="0"/>
              <a:t> behave differently</a:t>
            </a:r>
          </a:p>
          <a:p>
            <a:r>
              <a:rPr lang="en-IN" dirty="0"/>
              <a:t>Code</a:t>
            </a:r>
          </a:p>
          <a:p>
            <a:pPr lvl="1"/>
            <a:r>
              <a:rPr lang="en-IN" dirty="0" err="1"/>
              <a:t>MemorySaver</a:t>
            </a:r>
            <a:r>
              <a:rPr lang="en-IN" dirty="0"/>
              <a:t>: 3_4_langgraph_memory_bank_memory_saver.py</a:t>
            </a:r>
          </a:p>
          <a:p>
            <a:pPr lvl="1"/>
            <a:r>
              <a:rPr lang="en-IN" dirty="0" err="1"/>
              <a:t>Sqlite</a:t>
            </a:r>
            <a:r>
              <a:rPr lang="en-IN" dirty="0"/>
              <a:t>: 3_4_langgraph_memory_bank_sqlite.py</a:t>
            </a:r>
          </a:p>
          <a:p>
            <a:r>
              <a:rPr lang="en-IN" dirty="0"/>
              <a:t>Upon rerunning, </a:t>
            </a:r>
            <a:r>
              <a:rPr lang="en-IN" dirty="0" err="1"/>
              <a:t>MemorySaver</a:t>
            </a:r>
            <a:r>
              <a:rPr lang="en-IN" dirty="0"/>
              <a:t> cannot resume from the last state, since all the information is lost</a:t>
            </a:r>
          </a:p>
          <a:p>
            <a:r>
              <a:rPr lang="en-IN" dirty="0" err="1"/>
              <a:t>Sqlite</a:t>
            </a:r>
            <a:r>
              <a:rPr lang="en-IN" dirty="0"/>
              <a:t> preserves the information in </a:t>
            </a:r>
            <a:r>
              <a:rPr lang="en-IN" dirty="0" err="1"/>
              <a:t>bank.db</a:t>
            </a:r>
            <a:r>
              <a:rPr lang="en-IN" dirty="0"/>
              <a:t> file on the disk and hence is able to retrieve it 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938281676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6CCEFD-FCAC-AD81-A1CB-D2E2A0754D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Guardrails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69421C-BAC5-DCCC-5015-11BD263570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 safety control mechanism that ensures the model operates within defined limits by preventing unsafe, harmful, incorrect, off-topic, or policy-violating behavior</a:t>
            </a:r>
            <a:endParaRPr lang="en-GB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A9FEC590-CE2D-1581-D49C-307E41D88BE5}"/>
              </a:ext>
            </a:extLst>
          </p:cNvPr>
          <p:cNvGraphicFramePr>
            <a:graphicFrameLocks noGrp="1"/>
          </p:cNvGraphicFramePr>
          <p:nvPr/>
        </p:nvGraphicFramePr>
        <p:xfrm>
          <a:off x="1030155" y="3213764"/>
          <a:ext cx="10623792" cy="3469896"/>
        </p:xfrm>
        <a:graphic>
          <a:graphicData uri="http://schemas.openxmlformats.org/drawingml/2006/table">
            <a:tbl>
              <a:tblPr>
                <a:tableStyleId>{5DA37D80-6434-44D0-A028-1B22A696006F}</a:tableStyleId>
              </a:tblPr>
              <a:tblGrid>
                <a:gridCol w="2655366">
                  <a:extLst>
                    <a:ext uri="{9D8B030D-6E8A-4147-A177-3AD203B41FA5}">
                      <a16:colId xmlns:a16="http://schemas.microsoft.com/office/drawing/2014/main" val="1500301468"/>
                    </a:ext>
                  </a:extLst>
                </a:gridCol>
                <a:gridCol w="3776263">
                  <a:extLst>
                    <a:ext uri="{9D8B030D-6E8A-4147-A177-3AD203B41FA5}">
                      <a16:colId xmlns:a16="http://schemas.microsoft.com/office/drawing/2014/main" val="3207693654"/>
                    </a:ext>
                  </a:extLst>
                </a:gridCol>
                <a:gridCol w="4192163">
                  <a:extLst>
                    <a:ext uri="{9D8B030D-6E8A-4147-A177-3AD203B41FA5}">
                      <a16:colId xmlns:a16="http://schemas.microsoft.com/office/drawing/2014/main" val="761881727"/>
                    </a:ext>
                  </a:extLst>
                </a:gridCol>
              </a:tblGrid>
              <a:tr h="15372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b="1" dirty="0"/>
                        <a:t>Type of Guardrail</a:t>
                      </a:r>
                      <a:endParaRPr lang="en-GB" sz="1400" dirty="0"/>
                    </a:p>
                  </a:txBody>
                  <a:tcPr marL="58018" marR="58018" marT="29009" marB="2900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b="1"/>
                        <a:t>Purpose</a:t>
                      </a:r>
                      <a:endParaRPr lang="en-GB" sz="1400"/>
                    </a:p>
                  </a:txBody>
                  <a:tcPr marL="58018" marR="58018" marT="29009" marB="2900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b="1"/>
                        <a:t>Examples</a:t>
                      </a:r>
                      <a:endParaRPr lang="en-GB" sz="1400"/>
                    </a:p>
                  </a:txBody>
                  <a:tcPr marL="58018" marR="58018" marT="29009" marB="29009" anchor="ctr"/>
                </a:tc>
                <a:extLst>
                  <a:ext uri="{0D108BD9-81ED-4DB2-BD59-A6C34878D82A}">
                    <a16:rowId xmlns:a16="http://schemas.microsoft.com/office/drawing/2014/main" val="1339299965"/>
                  </a:ext>
                </a:extLst>
              </a:tr>
              <a:tr h="15372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b="1"/>
                        <a:t>Keyword / Phrase Blocking</a:t>
                      </a:r>
                      <a:endParaRPr lang="en-GB" sz="1400"/>
                    </a:p>
                  </a:txBody>
                  <a:tcPr marL="58018" marR="58018" marT="29009" marB="2900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Stop harmful or restricted words</a:t>
                      </a:r>
                    </a:p>
                  </a:txBody>
                  <a:tcPr marL="58018" marR="58018" marT="29009" marB="2900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sv-SE" sz="1400"/>
                        <a:t>Block: “bomb”, “hack”, “virus”</a:t>
                      </a:r>
                    </a:p>
                  </a:txBody>
                  <a:tcPr marL="58018" marR="58018" marT="29009" marB="29009" anchor="ctr"/>
                </a:tc>
                <a:extLst>
                  <a:ext uri="{0D108BD9-81ED-4DB2-BD59-A6C34878D82A}">
                    <a16:rowId xmlns:a16="http://schemas.microsoft.com/office/drawing/2014/main" val="2288825984"/>
                  </a:ext>
                </a:extLst>
              </a:tr>
              <a:tr h="26901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b="1"/>
                        <a:t>Input Validation</a:t>
                      </a:r>
                      <a:endParaRPr lang="en-GB" sz="1400"/>
                    </a:p>
                  </a:txBody>
                  <a:tcPr marL="58018" marR="58018" marT="29009" marB="2900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Reject malformed, long, or suspicious inputs</a:t>
                      </a:r>
                    </a:p>
                  </a:txBody>
                  <a:tcPr marL="58018" marR="58018" marT="29009" marB="2900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Max length, no URLs, no code blocks</a:t>
                      </a:r>
                    </a:p>
                  </a:txBody>
                  <a:tcPr marL="58018" marR="58018" marT="29009" marB="29009" anchor="ctr"/>
                </a:tc>
                <a:extLst>
                  <a:ext uri="{0D108BD9-81ED-4DB2-BD59-A6C34878D82A}">
                    <a16:rowId xmlns:a16="http://schemas.microsoft.com/office/drawing/2014/main" val="1627828663"/>
                  </a:ext>
                </a:extLst>
              </a:tr>
              <a:tr h="26901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b="1"/>
                        <a:t>Allow-List Topics</a:t>
                      </a:r>
                      <a:endParaRPr lang="en-GB" sz="1400"/>
                    </a:p>
                  </a:txBody>
                  <a:tcPr marL="58018" marR="58018" marT="29009" marB="2900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Only permit certain categories</a:t>
                      </a:r>
                    </a:p>
                  </a:txBody>
                  <a:tcPr marL="58018" marR="58018" marT="29009" marB="2900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Only allow: product queries, reviews</a:t>
                      </a:r>
                    </a:p>
                  </a:txBody>
                  <a:tcPr marL="58018" marR="58018" marT="29009" marB="29009" anchor="ctr"/>
                </a:tc>
                <a:extLst>
                  <a:ext uri="{0D108BD9-81ED-4DB2-BD59-A6C34878D82A}">
                    <a16:rowId xmlns:a16="http://schemas.microsoft.com/office/drawing/2014/main" val="3929346936"/>
                  </a:ext>
                </a:extLst>
              </a:tr>
              <a:tr h="26901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b="1" dirty="0"/>
                        <a:t>Semantic Safety (Embedding-Based)</a:t>
                      </a:r>
                      <a:endParaRPr lang="en-GB" sz="1400" dirty="0"/>
                    </a:p>
                  </a:txBody>
                  <a:tcPr marL="58018" marR="58018" marT="29009" marB="2900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Detect harmful intent beyond keywords</a:t>
                      </a:r>
                    </a:p>
                  </a:txBody>
                  <a:tcPr marL="58018" marR="58018" marT="29009" marB="2900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Check if query is similar to “harm”, “illegal activity”</a:t>
                      </a:r>
                    </a:p>
                  </a:txBody>
                  <a:tcPr marL="58018" marR="58018" marT="29009" marB="29009" anchor="ctr"/>
                </a:tc>
                <a:extLst>
                  <a:ext uri="{0D108BD9-81ED-4DB2-BD59-A6C34878D82A}">
                    <a16:rowId xmlns:a16="http://schemas.microsoft.com/office/drawing/2014/main" val="2854544573"/>
                  </a:ext>
                </a:extLst>
              </a:tr>
              <a:tr h="26901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b="1"/>
                        <a:t>Prompt Guardrails</a:t>
                      </a:r>
                      <a:endParaRPr lang="en-GB" sz="1400"/>
                    </a:p>
                  </a:txBody>
                  <a:tcPr marL="58018" marR="58018" marT="29009" marB="2900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Restrict what the LLM is allowed to answer</a:t>
                      </a:r>
                    </a:p>
                  </a:txBody>
                  <a:tcPr marL="58018" marR="58018" marT="29009" marB="2900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“Use context only”, “Don’t produce code”</a:t>
                      </a:r>
                    </a:p>
                  </a:txBody>
                  <a:tcPr marL="58018" marR="58018" marT="29009" marB="29009" anchor="ctr"/>
                </a:tc>
                <a:extLst>
                  <a:ext uri="{0D108BD9-81ED-4DB2-BD59-A6C34878D82A}">
                    <a16:rowId xmlns:a16="http://schemas.microsoft.com/office/drawing/2014/main" val="2594829134"/>
                  </a:ext>
                </a:extLst>
              </a:tr>
              <a:tr h="26901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b="1"/>
                        <a:t>Output Filtering</a:t>
                      </a:r>
                      <a:endParaRPr lang="en-GB" sz="1400"/>
                    </a:p>
                  </a:txBody>
                  <a:tcPr marL="58018" marR="58018" marT="29009" marB="2900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Post-process model output before showing it</a:t>
                      </a:r>
                    </a:p>
                  </a:txBody>
                  <a:tcPr marL="58018" marR="58018" marT="29009" marB="2900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Remove sensitive data, profanity</a:t>
                      </a:r>
                    </a:p>
                  </a:txBody>
                  <a:tcPr marL="58018" marR="58018" marT="29009" marB="29009" anchor="ctr"/>
                </a:tc>
                <a:extLst>
                  <a:ext uri="{0D108BD9-81ED-4DB2-BD59-A6C34878D82A}">
                    <a16:rowId xmlns:a16="http://schemas.microsoft.com/office/drawing/2014/main" val="3284521177"/>
                  </a:ext>
                </a:extLst>
              </a:tr>
              <a:tr h="26901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b="1"/>
                        <a:t>Tool-Use Guardrails</a:t>
                      </a:r>
                      <a:endParaRPr lang="en-GB" sz="1400"/>
                    </a:p>
                  </a:txBody>
                  <a:tcPr marL="58018" marR="58018" marT="29009" marB="2900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Restrict which tools the agent is allowed to call</a:t>
                      </a:r>
                    </a:p>
                  </a:txBody>
                  <a:tcPr marL="58018" marR="58018" marT="29009" marB="2900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Don't allow web search for medical queries</a:t>
                      </a:r>
                    </a:p>
                  </a:txBody>
                  <a:tcPr marL="58018" marR="58018" marT="29009" marB="29009" anchor="ctr"/>
                </a:tc>
                <a:extLst>
                  <a:ext uri="{0D108BD9-81ED-4DB2-BD59-A6C34878D82A}">
                    <a16:rowId xmlns:a16="http://schemas.microsoft.com/office/drawing/2014/main" val="151056724"/>
                  </a:ext>
                </a:extLst>
              </a:tr>
              <a:tr h="15372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b="1" dirty="0"/>
                        <a:t>Rate and Abuse Control</a:t>
                      </a:r>
                      <a:endParaRPr lang="en-GB" sz="1400" dirty="0"/>
                    </a:p>
                  </a:txBody>
                  <a:tcPr marL="58018" marR="58018" marT="29009" marB="2900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Prevent spam or automated misuse</a:t>
                      </a:r>
                    </a:p>
                  </a:txBody>
                  <a:tcPr marL="58018" marR="58018" marT="29009" marB="2900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Throttling, user authentication</a:t>
                      </a:r>
                    </a:p>
                  </a:txBody>
                  <a:tcPr marL="58018" marR="58018" marT="29009" marB="29009" anchor="ctr"/>
                </a:tc>
                <a:extLst>
                  <a:ext uri="{0D108BD9-81ED-4DB2-BD59-A6C34878D82A}">
                    <a16:rowId xmlns:a16="http://schemas.microsoft.com/office/drawing/2014/main" val="392245731"/>
                  </a:ext>
                </a:extLst>
              </a:tr>
              <a:tr h="26901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b="1"/>
                        <a:t>Content Policy Enforcement</a:t>
                      </a:r>
                      <a:endParaRPr lang="en-GB" sz="1400"/>
                    </a:p>
                  </a:txBody>
                  <a:tcPr marL="58018" marR="58018" marT="29009" marB="2900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Ensure model answers follow rules</a:t>
                      </a:r>
                    </a:p>
                  </a:txBody>
                  <a:tcPr marL="58018" marR="58018" marT="29009" marB="2900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Safety, factuality, privacy constraints</a:t>
                      </a:r>
                    </a:p>
                  </a:txBody>
                  <a:tcPr marL="58018" marR="58018" marT="29009" marB="29009" anchor="ctr"/>
                </a:tc>
                <a:extLst>
                  <a:ext uri="{0D108BD9-81ED-4DB2-BD59-A6C34878D82A}">
                    <a16:rowId xmlns:a16="http://schemas.microsoft.com/office/drawing/2014/main" val="4235607586"/>
                  </a:ext>
                </a:extLst>
              </a:tr>
              <a:tr h="26901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b="1"/>
                        <a:t>Hallucination Reduction</a:t>
                      </a:r>
                      <a:endParaRPr lang="en-GB" sz="1400"/>
                    </a:p>
                  </a:txBody>
                  <a:tcPr marL="58018" marR="58018" marT="29009" marB="2900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Prevent LLM from making up facts</a:t>
                      </a:r>
                    </a:p>
                  </a:txBody>
                  <a:tcPr marL="58018" marR="58018" marT="29009" marB="2900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Use retrieval-only answers; citations required</a:t>
                      </a:r>
                    </a:p>
                  </a:txBody>
                  <a:tcPr marL="58018" marR="58018" marT="29009" marB="29009" anchor="ctr"/>
                </a:tc>
                <a:extLst>
                  <a:ext uri="{0D108BD9-81ED-4DB2-BD59-A6C34878D82A}">
                    <a16:rowId xmlns:a16="http://schemas.microsoft.com/office/drawing/2014/main" val="4238350047"/>
                  </a:ext>
                </a:extLst>
              </a:tr>
              <a:tr h="26901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b="1"/>
                        <a:t>Business-Logic Guardrails</a:t>
                      </a:r>
                      <a:endParaRPr lang="en-GB" sz="1400"/>
                    </a:p>
                  </a:txBody>
                  <a:tcPr marL="58018" marR="58018" marT="29009" marB="2900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Enforce domain rules</a:t>
                      </a:r>
                    </a:p>
                  </a:txBody>
                  <a:tcPr marL="58018" marR="58018" marT="29009" marB="2900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/>
                        <a:t>“Don’t show pricing for unlaunched products”</a:t>
                      </a:r>
                    </a:p>
                  </a:txBody>
                  <a:tcPr marL="58018" marR="58018" marT="29009" marB="29009" anchor="ctr"/>
                </a:tc>
                <a:extLst>
                  <a:ext uri="{0D108BD9-81ED-4DB2-BD59-A6C34878D82A}">
                    <a16:rowId xmlns:a16="http://schemas.microsoft.com/office/drawing/2014/main" val="381494456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31919122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6EB672-0EDF-BD5F-0327-D1A8DBCCE7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D3535D71-3382-37FF-1A97-808E3C7557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Module 4: OpenAI Agents SDK</a:t>
            </a:r>
            <a:endParaRPr lang="en-GB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FF6E854-507D-72CB-2C22-07940D9BC6E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6074742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322CF8E-6F85-3542-4AB8-5D462D09CA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1) OpenAI API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BA96618-B43D-B387-98EB-A6DD5CC26A3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3176384891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727C4A0-0772-8D33-F778-33744DDB70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Basic Terms</a:t>
            </a:r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20AF7CD5-566B-8A01-3288-4FC12043B193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838200" y="1825625"/>
          <a:ext cx="10515597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05199">
                  <a:extLst>
                    <a:ext uri="{9D8B030D-6E8A-4147-A177-3AD203B41FA5}">
                      <a16:colId xmlns:a16="http://schemas.microsoft.com/office/drawing/2014/main" val="324501555"/>
                    </a:ext>
                  </a:extLst>
                </a:gridCol>
                <a:gridCol w="3505199">
                  <a:extLst>
                    <a:ext uri="{9D8B030D-6E8A-4147-A177-3AD203B41FA5}">
                      <a16:colId xmlns:a16="http://schemas.microsoft.com/office/drawing/2014/main" val="2100169871"/>
                    </a:ext>
                  </a:extLst>
                </a:gridCol>
                <a:gridCol w="3505199">
                  <a:extLst>
                    <a:ext uri="{9D8B030D-6E8A-4147-A177-3AD203B41FA5}">
                      <a16:colId xmlns:a16="http://schemas.microsoft.com/office/drawing/2014/main" val="329000547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IN" noProof="0" dirty="0"/>
                        <a:t>Component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noProof="0" dirty="0"/>
                        <a:t>Full form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noProof="0" dirty="0"/>
                        <a:t>Where located?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137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noProof="0" dirty="0"/>
                        <a:t>Agent SDK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noProof="0" dirty="0"/>
                        <a:t>Software Development Kit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noProof="0" dirty="0"/>
                        <a:t>Runs on our client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94284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noProof="0" dirty="0"/>
                        <a:t>API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noProof="0" dirty="0"/>
                        <a:t>Application Programming Interface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noProof="0" dirty="0"/>
                        <a:t>Runs on the server side (LLM)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71777754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BB797B7F-2A4D-9060-19EA-37CA14F02D44}"/>
              </a:ext>
            </a:extLst>
          </p:cNvPr>
          <p:cNvSpPr txBox="1"/>
          <p:nvPr/>
        </p:nvSpPr>
        <p:spPr>
          <a:xfrm>
            <a:off x="1220042" y="4851852"/>
            <a:ext cx="1253447" cy="369332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b="1" noProof="0" dirty="0">
                <a:solidFill>
                  <a:srgbClr val="C00000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Agent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80ADF21-0A99-F968-071A-EBDF011637BE}"/>
              </a:ext>
            </a:extLst>
          </p:cNvPr>
          <p:cNvSpPr txBox="1"/>
          <p:nvPr/>
        </p:nvSpPr>
        <p:spPr>
          <a:xfrm>
            <a:off x="7277631" y="4752318"/>
            <a:ext cx="133564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b="1" noProof="0" dirty="0">
                <a:solidFill>
                  <a:srgbClr val="C00000"/>
                </a:solidFill>
              </a:rPr>
              <a:t>API </a:t>
            </a:r>
          </a:p>
          <a:p>
            <a:pPr algn="ctr"/>
            <a:r>
              <a:rPr lang="en-IN" b="1" noProof="0" dirty="0">
                <a:solidFill>
                  <a:srgbClr val="C00000"/>
                </a:solidFill>
              </a:rPr>
              <a:t>end-point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B6E6B46-CB8E-A864-81A8-943BDD5502EA}"/>
              </a:ext>
            </a:extLst>
          </p:cNvPr>
          <p:cNvSpPr txBox="1"/>
          <p:nvPr/>
        </p:nvSpPr>
        <p:spPr>
          <a:xfrm>
            <a:off x="2326127" y="4859790"/>
            <a:ext cx="13356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b="1" noProof="0" dirty="0">
                <a:solidFill>
                  <a:srgbClr val="C00000"/>
                </a:solidFill>
              </a:rPr>
              <a:t>SDK</a:t>
            </a:r>
          </a:p>
        </p:txBody>
      </p:sp>
      <p:sp>
        <p:nvSpPr>
          <p:cNvPr id="10" name="Arrow: Left-Right 9">
            <a:extLst>
              <a:ext uri="{FF2B5EF4-FFF2-40B4-BE49-F238E27FC236}">
                <a16:creationId xmlns:a16="http://schemas.microsoft.com/office/drawing/2014/main" id="{43DC8BA5-E1A9-7538-46BB-41C4D1E978F8}"/>
              </a:ext>
            </a:extLst>
          </p:cNvPr>
          <p:cNvSpPr/>
          <p:nvPr/>
        </p:nvSpPr>
        <p:spPr>
          <a:xfrm>
            <a:off x="3503023" y="4911258"/>
            <a:ext cx="3944594" cy="282467"/>
          </a:xfrm>
          <a:prstGeom prst="left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noProof="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D142FD1-B660-54B6-A8F1-E36A6A2DC4BD}"/>
              </a:ext>
            </a:extLst>
          </p:cNvPr>
          <p:cNvSpPr txBox="1"/>
          <p:nvPr/>
        </p:nvSpPr>
        <p:spPr>
          <a:xfrm>
            <a:off x="8759567" y="5060877"/>
            <a:ext cx="1704112" cy="646331"/>
          </a:xfrm>
          <a:prstGeom prst="rect">
            <a:avLst/>
          </a:prstGeom>
          <a:solidFill>
            <a:schemeClr val="bg2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b="1" noProof="0" dirty="0"/>
              <a:t>GPT </a:t>
            </a:r>
          </a:p>
          <a:p>
            <a:pPr algn="ctr"/>
            <a:r>
              <a:rPr lang="en-IN" b="1" noProof="0" dirty="0"/>
              <a:t>(OpenAI LLM)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29D43EDD-6D21-07DE-42CB-D7BA8AC9F8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67086" y="3283023"/>
            <a:ext cx="1704112" cy="17694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7662504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9B4FDA-2B5B-CEEC-8BAF-C717B0D2D3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OpenAI API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F35F37-013B-839B-2222-CA0AC7C3B9A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b="1" noProof="0" dirty="0"/>
              <a:t>OpenAI API</a:t>
            </a:r>
            <a:r>
              <a:rPr lang="en-IN" noProof="0" dirty="0"/>
              <a:t>: Provides a simple interface to AI models for text generation, natural language processing, computer vision, and more</a:t>
            </a:r>
          </a:p>
          <a:p>
            <a:r>
              <a:rPr lang="en-IN" noProof="0" dirty="0"/>
              <a:t>Official SDK:  </a:t>
            </a:r>
            <a:r>
              <a:rPr lang="en-IN" b="1" noProof="0" dirty="0"/>
              <a:t>pip install </a:t>
            </a:r>
            <a:r>
              <a:rPr lang="en-IN" b="1" noProof="0" dirty="0" err="1"/>
              <a:t>openai</a:t>
            </a:r>
            <a:r>
              <a:rPr lang="en-IN" b="1" noProof="0" dirty="0"/>
              <a:t>	 	pip install </a:t>
            </a:r>
            <a:r>
              <a:rPr lang="en-IN" b="1" noProof="0" dirty="0" err="1"/>
              <a:t>openai</a:t>
            </a:r>
            <a:r>
              <a:rPr lang="en-IN" b="1" noProof="0" dirty="0"/>
              <a:t>-agents</a:t>
            </a:r>
          </a:p>
          <a:p>
            <a:endParaRPr lang="en-IN" noProof="0" dirty="0"/>
          </a:p>
          <a:p>
            <a:endParaRPr lang="en-IN" noProof="0" dirty="0"/>
          </a:p>
          <a:p>
            <a:endParaRPr lang="en-IN" noProof="0" dirty="0"/>
          </a:p>
          <a:p>
            <a:endParaRPr lang="en-IN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543A325-EC48-2FF1-FB89-DA7D0C0927EB}"/>
              </a:ext>
            </a:extLst>
          </p:cNvPr>
          <p:cNvSpPr txBox="1"/>
          <p:nvPr/>
        </p:nvSpPr>
        <p:spPr>
          <a:xfrm>
            <a:off x="4356242" y="3395609"/>
            <a:ext cx="3071973" cy="400110"/>
          </a:xfrm>
          <a:prstGeom prst="rect">
            <a:avLst/>
          </a:prstGeom>
          <a:solidFill>
            <a:srgbClr val="7030A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sz="2000" b="1" noProof="0" dirty="0">
                <a:solidFill>
                  <a:schemeClr val="bg1"/>
                </a:solidFill>
              </a:rPr>
              <a:t>OpenAI APIs</a:t>
            </a:r>
            <a:endParaRPr lang="en-IN" b="1" noProof="0" dirty="0">
              <a:solidFill>
                <a:schemeClr val="bg1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BF211E7-7E82-FE86-4E1E-37CA868E2B98}"/>
              </a:ext>
            </a:extLst>
          </p:cNvPr>
          <p:cNvSpPr txBox="1"/>
          <p:nvPr/>
        </p:nvSpPr>
        <p:spPr>
          <a:xfrm>
            <a:off x="838200" y="4965593"/>
            <a:ext cx="3071973" cy="400110"/>
          </a:xfrm>
          <a:prstGeom prst="rect">
            <a:avLst/>
          </a:prstGeom>
          <a:solidFill>
            <a:srgbClr val="7030A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sz="2000" b="1" noProof="0" dirty="0">
                <a:solidFill>
                  <a:schemeClr val="bg1"/>
                </a:solidFill>
              </a:rPr>
              <a:t>Chat Completions API</a:t>
            </a:r>
            <a:endParaRPr lang="en-IN" b="1" noProof="0" dirty="0">
              <a:solidFill>
                <a:schemeClr val="bg1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61E4567-0C93-7CB8-8568-AF54770F0360}"/>
              </a:ext>
            </a:extLst>
          </p:cNvPr>
          <p:cNvSpPr txBox="1"/>
          <p:nvPr/>
        </p:nvSpPr>
        <p:spPr>
          <a:xfrm>
            <a:off x="4356241" y="4965593"/>
            <a:ext cx="3071973" cy="400110"/>
          </a:xfrm>
          <a:prstGeom prst="rect">
            <a:avLst/>
          </a:prstGeom>
          <a:solidFill>
            <a:srgbClr val="7030A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sz="2000" b="1" noProof="0" dirty="0">
                <a:solidFill>
                  <a:schemeClr val="bg1"/>
                </a:solidFill>
              </a:rPr>
              <a:t>Responses API</a:t>
            </a:r>
            <a:endParaRPr lang="en-IN" b="1" noProof="0" dirty="0">
              <a:solidFill>
                <a:schemeClr val="bg1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C253BEA-B2F3-0E07-A639-F6630DBF45B5}"/>
              </a:ext>
            </a:extLst>
          </p:cNvPr>
          <p:cNvSpPr txBox="1"/>
          <p:nvPr/>
        </p:nvSpPr>
        <p:spPr>
          <a:xfrm>
            <a:off x="7874282" y="4965593"/>
            <a:ext cx="3071973" cy="400110"/>
          </a:xfrm>
          <a:prstGeom prst="rect">
            <a:avLst/>
          </a:prstGeom>
          <a:solidFill>
            <a:srgbClr val="7030A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sz="2000" b="1" noProof="0" dirty="0">
                <a:solidFill>
                  <a:schemeClr val="bg1"/>
                </a:solidFill>
              </a:rPr>
              <a:t>Agents API</a:t>
            </a:r>
            <a:endParaRPr lang="en-IN" b="1" noProof="0" dirty="0">
              <a:solidFill>
                <a:schemeClr val="bg1"/>
              </a:solidFill>
            </a:endParaRP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4E12284E-B94C-BDBD-8B07-88A3CE655768}"/>
              </a:ext>
            </a:extLst>
          </p:cNvPr>
          <p:cNvCxnSpPr>
            <a:stCxn id="4" idx="2"/>
            <a:endCxn id="6" idx="0"/>
          </p:cNvCxnSpPr>
          <p:nvPr/>
        </p:nvCxnSpPr>
        <p:spPr>
          <a:xfrm flipH="1">
            <a:off x="5892228" y="3795719"/>
            <a:ext cx="1" cy="1169874"/>
          </a:xfrm>
          <a:prstGeom prst="line">
            <a:avLst/>
          </a:prstGeom>
          <a:ln w="28575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EA6157E8-1DBD-A064-A2D7-8539C5F28D3E}"/>
              </a:ext>
            </a:extLst>
          </p:cNvPr>
          <p:cNvCxnSpPr/>
          <p:nvPr/>
        </p:nvCxnSpPr>
        <p:spPr>
          <a:xfrm>
            <a:off x="2270589" y="4222679"/>
            <a:ext cx="7489860" cy="0"/>
          </a:xfrm>
          <a:prstGeom prst="line">
            <a:avLst/>
          </a:prstGeom>
          <a:ln w="28575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B8022BFA-3E3C-8624-51E1-ABF220ABBD7E}"/>
              </a:ext>
            </a:extLst>
          </p:cNvPr>
          <p:cNvCxnSpPr>
            <a:cxnSpLocks/>
          </p:cNvCxnSpPr>
          <p:nvPr/>
        </p:nvCxnSpPr>
        <p:spPr>
          <a:xfrm>
            <a:off x="2270589" y="4222679"/>
            <a:ext cx="0" cy="742914"/>
          </a:xfrm>
          <a:prstGeom prst="line">
            <a:avLst/>
          </a:prstGeom>
          <a:ln w="28575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BFEDF2BA-1E78-1436-8F72-661A210E13CD}"/>
              </a:ext>
            </a:extLst>
          </p:cNvPr>
          <p:cNvCxnSpPr>
            <a:cxnSpLocks/>
          </p:cNvCxnSpPr>
          <p:nvPr/>
        </p:nvCxnSpPr>
        <p:spPr>
          <a:xfrm>
            <a:off x="9760449" y="4222679"/>
            <a:ext cx="0" cy="742914"/>
          </a:xfrm>
          <a:prstGeom prst="line">
            <a:avLst/>
          </a:prstGeom>
          <a:ln w="28575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5EB3A2A9-90A4-B6BE-B3C0-B4273D934DA1}"/>
              </a:ext>
            </a:extLst>
          </p:cNvPr>
          <p:cNvSpPr txBox="1"/>
          <p:nvPr/>
        </p:nvSpPr>
        <p:spPr>
          <a:xfrm>
            <a:off x="1143428" y="5408719"/>
            <a:ext cx="2254321" cy="646331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IN" noProof="0" dirty="0"/>
              <a:t>Classic</a:t>
            </a:r>
          </a:p>
          <a:p>
            <a:r>
              <a:rPr lang="en-IN" noProof="0" dirty="0"/>
              <a:t>Most widely-known 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29237B4-A6F6-7087-FD37-454F083E4D1F}"/>
              </a:ext>
            </a:extLst>
          </p:cNvPr>
          <p:cNvSpPr txBox="1"/>
          <p:nvPr/>
        </p:nvSpPr>
        <p:spPr>
          <a:xfrm>
            <a:off x="4888358" y="5408719"/>
            <a:ext cx="2254321" cy="92333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IN" noProof="0" dirty="0"/>
              <a:t>New unified API</a:t>
            </a:r>
          </a:p>
          <a:p>
            <a:r>
              <a:rPr lang="en-IN" noProof="0" dirty="0"/>
              <a:t>Supersedes Chat Completions API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490D5E8-A51B-0230-D10B-68DF56173E6A}"/>
              </a:ext>
            </a:extLst>
          </p:cNvPr>
          <p:cNvSpPr txBox="1"/>
          <p:nvPr/>
        </p:nvSpPr>
        <p:spPr>
          <a:xfrm>
            <a:off x="7874283" y="5408719"/>
            <a:ext cx="3071972" cy="1200329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IN" noProof="0" dirty="0"/>
              <a:t>Higher level</a:t>
            </a:r>
          </a:p>
          <a:p>
            <a:r>
              <a:rPr lang="en-IN" i="1" noProof="0" dirty="0"/>
              <a:t>Agentic</a:t>
            </a:r>
            <a:endParaRPr lang="en-IN" noProof="0" dirty="0"/>
          </a:p>
          <a:p>
            <a:r>
              <a:rPr lang="en-IN" noProof="0" dirty="0"/>
              <a:t>Memory, Tools, Guardrails, Workflows …</a:t>
            </a:r>
          </a:p>
        </p:txBody>
      </p:sp>
    </p:spTree>
    <p:extLst>
      <p:ext uri="{BB962C8B-B14F-4D97-AF65-F5344CB8AC3E}">
        <p14:creationId xmlns:p14="http://schemas.microsoft.com/office/powerpoint/2010/main" val="1892574844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CBEAAC-F071-51DB-D8E2-78C214B214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OpenAI API Comparison – Part 1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930601D4-1470-C318-8BE5-094DC6D8F067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277402" y="1395449"/>
          <a:ext cx="11733089" cy="5468849"/>
        </p:xfrm>
        <a:graphic>
          <a:graphicData uri="http://schemas.openxmlformats.org/drawingml/2006/table">
            <a:tbl>
              <a:tblPr>
                <a:tableStyleId>{E8B1032C-EA38-4F05-BA0D-38AFFFC7BED3}</a:tableStyleId>
              </a:tblPr>
              <a:tblGrid>
                <a:gridCol w="1553066">
                  <a:extLst>
                    <a:ext uri="{9D8B030D-6E8A-4147-A177-3AD203B41FA5}">
                      <a16:colId xmlns:a16="http://schemas.microsoft.com/office/drawing/2014/main" val="3967619751"/>
                    </a:ext>
                  </a:extLst>
                </a:gridCol>
                <a:gridCol w="3106131">
                  <a:extLst>
                    <a:ext uri="{9D8B030D-6E8A-4147-A177-3AD203B41FA5}">
                      <a16:colId xmlns:a16="http://schemas.microsoft.com/office/drawing/2014/main" val="3056558560"/>
                    </a:ext>
                  </a:extLst>
                </a:gridCol>
                <a:gridCol w="3393341">
                  <a:extLst>
                    <a:ext uri="{9D8B030D-6E8A-4147-A177-3AD203B41FA5}">
                      <a16:colId xmlns:a16="http://schemas.microsoft.com/office/drawing/2014/main" val="1474668010"/>
                    </a:ext>
                  </a:extLst>
                </a:gridCol>
                <a:gridCol w="3680551">
                  <a:extLst>
                    <a:ext uri="{9D8B030D-6E8A-4147-A177-3AD203B41FA5}">
                      <a16:colId xmlns:a16="http://schemas.microsoft.com/office/drawing/2014/main" val="1103201326"/>
                    </a:ext>
                  </a:extLst>
                </a:gridCol>
              </a:tblGrid>
              <a:tr h="30079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b="1" noProof="0" dirty="0"/>
                        <a:t>Feature</a:t>
                      </a:r>
                    </a:p>
                  </a:txBody>
                  <a:tcPr marL="33995" marR="33995" marT="16997" marB="16997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b="1" noProof="0" dirty="0"/>
                        <a:t>Chat Completions API</a:t>
                      </a:r>
                      <a:endParaRPr lang="en-IN" sz="2000" noProof="0" dirty="0"/>
                    </a:p>
                  </a:txBody>
                  <a:tcPr marL="33995" marR="33995" marT="16997" marB="16997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b="1" noProof="0" dirty="0"/>
                        <a:t>Responses API</a:t>
                      </a:r>
                      <a:endParaRPr lang="en-IN" sz="2000" noProof="0" dirty="0"/>
                    </a:p>
                  </a:txBody>
                  <a:tcPr marL="33995" marR="33995" marT="16997" marB="16997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b="1" noProof="0" dirty="0"/>
                        <a:t>Agents API</a:t>
                      </a:r>
                      <a:endParaRPr lang="en-IN" sz="2000" noProof="0" dirty="0"/>
                    </a:p>
                  </a:txBody>
                  <a:tcPr marL="33995" marR="33995" marT="16997" marB="16997" anchor="ctr"/>
                </a:tc>
                <a:extLst>
                  <a:ext uri="{0D108BD9-81ED-4DB2-BD59-A6C34878D82A}">
                    <a16:rowId xmlns:a16="http://schemas.microsoft.com/office/drawing/2014/main" val="2268219123"/>
                  </a:ext>
                </a:extLst>
              </a:tr>
              <a:tr h="116300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b="1" noProof="0" dirty="0"/>
                        <a:t>Purpose</a:t>
                      </a:r>
                      <a:endParaRPr lang="en-IN" sz="2000" noProof="0" dirty="0"/>
                    </a:p>
                  </a:txBody>
                  <a:tcPr marL="33995" marR="33995" marT="16997" marB="16997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noProof="0" dirty="0"/>
                        <a:t>Generate conversational completions (chat-like interaction).</a:t>
                      </a:r>
                    </a:p>
                  </a:txBody>
                  <a:tcPr marL="33995" marR="33995" marT="16997" marB="16997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noProof="0" dirty="0"/>
                        <a:t>Unified API for text, chat, JSON, function/tool calling, structured outputs, multimodal input/output.</a:t>
                      </a:r>
                    </a:p>
                  </a:txBody>
                  <a:tcPr marL="33995" marR="33995" marT="16997" marB="16997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noProof="0" dirty="0"/>
                        <a:t>High-level framework to build autonomous assistants with memory, tools, workflows, and guardrails.</a:t>
                      </a:r>
                    </a:p>
                  </a:txBody>
                  <a:tcPr marL="33995" marR="33995" marT="16997" marB="16997" anchor="ctr"/>
                </a:tc>
                <a:extLst>
                  <a:ext uri="{0D108BD9-81ED-4DB2-BD59-A6C34878D82A}">
                    <a16:rowId xmlns:a16="http://schemas.microsoft.com/office/drawing/2014/main" val="4072924425"/>
                  </a:ext>
                </a:extLst>
              </a:tr>
              <a:tr h="72687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b="1" noProof="0" dirty="0"/>
                        <a:t>Input Format</a:t>
                      </a:r>
                      <a:endParaRPr lang="en-IN" sz="2000" noProof="0" dirty="0"/>
                    </a:p>
                  </a:txBody>
                  <a:tcPr marL="33995" marR="33995" marT="16997" marB="16997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noProof="0" dirty="0"/>
                        <a:t>messages=[{"role": "user", "content": "..."}]</a:t>
                      </a:r>
                    </a:p>
                  </a:txBody>
                  <a:tcPr marL="33995" marR="33995" marT="16997" marB="16997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noProof="0" dirty="0"/>
                        <a:t>input="..." (string) OR messages=[...] (compatible)</a:t>
                      </a:r>
                    </a:p>
                  </a:txBody>
                  <a:tcPr marL="33995" marR="33995" marT="16997" marB="16997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noProof="0" dirty="0"/>
                        <a:t>Uses Agent object with instructions, memory, and optional tools/guardrails.</a:t>
                      </a:r>
                    </a:p>
                  </a:txBody>
                  <a:tcPr marL="33995" marR="33995" marT="16997" marB="16997" anchor="ctr"/>
                </a:tc>
                <a:extLst>
                  <a:ext uri="{0D108BD9-81ED-4DB2-BD59-A6C34878D82A}">
                    <a16:rowId xmlns:a16="http://schemas.microsoft.com/office/drawing/2014/main" val="1386105646"/>
                  </a:ext>
                </a:extLst>
              </a:tr>
              <a:tr h="94494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b="1" noProof="0" dirty="0"/>
                        <a:t>Output</a:t>
                      </a:r>
                      <a:endParaRPr lang="en-IN" sz="2000" noProof="0" dirty="0"/>
                    </a:p>
                  </a:txBody>
                  <a:tcPr marL="33995" marR="33995" marT="16997" marB="16997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noProof="0" dirty="0"/>
                        <a:t>choices[0].</a:t>
                      </a:r>
                      <a:r>
                        <a:rPr lang="en-IN" sz="2000" noProof="0" dirty="0" err="1"/>
                        <a:t>message.content</a:t>
                      </a:r>
                      <a:endParaRPr lang="en-IN" sz="2000" noProof="0" dirty="0"/>
                    </a:p>
                  </a:txBody>
                  <a:tcPr marL="33995" marR="33995" marT="16997" marB="16997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noProof="0" dirty="0"/>
                        <a:t>output[0].content (can be text, JSON, tool calls, or structured model output)</a:t>
                      </a:r>
                    </a:p>
                  </a:txBody>
                  <a:tcPr marL="33995" marR="33995" marT="16997" marB="16997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noProof="0" dirty="0" err="1"/>
                        <a:t>final_output</a:t>
                      </a:r>
                      <a:r>
                        <a:rPr lang="en-IN" sz="2000" noProof="0" dirty="0"/>
                        <a:t> (structured result after reasoning, tool use, and memory application).</a:t>
                      </a:r>
                    </a:p>
                  </a:txBody>
                  <a:tcPr marL="33995" marR="33995" marT="16997" marB="16997" anchor="ctr"/>
                </a:tc>
                <a:extLst>
                  <a:ext uri="{0D108BD9-81ED-4DB2-BD59-A6C34878D82A}">
                    <a16:rowId xmlns:a16="http://schemas.microsoft.com/office/drawing/2014/main" val="4202905185"/>
                  </a:ext>
                </a:extLst>
              </a:tr>
              <a:tr h="72687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b="1" noProof="0" dirty="0"/>
                        <a:t>Structured Output</a:t>
                      </a:r>
                      <a:endParaRPr lang="en-IN" sz="2000" noProof="0" dirty="0"/>
                    </a:p>
                  </a:txBody>
                  <a:tcPr marL="33995" marR="33995" marT="16997" marB="16997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noProof="0" dirty="0"/>
                        <a:t>Limited (manual JSON schema enforcement)</a:t>
                      </a:r>
                    </a:p>
                  </a:txBody>
                  <a:tcPr marL="33995" marR="33995" marT="16997" marB="16997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noProof="0" dirty="0"/>
                        <a:t>Native via </a:t>
                      </a:r>
                      <a:r>
                        <a:rPr lang="en-IN" sz="2000" noProof="0" dirty="0" err="1"/>
                        <a:t>response_format</a:t>
                      </a:r>
                      <a:r>
                        <a:rPr lang="en-IN" sz="2000" noProof="0" dirty="0"/>
                        <a:t> + </a:t>
                      </a:r>
                      <a:r>
                        <a:rPr lang="en-IN" sz="2000" noProof="0" dirty="0" err="1"/>
                        <a:t>Pydantic</a:t>
                      </a:r>
                      <a:r>
                        <a:rPr lang="en-IN" sz="2000" noProof="0" dirty="0"/>
                        <a:t> schemas</a:t>
                      </a:r>
                    </a:p>
                  </a:txBody>
                  <a:tcPr marL="33995" marR="33995" marT="16997" marB="16997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noProof="0" dirty="0"/>
                        <a:t>First-class: agents directly return structured </a:t>
                      </a:r>
                      <a:r>
                        <a:rPr lang="en-IN" sz="2000" noProof="0" dirty="0" err="1"/>
                        <a:t>Pydantic</a:t>
                      </a:r>
                      <a:r>
                        <a:rPr lang="en-IN" sz="2000" noProof="0" dirty="0"/>
                        <a:t> outputs.</a:t>
                      </a:r>
                    </a:p>
                  </a:txBody>
                  <a:tcPr marL="33995" marR="33995" marT="16997" marB="16997" anchor="ctr"/>
                </a:tc>
                <a:extLst>
                  <a:ext uri="{0D108BD9-81ED-4DB2-BD59-A6C34878D82A}">
                    <a16:rowId xmlns:a16="http://schemas.microsoft.com/office/drawing/2014/main" val="3079573149"/>
                  </a:ext>
                </a:extLst>
              </a:tr>
              <a:tr h="116300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b="1" noProof="0" dirty="0"/>
                        <a:t>Tool/Function Calling</a:t>
                      </a:r>
                      <a:endParaRPr lang="en-IN" sz="2000" noProof="0" dirty="0"/>
                    </a:p>
                  </a:txBody>
                  <a:tcPr marL="33995" marR="33995" marT="16997" marB="16997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noProof="0" dirty="0"/>
                        <a:t>Function calling (functions + </a:t>
                      </a:r>
                      <a:r>
                        <a:rPr lang="en-IN" sz="2000" noProof="0" dirty="0" err="1"/>
                        <a:t>function_call</a:t>
                      </a:r>
                      <a:r>
                        <a:rPr lang="en-IN" sz="2000" noProof="0" dirty="0"/>
                        <a:t>)</a:t>
                      </a:r>
                    </a:p>
                  </a:txBody>
                  <a:tcPr marL="33995" marR="33995" marT="16997" marB="16997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noProof="0" dirty="0"/>
                        <a:t>tools=[...] with unified syntax (works with function calling, external connectors, image generation, etc.)</a:t>
                      </a:r>
                    </a:p>
                  </a:txBody>
                  <a:tcPr marL="33995" marR="33995" marT="16997" marB="16997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noProof="0" dirty="0"/>
                        <a:t>Tools can be registered with an agent, with automatic orchestration, approvals, and retries.</a:t>
                      </a:r>
                    </a:p>
                  </a:txBody>
                  <a:tcPr marL="33995" marR="33995" marT="16997" marB="16997" anchor="ctr"/>
                </a:tc>
                <a:extLst>
                  <a:ext uri="{0D108BD9-81ED-4DB2-BD59-A6C34878D82A}">
                    <a16:rowId xmlns:a16="http://schemas.microsoft.com/office/drawing/2014/main" val="227100926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82062491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E02D6B-197C-3D2B-6E89-2AB009B7F5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8EDE7A-88B3-BF2D-62AA-984513907F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OpenAI API Comparison – Part 2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3A61314E-1460-007E-CCF6-8B96CF0A05C6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513707" y="1467367"/>
          <a:ext cx="11332396" cy="5025508"/>
        </p:xfrm>
        <a:graphic>
          <a:graphicData uri="http://schemas.openxmlformats.org/drawingml/2006/table">
            <a:tbl>
              <a:tblPr>
                <a:tableStyleId>{E8B1032C-EA38-4F05-BA0D-38AFFFC7BED3}</a:tableStyleId>
              </a:tblPr>
              <a:tblGrid>
                <a:gridCol w="1479480">
                  <a:extLst>
                    <a:ext uri="{9D8B030D-6E8A-4147-A177-3AD203B41FA5}">
                      <a16:colId xmlns:a16="http://schemas.microsoft.com/office/drawing/2014/main" val="3967619751"/>
                    </a:ext>
                  </a:extLst>
                </a:gridCol>
                <a:gridCol w="2958957">
                  <a:extLst>
                    <a:ext uri="{9D8B030D-6E8A-4147-A177-3AD203B41FA5}">
                      <a16:colId xmlns:a16="http://schemas.microsoft.com/office/drawing/2014/main" val="3056558560"/>
                    </a:ext>
                  </a:extLst>
                </a:gridCol>
                <a:gridCol w="3256908">
                  <a:extLst>
                    <a:ext uri="{9D8B030D-6E8A-4147-A177-3AD203B41FA5}">
                      <a16:colId xmlns:a16="http://schemas.microsoft.com/office/drawing/2014/main" val="1474668010"/>
                    </a:ext>
                  </a:extLst>
                </a:gridCol>
                <a:gridCol w="3637051">
                  <a:extLst>
                    <a:ext uri="{9D8B030D-6E8A-4147-A177-3AD203B41FA5}">
                      <a16:colId xmlns:a16="http://schemas.microsoft.com/office/drawing/2014/main" val="1103201326"/>
                    </a:ext>
                  </a:extLst>
                </a:gridCol>
              </a:tblGrid>
              <a:tr h="43764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 b="1" noProof="0" dirty="0"/>
                        <a:t>Feature</a:t>
                      </a:r>
                    </a:p>
                  </a:txBody>
                  <a:tcPr marL="33995" marR="33995" marT="16997" marB="16997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 b="1" noProof="0" dirty="0"/>
                        <a:t>Chat Completions API</a:t>
                      </a:r>
                      <a:endParaRPr lang="en-IN" sz="1800" noProof="0" dirty="0"/>
                    </a:p>
                  </a:txBody>
                  <a:tcPr marL="33995" marR="33995" marT="16997" marB="16997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 b="1" noProof="0" dirty="0"/>
                        <a:t>Responses API</a:t>
                      </a:r>
                      <a:endParaRPr lang="en-IN" sz="1800" noProof="0" dirty="0"/>
                    </a:p>
                  </a:txBody>
                  <a:tcPr marL="33995" marR="33995" marT="16997" marB="16997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 b="1" noProof="0" dirty="0"/>
                        <a:t>Agents API</a:t>
                      </a:r>
                      <a:endParaRPr lang="en-IN" sz="1800" noProof="0" dirty="0"/>
                    </a:p>
                  </a:txBody>
                  <a:tcPr marL="33995" marR="33995" marT="16997" marB="16997" anchor="ctr"/>
                </a:tc>
                <a:extLst>
                  <a:ext uri="{0D108BD9-81ED-4DB2-BD59-A6C34878D82A}">
                    <a16:rowId xmlns:a16="http://schemas.microsoft.com/office/drawing/2014/main" val="2268219123"/>
                  </a:ext>
                </a:extLst>
              </a:tr>
              <a:tr h="76683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 b="1" noProof="0" dirty="0"/>
                        <a:t>Multimodal Support</a:t>
                      </a:r>
                      <a:endParaRPr lang="en-IN" sz="1800" noProof="0" dirty="0"/>
                    </a:p>
                  </a:txBody>
                  <a:tcPr marL="33995" marR="33995" marT="16997" marB="16997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 noProof="0" dirty="0"/>
                        <a:t>Partial (GPT-4o-mini, images, but not unified)</a:t>
                      </a:r>
                    </a:p>
                  </a:txBody>
                  <a:tcPr marL="33995" marR="33995" marT="16997" marB="16997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 noProof="0" dirty="0"/>
                        <a:t>Yes (text, image, audio, video, JSON in/out)</a:t>
                      </a:r>
                    </a:p>
                  </a:txBody>
                  <a:tcPr marL="33995" marR="33995" marT="16997" marB="16997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 noProof="0" dirty="0"/>
                        <a:t>Inherits multimodal support from Responses API.</a:t>
                      </a:r>
                    </a:p>
                  </a:txBody>
                  <a:tcPr marL="33995" marR="33995" marT="16997" marB="16997" anchor="ctr"/>
                </a:tc>
                <a:extLst>
                  <a:ext uri="{0D108BD9-81ED-4DB2-BD59-A6C34878D82A}">
                    <a16:rowId xmlns:a16="http://schemas.microsoft.com/office/drawing/2014/main" val="1633214852"/>
                  </a:ext>
                </a:extLst>
              </a:tr>
              <a:tr h="122693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 b="1" noProof="0" dirty="0"/>
                        <a:t>Memory</a:t>
                      </a:r>
                      <a:endParaRPr lang="en-IN" sz="1800" noProof="0" dirty="0"/>
                    </a:p>
                  </a:txBody>
                  <a:tcPr marL="33995" marR="33995" marT="16997" marB="16997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 noProof="0" dirty="0"/>
                        <a:t>None (stateless, must pass full history).</a:t>
                      </a:r>
                    </a:p>
                  </a:txBody>
                  <a:tcPr marL="33995" marR="33995" marT="16997" marB="16997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 noProof="0" dirty="0"/>
                        <a:t>None (stateless, unless we add our own memory layer).</a:t>
                      </a:r>
                    </a:p>
                  </a:txBody>
                  <a:tcPr marL="33995" marR="33995" marT="16997" marB="16997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 noProof="0" dirty="0"/>
                        <a:t>Built-in: long-term memory with databases (SQLite, Postgres, etc.) and automatic context management.</a:t>
                      </a:r>
                    </a:p>
                  </a:txBody>
                  <a:tcPr marL="33995" marR="33995" marT="16997" marB="16997" anchor="ctr"/>
                </a:tc>
                <a:extLst>
                  <a:ext uri="{0D108BD9-81ED-4DB2-BD59-A6C34878D82A}">
                    <a16:rowId xmlns:a16="http://schemas.microsoft.com/office/drawing/2014/main" val="1144025342"/>
                  </a:ext>
                </a:extLst>
              </a:tr>
              <a:tr h="79860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 b="1" noProof="0" dirty="0"/>
                        <a:t>Guardrails / Policies</a:t>
                      </a:r>
                      <a:endParaRPr lang="en-IN" sz="1800" noProof="0" dirty="0"/>
                    </a:p>
                  </a:txBody>
                  <a:tcPr marL="33995" marR="33995" marT="16997" marB="16997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 noProof="0" dirty="0"/>
                        <a:t>Must be implemented manually.</a:t>
                      </a:r>
                    </a:p>
                  </a:txBody>
                  <a:tcPr marL="33995" marR="33995" marT="16997" marB="16997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 noProof="0" dirty="0"/>
                        <a:t>Supports structured output validation but no policies.</a:t>
                      </a:r>
                    </a:p>
                  </a:txBody>
                  <a:tcPr marL="33995" marR="33995" marT="16997" marB="16997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 noProof="0" dirty="0"/>
                        <a:t>Native guardrails (input/output validation, tripwires, error handling).</a:t>
                      </a:r>
                    </a:p>
                  </a:txBody>
                  <a:tcPr marL="33995" marR="33995" marT="16997" marB="16997" anchor="ctr"/>
                </a:tc>
                <a:extLst>
                  <a:ext uri="{0D108BD9-81ED-4DB2-BD59-A6C34878D82A}">
                    <a16:rowId xmlns:a16="http://schemas.microsoft.com/office/drawing/2014/main" val="3394611244"/>
                  </a:ext>
                </a:extLst>
              </a:tr>
              <a:tr h="99688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 b="1" noProof="0" dirty="0"/>
                        <a:t>When to Use</a:t>
                      </a:r>
                      <a:endParaRPr lang="en-IN" sz="1800" noProof="0" dirty="0"/>
                    </a:p>
                  </a:txBody>
                  <a:tcPr marL="33995" marR="33995" marT="16997" marB="16997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 noProof="0" dirty="0"/>
                        <a:t>Quick chatbots, backwards compatibility.</a:t>
                      </a:r>
                    </a:p>
                  </a:txBody>
                  <a:tcPr marL="33995" marR="33995" marT="16997" marB="16997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 noProof="0" dirty="0"/>
                        <a:t>Modern replacement for Chat Completions (flexible, multimodal, structured).</a:t>
                      </a:r>
                    </a:p>
                  </a:txBody>
                  <a:tcPr marL="33995" marR="33995" marT="16997" marB="16997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 noProof="0" dirty="0"/>
                        <a:t>Full assistants/agents needing memory, tools, guardrails, and workflows.</a:t>
                      </a:r>
                    </a:p>
                  </a:txBody>
                  <a:tcPr marL="33995" marR="33995" marT="16997" marB="16997" anchor="ctr"/>
                </a:tc>
                <a:extLst>
                  <a:ext uri="{0D108BD9-81ED-4DB2-BD59-A6C34878D82A}">
                    <a16:rowId xmlns:a16="http://schemas.microsoft.com/office/drawing/2014/main" val="1156349801"/>
                  </a:ext>
                </a:extLst>
              </a:tr>
              <a:tr h="79860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 b="1" noProof="0" dirty="0"/>
                        <a:t>Status</a:t>
                      </a:r>
                      <a:endParaRPr lang="en-IN" sz="1800" noProof="0" dirty="0"/>
                    </a:p>
                  </a:txBody>
                  <a:tcPr marL="33995" marR="33995" marT="16997" marB="16997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 noProof="0" dirty="0"/>
                        <a:t>Legacy (still supported).</a:t>
                      </a:r>
                    </a:p>
                  </a:txBody>
                  <a:tcPr marL="33995" marR="33995" marT="16997" marB="16997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 noProof="0" dirty="0"/>
                        <a:t>Recommended default API going forward.</a:t>
                      </a:r>
                    </a:p>
                  </a:txBody>
                  <a:tcPr marL="33995" marR="33995" marT="16997" marB="16997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 noProof="0" dirty="0"/>
                        <a:t>Higher-level orchestration layer built </a:t>
                      </a:r>
                      <a:r>
                        <a:rPr lang="en-IN" sz="1800" b="1" noProof="0" dirty="0"/>
                        <a:t>on top of Responses API</a:t>
                      </a:r>
                      <a:r>
                        <a:rPr lang="en-IN" sz="1800" noProof="0" dirty="0"/>
                        <a:t>.</a:t>
                      </a:r>
                    </a:p>
                  </a:txBody>
                  <a:tcPr marL="33995" marR="33995" marT="16997" marB="16997" anchor="ctr"/>
                </a:tc>
                <a:extLst>
                  <a:ext uri="{0D108BD9-81ED-4DB2-BD59-A6C34878D82A}">
                    <a16:rowId xmlns:a16="http://schemas.microsoft.com/office/drawing/2014/main" val="217594763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50104321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7A0B668-C167-487F-7534-1BC29A00AA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1.1) OpenAI Chat Completions API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DEF8AD5-C686-C352-D4E3-AA1E2B39883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3473146037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A7A7EE-3546-E781-943A-F3BDF5695E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Chat Completions API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A97816-0D3A-CC39-8E1D-42FE2ED867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sz="2400" noProof="0" dirty="0"/>
              <a:t>C:\code\agenticai\1_openai_chat_requests\1_1_openai_chat_completions.py</a:t>
            </a:r>
            <a:endParaRPr lang="en-IN" noProof="0" dirty="0"/>
          </a:p>
          <a:p>
            <a:pPr lvl="1"/>
            <a:r>
              <a:rPr lang="en-IN" noProof="0" dirty="0"/>
              <a:t>Load OpenAI API key</a:t>
            </a:r>
          </a:p>
          <a:p>
            <a:pPr lvl="1"/>
            <a:r>
              <a:rPr lang="en-IN" noProof="0" dirty="0"/>
              <a:t>Call the Chat Completions API: </a:t>
            </a:r>
            <a:r>
              <a:rPr lang="en-IN" sz="2000" noProof="0" dirty="0" err="1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client.chat.completions.create</a:t>
            </a:r>
            <a:r>
              <a:rPr lang="en-IN" noProof="0" dirty="0"/>
              <a:t>,</a:t>
            </a:r>
            <a:r>
              <a:rPr lang="en-IN" noProof="0" dirty="0">
                <a:solidFill>
                  <a:srgbClr val="FF0000"/>
                </a:solidFill>
              </a:rPr>
              <a:t> </a:t>
            </a:r>
            <a:r>
              <a:rPr lang="en-IN" noProof="0" dirty="0"/>
              <a:t>some main parameters used:</a:t>
            </a:r>
          </a:p>
          <a:p>
            <a:pPr lvl="1"/>
            <a:endParaRPr lang="en-IN" noProof="0" dirty="0"/>
          </a:p>
          <a:p>
            <a:pPr lvl="1"/>
            <a:endParaRPr lang="en-IN" noProof="0" dirty="0"/>
          </a:p>
          <a:p>
            <a:pPr lvl="1"/>
            <a:endParaRPr lang="en-IN" noProof="0" dirty="0"/>
          </a:p>
          <a:p>
            <a:endParaRPr lang="en-IN" noProof="0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82B9CE12-CCD5-90E6-4F95-6A6A986F7E73}"/>
              </a:ext>
            </a:extLst>
          </p:cNvPr>
          <p:cNvGraphicFramePr>
            <a:graphicFrameLocks noGrp="1"/>
          </p:cNvGraphicFramePr>
          <p:nvPr/>
        </p:nvGraphicFramePr>
        <p:xfrm>
          <a:off x="996802" y="3613655"/>
          <a:ext cx="10198395" cy="2322091"/>
        </p:xfrm>
        <a:graphic>
          <a:graphicData uri="http://schemas.openxmlformats.org/drawingml/2006/table">
            <a:tbl>
              <a:tblPr>
                <a:tableStyleId>{793D81CF-94F2-401A-BA57-92F5A7B2D0C5}</a:tableStyleId>
              </a:tblPr>
              <a:tblGrid>
                <a:gridCol w="1862525">
                  <a:extLst>
                    <a:ext uri="{9D8B030D-6E8A-4147-A177-3AD203B41FA5}">
                      <a16:colId xmlns:a16="http://schemas.microsoft.com/office/drawing/2014/main" val="4222790733"/>
                    </a:ext>
                  </a:extLst>
                </a:gridCol>
                <a:gridCol w="6222921">
                  <a:extLst>
                    <a:ext uri="{9D8B030D-6E8A-4147-A177-3AD203B41FA5}">
                      <a16:colId xmlns:a16="http://schemas.microsoft.com/office/drawing/2014/main" val="1953832120"/>
                    </a:ext>
                  </a:extLst>
                </a:gridCol>
                <a:gridCol w="2112949">
                  <a:extLst>
                    <a:ext uri="{9D8B030D-6E8A-4147-A177-3AD203B41FA5}">
                      <a16:colId xmlns:a16="http://schemas.microsoft.com/office/drawing/2014/main" val="635709720"/>
                    </a:ext>
                  </a:extLst>
                </a:gridCol>
              </a:tblGrid>
              <a:tr h="18143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b="1" noProof="0" dirty="0"/>
                        <a:t>Parameter</a:t>
                      </a:r>
                      <a:endParaRPr lang="en-IN" sz="1600" noProof="0" dirty="0"/>
                    </a:p>
                  </a:txBody>
                  <a:tcPr marL="79115" marR="79115" marT="39558" marB="39558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b="1" noProof="0" dirty="0"/>
                        <a:t>Description</a:t>
                      </a:r>
                      <a:endParaRPr lang="en-IN" sz="1600" noProof="0" dirty="0"/>
                    </a:p>
                  </a:txBody>
                  <a:tcPr marL="79115" marR="79115" marT="39558" marB="39558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b="1" noProof="0" dirty="0"/>
                        <a:t>Required?</a:t>
                      </a:r>
                      <a:endParaRPr lang="en-IN" sz="1600" noProof="0" dirty="0"/>
                    </a:p>
                  </a:txBody>
                  <a:tcPr marL="79115" marR="79115" marT="39558" marB="39558" anchor="ctr"/>
                </a:tc>
                <a:extLst>
                  <a:ext uri="{0D108BD9-81ED-4DB2-BD59-A6C34878D82A}">
                    <a16:rowId xmlns:a16="http://schemas.microsoft.com/office/drawing/2014/main" val="101830834"/>
                  </a:ext>
                </a:extLst>
              </a:tr>
              <a:tr h="67972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messages</a:t>
                      </a:r>
                    </a:p>
                  </a:txBody>
                  <a:tcPr marL="79115" marR="79115" marT="39558" marB="39558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List of messages comprising the conversation so far. Each message has a role (system, user, assistant) and content</a:t>
                      </a:r>
                    </a:p>
                  </a:txBody>
                  <a:tcPr marL="79115" marR="79115" marT="39558" marB="39558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Mandatory</a:t>
                      </a:r>
                    </a:p>
                  </a:txBody>
                  <a:tcPr marL="79115" marR="79115" marT="39558" marB="39558" anchor="ctr"/>
                </a:tc>
                <a:extLst>
                  <a:ext uri="{0D108BD9-81ED-4DB2-BD59-A6C34878D82A}">
                    <a16:rowId xmlns:a16="http://schemas.microsoft.com/office/drawing/2014/main" val="1863896590"/>
                  </a:ext>
                </a:extLst>
              </a:tr>
              <a:tr h="53392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model</a:t>
                      </a:r>
                    </a:p>
                  </a:txBody>
                  <a:tcPr marL="79115" marR="79115" marT="39558" marB="39558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Model ID to be used for generating the response (e.g., "gpt-4.1-mini", "gpt-4o", "gpt-4.1-nano")</a:t>
                      </a:r>
                    </a:p>
                  </a:txBody>
                  <a:tcPr marL="79115" marR="79115" marT="39558" marB="39558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Mandatory</a:t>
                      </a:r>
                    </a:p>
                  </a:txBody>
                  <a:tcPr marL="79115" marR="79115" marT="39558" marB="39558" anchor="ctr"/>
                </a:tc>
                <a:extLst>
                  <a:ext uri="{0D108BD9-81ED-4DB2-BD59-A6C34878D82A}">
                    <a16:rowId xmlns:a16="http://schemas.microsoft.com/office/drawing/2014/main" val="1418923133"/>
                  </a:ext>
                </a:extLst>
              </a:tr>
              <a:tr h="75261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temperature</a:t>
                      </a:r>
                    </a:p>
                  </a:txBody>
                  <a:tcPr marL="79115" marR="79115" marT="39558" marB="39558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Controls randomness of the output. Range = 0 (deterministic) to 2 (highly random). Example: 0.8 → more creative responses*</a:t>
                      </a:r>
                    </a:p>
                  </a:txBody>
                  <a:tcPr marL="79115" marR="79115" marT="39558" marB="39558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Optional</a:t>
                      </a:r>
                    </a:p>
                  </a:txBody>
                  <a:tcPr marL="79115" marR="79115" marT="39558" marB="39558" anchor="ctr"/>
                </a:tc>
                <a:extLst>
                  <a:ext uri="{0D108BD9-81ED-4DB2-BD59-A6C34878D82A}">
                    <a16:rowId xmlns:a16="http://schemas.microsoft.com/office/drawing/2014/main" val="150060423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02122246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2A9004-6B33-8BA2-3F87-AEB8ED4627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Temperature Ranges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156B32E0-5454-A17C-10C3-152A9443267E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838200" y="1852454"/>
          <a:ext cx="10515600" cy="3474720"/>
        </p:xfrm>
        <a:graphic>
          <a:graphicData uri="http://schemas.openxmlformats.org/drawingml/2006/table">
            <a:tbl>
              <a:tblPr/>
              <a:tblGrid>
                <a:gridCol w="2323809">
                  <a:extLst>
                    <a:ext uri="{9D8B030D-6E8A-4147-A177-3AD203B41FA5}">
                      <a16:colId xmlns:a16="http://schemas.microsoft.com/office/drawing/2014/main" val="1241100006"/>
                    </a:ext>
                  </a:extLst>
                </a:gridCol>
                <a:gridCol w="1626376">
                  <a:extLst>
                    <a:ext uri="{9D8B030D-6E8A-4147-A177-3AD203B41FA5}">
                      <a16:colId xmlns:a16="http://schemas.microsoft.com/office/drawing/2014/main" val="87956274"/>
                    </a:ext>
                  </a:extLst>
                </a:gridCol>
                <a:gridCol w="3936515">
                  <a:extLst>
                    <a:ext uri="{9D8B030D-6E8A-4147-A177-3AD203B41FA5}">
                      <a16:colId xmlns:a16="http://schemas.microsoft.com/office/drawing/2014/main" val="698540112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358181143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noProof="0" dirty="0"/>
                        <a:t>Temperature Value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noProof="0" dirty="0"/>
                        <a:t>Range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noProof="0" dirty="0"/>
                        <a:t>Behaviour Description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noProof="0" dirty="0"/>
                        <a:t>Typical Use Case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6894745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noProof="0" dirty="0"/>
                        <a:t>0.0 – 0.3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Very low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Deterministic and focused — Model gives the </a:t>
                      </a:r>
                      <a:r>
                        <a:rPr lang="en-IN" b="1" noProof="0" dirty="0"/>
                        <a:t>same or similar answers</a:t>
                      </a:r>
                      <a:r>
                        <a:rPr lang="en-IN" noProof="0" dirty="0"/>
                        <a:t> every time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Factual QA, coding, math, data analysis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739575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noProof="0" dirty="0"/>
                        <a:t>0.4 – 0.6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Moderate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Balanced — A mix of </a:t>
                      </a:r>
                      <a:r>
                        <a:rPr lang="en-IN" b="1" noProof="0" dirty="0"/>
                        <a:t>creativity and reliability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General writing, tutoring, summarization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9207835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noProof="0" dirty="0"/>
                        <a:t>0.7 – 1.0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High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Creative and diverse — Model generates </a:t>
                      </a:r>
                      <a:r>
                        <a:rPr lang="en-IN" b="1" noProof="0" dirty="0"/>
                        <a:t>varied, imaginative, or exploratory</a:t>
                      </a:r>
                      <a:r>
                        <a:rPr lang="en-IN" noProof="0" dirty="0"/>
                        <a:t> responses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Brainstorming, storytelling, idea generation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3810343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noProof="0" dirty="0"/>
                        <a:t>&gt; 1.0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Very high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Unstable and random — responses may become </a:t>
                      </a:r>
                      <a:r>
                        <a:rPr lang="en-IN" b="1" noProof="0" dirty="0"/>
                        <a:t>incoherent or off-topic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Experimental or artistic use only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483775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67491978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457C88-2815-DE67-92CA-D45733BC6B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7930AD-A1C0-04EC-0548-8732B4C5BA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Chat Completions API: Constructing </a:t>
            </a:r>
            <a:r>
              <a:rPr lang="en-IN" i="1" noProof="0" dirty="0"/>
              <a:t>messages</a:t>
            </a:r>
            <a:endParaRPr lang="en-IN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44F4CA-79D2-F371-B276-228E8C4E38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noProof="0" dirty="0"/>
              <a:t>messages = Conversation so far</a:t>
            </a:r>
          </a:p>
          <a:p>
            <a:r>
              <a:rPr lang="en-IN" noProof="0" dirty="0"/>
              <a:t>Depending on the model, text/images/audio may be supported</a:t>
            </a:r>
          </a:p>
          <a:p>
            <a:r>
              <a:rPr lang="en-IN" noProof="0" dirty="0"/>
              <a:t>Main roles: System, User, Assistant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FCE11853-FE5F-B792-DCBB-D59DE0A084D7}"/>
              </a:ext>
            </a:extLst>
          </p:cNvPr>
          <p:cNvGraphicFramePr>
            <a:graphicFrameLocks noGrp="1"/>
          </p:cNvGraphicFramePr>
          <p:nvPr/>
        </p:nvGraphicFramePr>
        <p:xfrm>
          <a:off x="890476" y="3487572"/>
          <a:ext cx="10411048" cy="2560320"/>
        </p:xfrm>
        <a:graphic>
          <a:graphicData uri="http://schemas.openxmlformats.org/drawingml/2006/table">
            <a:tbl>
              <a:tblPr>
                <a:tableStyleId>{ED083AE6-46FA-4A59-8FB0-9F97EB10719F}</a:tableStyleId>
              </a:tblPr>
              <a:tblGrid>
                <a:gridCol w="1399068">
                  <a:extLst>
                    <a:ext uri="{9D8B030D-6E8A-4147-A177-3AD203B41FA5}">
                      <a16:colId xmlns:a16="http://schemas.microsoft.com/office/drawing/2014/main" val="6605267"/>
                    </a:ext>
                  </a:extLst>
                </a:gridCol>
                <a:gridCol w="3260651">
                  <a:extLst>
                    <a:ext uri="{9D8B030D-6E8A-4147-A177-3AD203B41FA5}">
                      <a16:colId xmlns:a16="http://schemas.microsoft.com/office/drawing/2014/main" val="2766335108"/>
                    </a:ext>
                  </a:extLst>
                </a:gridCol>
                <a:gridCol w="3148567">
                  <a:extLst>
                    <a:ext uri="{9D8B030D-6E8A-4147-A177-3AD203B41FA5}">
                      <a16:colId xmlns:a16="http://schemas.microsoft.com/office/drawing/2014/main" val="1597226684"/>
                    </a:ext>
                  </a:extLst>
                </a:gridCol>
                <a:gridCol w="2602762">
                  <a:extLst>
                    <a:ext uri="{9D8B030D-6E8A-4147-A177-3AD203B41FA5}">
                      <a16:colId xmlns:a16="http://schemas.microsoft.com/office/drawing/2014/main" val="2014194834"/>
                    </a:ext>
                  </a:extLst>
                </a:gridCol>
              </a:tblGrid>
              <a:tr h="17159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noProof="0" dirty="0"/>
                        <a:t>Role</a:t>
                      </a:r>
                      <a:endParaRPr lang="en-IN" noProof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noProof="0" dirty="0"/>
                        <a:t>Who it represents</a:t>
                      </a:r>
                      <a:endParaRPr lang="en-IN" noProof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noProof="0" dirty="0"/>
                        <a:t>When to use it</a:t>
                      </a:r>
                      <a:endParaRPr lang="en-IN" noProof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noProof="0" dirty="0"/>
                        <a:t>Example</a:t>
                      </a:r>
                      <a:endParaRPr lang="en-IN" noProof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04004098"/>
                  </a:ext>
                </a:extLst>
              </a:tr>
              <a:tr h="42898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system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The </a:t>
                      </a:r>
                      <a:r>
                        <a:rPr lang="en-IN" b="1" noProof="0" dirty="0"/>
                        <a:t>designer</a:t>
                      </a:r>
                      <a:r>
                        <a:rPr lang="en-IN" noProof="0" dirty="0"/>
                        <a:t> of the conversation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To set </a:t>
                      </a:r>
                      <a:r>
                        <a:rPr lang="en-IN" b="1" noProof="0" dirty="0"/>
                        <a:t>instructions, </a:t>
                      </a:r>
                      <a:r>
                        <a:rPr lang="en-IN" b="1" noProof="0" dirty="0" err="1"/>
                        <a:t>behavior</a:t>
                      </a:r>
                      <a:r>
                        <a:rPr lang="en-IN" b="1" noProof="0" dirty="0"/>
                        <a:t>, or personality</a:t>
                      </a:r>
                      <a:r>
                        <a:rPr lang="en-IN" noProof="0" dirty="0"/>
                        <a:t> of the assistant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"You are a helpful assistant who answers like Sherlock Holmes."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0650468"/>
                  </a:ext>
                </a:extLst>
              </a:tr>
              <a:tr h="30029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user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The </a:t>
                      </a:r>
                      <a:r>
                        <a:rPr lang="en-IN" b="1" noProof="0" dirty="0"/>
                        <a:t>end user</a:t>
                      </a:r>
                      <a:r>
                        <a:rPr lang="en-IN" noProof="0" dirty="0"/>
                        <a:t> (the person asking questions)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For </a:t>
                      </a:r>
                      <a:r>
                        <a:rPr lang="en-IN" b="1" noProof="0" dirty="0"/>
                        <a:t>inputs/questions</a:t>
                      </a:r>
                      <a:r>
                        <a:rPr lang="en-IN" noProof="0" dirty="0"/>
                        <a:t> from the human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"What is 2+2?"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21860189"/>
                  </a:ext>
                </a:extLst>
              </a:tr>
              <a:tr h="42898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assistant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The </a:t>
                      </a:r>
                      <a:r>
                        <a:rPr lang="en-IN" b="1" noProof="0" dirty="0"/>
                        <a:t>AI model itself</a:t>
                      </a:r>
                      <a:endParaRPr lang="en-IN" noProof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For the model’s </a:t>
                      </a:r>
                      <a:r>
                        <a:rPr lang="en-IN" b="1" noProof="0" dirty="0"/>
                        <a:t>responses</a:t>
                      </a:r>
                      <a:r>
                        <a:rPr lang="en-IN" noProof="0" dirty="0"/>
                        <a:t> (and to provide conversation history)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"The answer is 4."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8907457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35245251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20BBB9-D3B4-22D4-84D0-6773A9B4A0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Syntax Explanation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77B3CD-17D4-5D6E-2019-46266552BC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73979" y="1825625"/>
            <a:ext cx="11079821" cy="4351338"/>
          </a:xfrm>
          <a:solidFill>
            <a:schemeClr val="accent4">
              <a:lumMod val="20000"/>
              <a:lumOff val="80000"/>
            </a:schemeClr>
          </a:solidFill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N" sz="2000" noProof="0" dirty="0"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from </a:t>
            </a:r>
            <a:r>
              <a:rPr lang="en-IN" sz="2000" noProof="0" dirty="0" err="1"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openai</a:t>
            </a:r>
            <a:r>
              <a:rPr lang="en-IN" sz="2000" noProof="0" dirty="0"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 import OpenAI</a:t>
            </a:r>
          </a:p>
          <a:p>
            <a:pPr marL="0" indent="0">
              <a:buNone/>
            </a:pPr>
            <a:r>
              <a:rPr lang="en-IN" sz="2000" noProof="0" dirty="0" err="1"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openai</a:t>
            </a:r>
            <a:r>
              <a:rPr lang="en-IN" sz="2000" noProof="0" dirty="0"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 = OpenAI()</a:t>
            </a:r>
          </a:p>
          <a:p>
            <a:pPr marL="0" indent="0">
              <a:buNone/>
            </a:pPr>
            <a:endParaRPr lang="en-IN" sz="2000" noProof="0" dirty="0">
              <a:latin typeface="Cascadia Code" panose="020B0609020000020004" pitchFamily="49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  <a:p>
            <a:pPr marL="0" indent="0">
              <a:buNone/>
            </a:pPr>
            <a:r>
              <a:rPr lang="en-IN" sz="2000" noProof="0" dirty="0"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response = </a:t>
            </a:r>
            <a:r>
              <a:rPr lang="en-IN" sz="2000" noProof="0" dirty="0" err="1"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openai.chat.completions.create</a:t>
            </a:r>
            <a:r>
              <a:rPr lang="en-IN" sz="2000" noProof="0" dirty="0"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(</a:t>
            </a:r>
          </a:p>
          <a:p>
            <a:pPr marL="0" indent="0">
              <a:buNone/>
            </a:pPr>
            <a:r>
              <a:rPr lang="en-IN" sz="2000" noProof="0" dirty="0"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    model="gpt-4.1-mini",</a:t>
            </a:r>
          </a:p>
          <a:p>
            <a:pPr marL="0" indent="0">
              <a:buNone/>
            </a:pPr>
            <a:r>
              <a:rPr lang="en-IN" sz="2000" noProof="0" dirty="0"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    messages=messages</a:t>
            </a:r>
          </a:p>
          <a:p>
            <a:pPr marL="0" indent="0">
              <a:buNone/>
            </a:pPr>
            <a:r>
              <a:rPr lang="en-IN" sz="2000" noProof="0" dirty="0"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)</a:t>
            </a:r>
          </a:p>
          <a:p>
            <a:endParaRPr lang="en-IN" sz="2000" noProof="0" dirty="0"/>
          </a:p>
          <a:p>
            <a:endParaRPr lang="en-IN" sz="2000" noProof="0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E76B6895-26C4-55AF-B1B3-053F11E51692}"/>
              </a:ext>
            </a:extLst>
          </p:cNvPr>
          <p:cNvGraphicFramePr>
            <a:graphicFrameLocks noGrp="1"/>
          </p:cNvGraphicFramePr>
          <p:nvPr/>
        </p:nvGraphicFramePr>
        <p:xfrm>
          <a:off x="7006972" y="228600"/>
          <a:ext cx="5075433" cy="4023360"/>
        </p:xfrm>
        <a:graphic>
          <a:graphicData uri="http://schemas.openxmlformats.org/drawingml/2006/table">
            <a:tbl>
              <a:tblPr/>
              <a:tblGrid>
                <a:gridCol w="1648525">
                  <a:extLst>
                    <a:ext uri="{9D8B030D-6E8A-4147-A177-3AD203B41FA5}">
                      <a16:colId xmlns:a16="http://schemas.microsoft.com/office/drawing/2014/main" val="1743699641"/>
                    </a:ext>
                  </a:extLst>
                </a:gridCol>
                <a:gridCol w="3426908">
                  <a:extLst>
                    <a:ext uri="{9D8B030D-6E8A-4147-A177-3AD203B41FA5}">
                      <a16:colId xmlns:a16="http://schemas.microsoft.com/office/drawing/2014/main" val="57588751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noProof="0" dirty="0"/>
                        <a:t>Part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noProof="0" dirty="0"/>
                        <a:t>Meaning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0322983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noProof="0" dirty="0" err="1"/>
                        <a:t>openai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Client object created earlier, holds the API key and connection settings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6633174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noProof="0" dirty="0"/>
                        <a:t>.chat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Refers to the Chat API endpoint, used for conversational models (e.g., GPT-4)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7555769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noProof="0" dirty="0"/>
                        <a:t>.completions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Specifies that we want GPT to generate a </a:t>
                      </a:r>
                      <a:r>
                        <a:rPr lang="en-IN" b="1" noProof="0" dirty="0"/>
                        <a:t>completion</a:t>
                      </a:r>
                      <a:r>
                        <a:rPr lang="en-IN" noProof="0" dirty="0"/>
                        <a:t> (reply) to a list of chat messages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7128447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noProof="0" dirty="0"/>
                        <a:t>.create(… )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Executes the request by sending it to the API and returns the response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02134298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EB0E96D0-87BD-62D0-1427-C31037154812}"/>
              </a:ext>
            </a:extLst>
          </p:cNvPr>
          <p:cNvSpPr txBox="1"/>
          <p:nvPr/>
        </p:nvSpPr>
        <p:spPr>
          <a:xfrm>
            <a:off x="3825123" y="4334442"/>
            <a:ext cx="5744666" cy="3693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IN" noProof="0" dirty="0"/>
              <a:t>What it returns: a </a:t>
            </a:r>
            <a:r>
              <a:rPr lang="en-IN" b="1" noProof="0" dirty="0" err="1"/>
              <a:t>ChatCompletion</a:t>
            </a:r>
            <a:r>
              <a:rPr lang="en-IN" noProof="0" dirty="0"/>
              <a:t> object that contains …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BC8F1B69-36EC-4572-1110-2AEF98123865}"/>
              </a:ext>
            </a:extLst>
          </p:cNvPr>
          <p:cNvGraphicFramePr>
            <a:graphicFrameLocks noGrp="1"/>
          </p:cNvGraphicFramePr>
          <p:nvPr/>
        </p:nvGraphicFramePr>
        <p:xfrm>
          <a:off x="1270969" y="4703774"/>
          <a:ext cx="10515600" cy="1828800"/>
        </p:xfrm>
        <a:graphic>
          <a:graphicData uri="http://schemas.openxmlformats.org/drawingml/2006/table">
            <a:tbl>
              <a:tblPr/>
              <a:tblGrid>
                <a:gridCol w="3824542">
                  <a:extLst>
                    <a:ext uri="{9D8B030D-6E8A-4147-A177-3AD203B41FA5}">
                      <a16:colId xmlns:a16="http://schemas.microsoft.com/office/drawing/2014/main" val="3684275321"/>
                    </a:ext>
                  </a:extLst>
                </a:gridCol>
                <a:gridCol w="6691058">
                  <a:extLst>
                    <a:ext uri="{9D8B030D-6E8A-4147-A177-3AD203B41FA5}">
                      <a16:colId xmlns:a16="http://schemas.microsoft.com/office/drawing/2014/main" val="367711936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noProof="0" dirty="0"/>
                        <a:t>Attribute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noProof="0" dirty="0"/>
                        <a:t>Meaning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9317381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noProof="0" dirty="0"/>
                        <a:t>response.id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Unique request ID assigned by the API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7797803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noProof="0" dirty="0" err="1"/>
                        <a:t>response.model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The model that generated the response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4188199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noProof="0" dirty="0" err="1"/>
                        <a:t>response.choices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A list of outputs (can be one or multiple, depending on request)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2761976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noProof="0" dirty="0" err="1"/>
                        <a:t>response.choices</a:t>
                      </a:r>
                      <a:r>
                        <a:rPr lang="en-IN" b="1" noProof="0" dirty="0"/>
                        <a:t>[0].</a:t>
                      </a:r>
                      <a:r>
                        <a:rPr lang="en-IN" b="1" noProof="0" dirty="0" err="1"/>
                        <a:t>message.content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The actual text reply from the model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5030476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46842793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9B0006-CF6B-4210-B4A0-F26713D7DC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Chat Completions API (What We Used)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8E0752-39E0-2F78-85BC-44CE916F88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IN" b="1" noProof="0" dirty="0"/>
              <a:t>Stateless</a:t>
            </a:r>
            <a:r>
              <a:rPr lang="en-IN" noProof="0" dirty="0"/>
              <a:t> request/response</a:t>
            </a:r>
          </a:p>
          <a:p>
            <a:r>
              <a:rPr lang="en-IN" noProof="0" dirty="0"/>
              <a:t>We send a list of messages (system, user, etc) → model → get a reply</a:t>
            </a:r>
          </a:p>
          <a:p>
            <a:r>
              <a:rPr lang="en-IN" noProof="0" dirty="0"/>
              <a:t>Each call is independent; the model does not remember beyond what we include in messages</a:t>
            </a:r>
          </a:p>
          <a:p>
            <a:r>
              <a:rPr lang="en-IN" noProof="0" dirty="0"/>
              <a:t>Good for one-shot things: summarization, translation, classification, etc</a:t>
            </a:r>
          </a:p>
          <a:p>
            <a:r>
              <a:rPr lang="en-IN" noProof="0" dirty="0"/>
              <a:t>Analogy: like asking a calculator a single question and getting an answer</a:t>
            </a:r>
          </a:p>
          <a:p>
            <a:r>
              <a:rPr lang="en-IN" noProof="0" dirty="0"/>
              <a:t>Replacements:</a:t>
            </a:r>
          </a:p>
          <a:p>
            <a:pPr lvl="1"/>
            <a:r>
              <a:rPr lang="en-IN" noProof="0" dirty="0"/>
              <a:t>This API is now being sunset and replaced by </a:t>
            </a:r>
            <a:r>
              <a:rPr lang="en-IN" b="1" noProof="0" dirty="0"/>
              <a:t>Responses API</a:t>
            </a:r>
          </a:p>
          <a:p>
            <a:pPr lvl="1"/>
            <a:r>
              <a:rPr lang="en-IN" noProof="0" dirty="0"/>
              <a:t>To make it more </a:t>
            </a:r>
            <a:r>
              <a:rPr lang="en-IN" i="1" noProof="0" dirty="0"/>
              <a:t>agentic</a:t>
            </a:r>
            <a:r>
              <a:rPr lang="en-IN" noProof="0" dirty="0"/>
              <a:t>, we need to use the </a:t>
            </a:r>
            <a:r>
              <a:rPr lang="en-IN" b="1" noProof="0" dirty="0"/>
              <a:t>Agent API</a:t>
            </a:r>
          </a:p>
        </p:txBody>
      </p:sp>
    </p:spTree>
    <p:extLst>
      <p:ext uri="{BB962C8B-B14F-4D97-AF65-F5344CB8AC3E}">
        <p14:creationId xmlns:p14="http://schemas.microsoft.com/office/powerpoint/2010/main" val="2808931495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9D4504-6EE9-3D17-7BA8-5F76A96EE9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Now Using Open Source LLM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079A56-F878-A924-F693-D73CE18711A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endParaRPr lang="en-IN" noProof="0" dirty="0"/>
          </a:p>
          <a:p>
            <a:endParaRPr lang="en-IN" noProof="0" dirty="0"/>
          </a:p>
          <a:p>
            <a:endParaRPr lang="en-IN" noProof="0" dirty="0"/>
          </a:p>
          <a:p>
            <a:endParaRPr lang="en-IN" noProof="0" dirty="0"/>
          </a:p>
          <a:p>
            <a:endParaRPr lang="en-IN" noProof="0" dirty="0"/>
          </a:p>
          <a:p>
            <a:endParaRPr lang="en-IN" noProof="0" dirty="0"/>
          </a:p>
          <a:p>
            <a:endParaRPr lang="en-IN" noProof="0" dirty="0"/>
          </a:p>
          <a:p>
            <a:endParaRPr lang="en-IN" noProof="0" dirty="0"/>
          </a:p>
          <a:p>
            <a:endParaRPr lang="en-IN" noProof="0" dirty="0"/>
          </a:p>
          <a:p>
            <a:endParaRPr lang="en-IN" noProof="0" dirty="0"/>
          </a:p>
          <a:p>
            <a:endParaRPr lang="en-IN" noProof="0" dirty="0"/>
          </a:p>
          <a:p>
            <a:r>
              <a:rPr lang="en-IN" noProof="0" dirty="0"/>
              <a:t>Code: C:\code\agenticai\1_openai_chat_requests\1_1_openai_ollama_chat_completions.py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7A453E46-C977-8731-BF8D-27D30D1E0A1B}"/>
              </a:ext>
            </a:extLst>
          </p:cNvPr>
          <p:cNvGraphicFramePr>
            <a:graphicFrameLocks noGrp="1"/>
          </p:cNvGraphicFramePr>
          <p:nvPr/>
        </p:nvGraphicFramePr>
        <p:xfrm>
          <a:off x="989838" y="1462657"/>
          <a:ext cx="10212324" cy="3824814"/>
        </p:xfrm>
        <a:graphic>
          <a:graphicData uri="http://schemas.openxmlformats.org/drawingml/2006/table">
            <a:tbl>
              <a:tblPr/>
              <a:tblGrid>
                <a:gridCol w="2304794">
                  <a:extLst>
                    <a:ext uri="{9D8B030D-6E8A-4147-A177-3AD203B41FA5}">
                      <a16:colId xmlns:a16="http://schemas.microsoft.com/office/drawing/2014/main" val="438246715"/>
                    </a:ext>
                  </a:extLst>
                </a:gridCol>
                <a:gridCol w="7907530">
                  <a:extLst>
                    <a:ext uri="{9D8B030D-6E8A-4147-A177-3AD203B41FA5}">
                      <a16:colId xmlns:a16="http://schemas.microsoft.com/office/drawing/2014/main" val="692532900"/>
                    </a:ext>
                  </a:extLst>
                </a:gridCol>
              </a:tblGrid>
              <a:tr h="29200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b="1" noProof="0" dirty="0"/>
                        <a:t>Step / Aspect</a:t>
                      </a:r>
                      <a:endParaRPr lang="en-IN" sz="1700" noProof="0" dirty="0"/>
                    </a:p>
                  </a:txBody>
                  <a:tcPr marL="88803" marR="88803" marT="44401" marB="4440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b="1" noProof="0" dirty="0"/>
                        <a:t>Description</a:t>
                      </a:r>
                      <a:endParaRPr lang="en-IN" sz="1700" noProof="0" dirty="0"/>
                    </a:p>
                  </a:txBody>
                  <a:tcPr marL="88803" marR="88803" marT="44401" marB="4440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46708953"/>
                  </a:ext>
                </a:extLst>
              </a:tr>
              <a:tr h="51100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b="1" noProof="0" dirty="0"/>
                        <a:t>What is Ollama?</a:t>
                      </a:r>
                      <a:endParaRPr lang="en-IN" sz="1700" noProof="0" dirty="0"/>
                    </a:p>
                  </a:txBody>
                  <a:tcPr marL="88803" marR="88803" marT="44401" marB="4440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/>
                        <a:t>A </a:t>
                      </a:r>
                      <a:r>
                        <a:rPr lang="en-IN" sz="1700" b="1" noProof="0" dirty="0"/>
                        <a:t>local LLM runtime</a:t>
                      </a:r>
                      <a:r>
                        <a:rPr lang="en-IN" sz="1700" noProof="0" dirty="0"/>
                        <a:t> that allows us to run large language models on our own machine — fully offline</a:t>
                      </a:r>
                    </a:p>
                  </a:txBody>
                  <a:tcPr marL="88803" marR="88803" marT="44401" marB="4440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9218802"/>
                  </a:ext>
                </a:extLst>
              </a:tr>
              <a:tr h="51100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b="1" noProof="0" dirty="0"/>
                        <a:t>Download and Install</a:t>
                      </a:r>
                      <a:endParaRPr lang="en-IN" sz="1700" noProof="0" dirty="0"/>
                    </a:p>
                  </a:txBody>
                  <a:tcPr marL="88803" marR="88803" marT="44401" marB="4440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/>
                        <a:t>Visit </a:t>
                      </a:r>
                      <a:r>
                        <a:rPr lang="en-IN" sz="1700" noProof="0" dirty="0">
                          <a:hlinkClick r:id="rId2"/>
                        </a:rPr>
                        <a:t>https://ollama.com</a:t>
                      </a:r>
                      <a:r>
                        <a:rPr lang="en-IN" sz="1700" noProof="0" dirty="0"/>
                        <a:t> and follow installation instructions for our OS (Windows / macOS / Linux)</a:t>
                      </a:r>
                    </a:p>
                  </a:txBody>
                  <a:tcPr marL="88803" marR="88803" marT="44401" marB="4440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99695259"/>
                  </a:ext>
                </a:extLst>
              </a:tr>
              <a:tr h="51100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b="1" noProof="0" dirty="0"/>
                        <a:t>Pull a Model</a:t>
                      </a:r>
                      <a:endParaRPr lang="en-IN" sz="1700" noProof="0" dirty="0"/>
                    </a:p>
                  </a:txBody>
                  <a:tcPr marL="88803" marR="88803" marT="44401" marB="4440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/>
                        <a:t>Download a model such as </a:t>
                      </a:r>
                      <a:r>
                        <a:rPr lang="en-IN" sz="1700" b="1" noProof="0" dirty="0"/>
                        <a:t>Llama 3.2</a:t>
                      </a:r>
                      <a:r>
                        <a:rPr lang="en-IN" sz="1700" noProof="0" dirty="0"/>
                        <a:t> using </a:t>
                      </a:r>
                      <a:r>
                        <a:rPr lang="en-IN" sz="1700" b="1" noProof="0" dirty="0" err="1">
                          <a:latin typeface="Courier New" panose="02070309020205020404" pitchFamily="49" charset="0"/>
                        </a:rPr>
                        <a:t>ollama</a:t>
                      </a:r>
                      <a:r>
                        <a:rPr lang="en-IN" sz="1700" b="1" noProof="0" dirty="0">
                          <a:latin typeface="Courier New" panose="02070309020205020404" pitchFamily="49" charset="0"/>
                        </a:rPr>
                        <a:t> pull llama3.2</a:t>
                      </a:r>
                      <a:endParaRPr lang="en-IN" sz="1700" b="1" noProof="0" dirty="0"/>
                    </a:p>
                  </a:txBody>
                  <a:tcPr marL="88803" marR="88803" marT="44401" marB="4440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89560081"/>
                  </a:ext>
                </a:extLst>
              </a:tr>
              <a:tr h="51100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b="1" noProof="0" dirty="0"/>
                        <a:t>Run a Model</a:t>
                      </a:r>
                      <a:endParaRPr lang="en-IN" sz="1700" noProof="0" dirty="0"/>
                    </a:p>
                  </a:txBody>
                  <a:tcPr marL="88803" marR="88803" marT="44401" marB="4440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/>
                        <a:t>Run directly from the terminal </a:t>
                      </a:r>
                      <a:r>
                        <a:rPr lang="en-IN" sz="1700" b="1" noProof="0" dirty="0" err="1">
                          <a:latin typeface="Courier New" panose="02070309020205020404" pitchFamily="49" charset="0"/>
                        </a:rPr>
                        <a:t>ollama</a:t>
                      </a:r>
                      <a:r>
                        <a:rPr lang="en-IN" sz="1700" b="1" noProof="0" dirty="0">
                          <a:latin typeface="Courier New" panose="02070309020205020404" pitchFamily="49" charset="0"/>
                        </a:rPr>
                        <a:t> run llama3.2</a:t>
                      </a:r>
                      <a:endParaRPr lang="en-IN" sz="1700" b="1" noProof="0" dirty="0"/>
                    </a:p>
                  </a:txBody>
                  <a:tcPr marL="88803" marR="88803" marT="44401" marB="4440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17657931"/>
                  </a:ext>
                </a:extLst>
              </a:tr>
              <a:tr h="73000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b="1" noProof="0" dirty="0"/>
                        <a:t>API Compatibility</a:t>
                      </a:r>
                      <a:endParaRPr lang="en-IN" sz="1700" noProof="0" dirty="0"/>
                    </a:p>
                  </a:txBody>
                  <a:tcPr marL="88803" marR="88803" marT="44401" marB="4440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/>
                        <a:t>Ollama exposes an </a:t>
                      </a:r>
                      <a:r>
                        <a:rPr lang="en-IN" sz="1700" b="1" noProof="0" dirty="0"/>
                        <a:t>OpenAI-compatible API</a:t>
                      </a:r>
                      <a:r>
                        <a:rPr lang="en-IN" sz="1700" noProof="0" dirty="0"/>
                        <a:t>, so we can use the </a:t>
                      </a:r>
                      <a:r>
                        <a:rPr lang="en-IN" sz="1700" b="1" noProof="0" dirty="0"/>
                        <a:t>same Python client</a:t>
                      </a:r>
                      <a:r>
                        <a:rPr lang="en-IN" sz="1700" noProof="0" dirty="0"/>
                        <a:t> (e.g. </a:t>
                      </a:r>
                      <a:r>
                        <a:rPr lang="en-IN" sz="1700" b="1" noProof="0" dirty="0" err="1">
                          <a:latin typeface="Courier New" panose="02070309020205020404" pitchFamily="49" charset="0"/>
                        </a:rPr>
                        <a:t>openai</a:t>
                      </a:r>
                      <a:r>
                        <a:rPr lang="en-IN" sz="1700" b="1" noProof="0" dirty="0"/>
                        <a:t> </a:t>
                      </a:r>
                      <a:r>
                        <a:rPr lang="en-IN" sz="1700" noProof="0" dirty="0"/>
                        <a:t>or </a:t>
                      </a:r>
                      <a:r>
                        <a:rPr lang="en-IN" sz="1700" b="1" noProof="0" dirty="0" err="1">
                          <a:latin typeface="Courier New" panose="02070309020205020404" pitchFamily="49" charset="0"/>
                        </a:rPr>
                        <a:t>openai</a:t>
                      </a:r>
                      <a:r>
                        <a:rPr lang="en-IN" sz="1700" b="1" noProof="0" dirty="0">
                          <a:latin typeface="Courier New" panose="02070309020205020404" pitchFamily="49" charset="0"/>
                        </a:rPr>
                        <a:t>-python</a:t>
                      </a:r>
                      <a:r>
                        <a:rPr lang="en-IN" sz="1700" b="1" noProof="0" dirty="0"/>
                        <a:t> </a:t>
                      </a:r>
                      <a:r>
                        <a:rPr lang="en-IN" sz="1700" noProof="0" dirty="0"/>
                        <a:t>SDK)</a:t>
                      </a:r>
                    </a:p>
                  </a:txBody>
                  <a:tcPr marL="88803" marR="88803" marT="44401" marB="4440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8829329"/>
                  </a:ext>
                </a:extLst>
              </a:tr>
              <a:tr h="51100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b="1" noProof="0" dirty="0"/>
                        <a:t>Use Case</a:t>
                      </a:r>
                      <a:endParaRPr lang="en-IN" sz="1700" noProof="0" dirty="0"/>
                    </a:p>
                  </a:txBody>
                  <a:tcPr marL="88803" marR="88803" marT="44401" marB="4440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/>
                        <a:t>Ideal for developers who want </a:t>
                      </a:r>
                      <a:r>
                        <a:rPr lang="en-IN" sz="1700" b="1" noProof="0" dirty="0"/>
                        <a:t>offline</a:t>
                      </a:r>
                      <a:r>
                        <a:rPr lang="en-IN" sz="1700" noProof="0" dirty="0"/>
                        <a:t>, </a:t>
                      </a:r>
                      <a:r>
                        <a:rPr lang="en-IN" sz="1700" b="1" noProof="0" dirty="0"/>
                        <a:t>private</a:t>
                      </a:r>
                      <a:r>
                        <a:rPr lang="en-IN" sz="1700" noProof="0" dirty="0"/>
                        <a:t>, and </a:t>
                      </a:r>
                      <a:r>
                        <a:rPr lang="en-IN" sz="1700" b="1" noProof="0" dirty="0"/>
                        <a:t>customizable</a:t>
                      </a:r>
                      <a:r>
                        <a:rPr lang="en-IN" sz="1700" noProof="0" dirty="0"/>
                        <a:t> LLM execution</a:t>
                      </a:r>
                    </a:p>
                  </a:txBody>
                  <a:tcPr marL="88803" marR="88803" marT="44401" marB="4440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845306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63218348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A21861-F9AB-D60E-76A9-02AB6AD2A7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A12725-9253-9C24-C707-86471FAF82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Same Example Using Google Gemini LLM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B6FD6E-8836-D22F-70A1-D52A566482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noProof="0" dirty="0"/>
              <a:t>Google Gemini API keys are free</a:t>
            </a:r>
            <a:endParaRPr lang="en-IN" b="1" noProof="0" dirty="0"/>
          </a:p>
          <a:p>
            <a:r>
              <a:rPr lang="en-IN" noProof="0" dirty="0"/>
              <a:t>Download and add to .env file as GOOGLE_API_KEY=“”</a:t>
            </a:r>
          </a:p>
          <a:p>
            <a:r>
              <a:rPr lang="en-IN" noProof="0" dirty="0"/>
              <a:t>Code: C:\code\agenticai\1_openai_chat_requests\1_1_openai_gemini_chat_completions.py</a:t>
            </a:r>
          </a:p>
        </p:txBody>
      </p:sp>
    </p:spTree>
    <p:extLst>
      <p:ext uri="{BB962C8B-B14F-4D97-AF65-F5344CB8AC3E}">
        <p14:creationId xmlns:p14="http://schemas.microsoft.com/office/powerpoint/2010/main" val="1091422325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3CA89F-F20A-2084-F118-E9D11DD3BF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0487DD0-EDAE-BD4A-0EDF-A0E93BB721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1.2) OpenAI Responses API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AE45BB2-ECE1-70EB-693D-0739893A235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2457901521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D3B48F6-14CD-0CA1-28AC-11C2AD8908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OpenAI Responses API – The Basics</a:t>
            </a:r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35F71911-F5E2-E54A-552C-9A215D5F2F37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607273" y="1560380"/>
          <a:ext cx="10798296" cy="4561498"/>
        </p:xfrm>
        <a:graphic>
          <a:graphicData uri="http://schemas.openxmlformats.org/drawingml/2006/table">
            <a:tbl>
              <a:tblPr>
                <a:tableStyleId>{E8B1032C-EA38-4F05-BA0D-38AFFFC7BED3}</a:tableStyleId>
              </a:tblPr>
              <a:tblGrid>
                <a:gridCol w="2031225">
                  <a:extLst>
                    <a:ext uri="{9D8B030D-6E8A-4147-A177-3AD203B41FA5}">
                      <a16:colId xmlns:a16="http://schemas.microsoft.com/office/drawing/2014/main" val="3233694095"/>
                    </a:ext>
                  </a:extLst>
                </a:gridCol>
                <a:gridCol w="8767071">
                  <a:extLst>
                    <a:ext uri="{9D8B030D-6E8A-4147-A177-3AD203B41FA5}">
                      <a16:colId xmlns:a16="http://schemas.microsoft.com/office/drawing/2014/main" val="3188720955"/>
                    </a:ext>
                  </a:extLst>
                </a:gridCol>
              </a:tblGrid>
              <a:tr h="15135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b="1" noProof="0" dirty="0"/>
                        <a:t>Aspect</a:t>
                      </a:r>
                    </a:p>
                  </a:txBody>
                  <a:tcPr marL="37838" marR="37838" marT="18919" marB="1891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b="1" noProof="0" dirty="0"/>
                        <a:t>Details</a:t>
                      </a:r>
                    </a:p>
                  </a:txBody>
                  <a:tcPr marL="37838" marR="37838" marT="18919" marB="18919" anchor="ctr"/>
                </a:tc>
                <a:extLst>
                  <a:ext uri="{0D108BD9-81ED-4DB2-BD59-A6C34878D82A}">
                    <a16:rowId xmlns:a16="http://schemas.microsoft.com/office/drawing/2014/main" val="2522054941"/>
                  </a:ext>
                </a:extLst>
              </a:tr>
              <a:tr h="49189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b="1" noProof="0" dirty="0"/>
                        <a:t>What it is</a:t>
                      </a:r>
                      <a:endParaRPr lang="en-IN" sz="1600" noProof="0" dirty="0"/>
                    </a:p>
                  </a:txBody>
                  <a:tcPr marL="37838" marR="37838" marT="18919" marB="1891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A new API introduced in 2024, replacing </a:t>
                      </a:r>
                      <a:r>
                        <a:rPr lang="en-IN" sz="1600" b="1" noProof="0" dirty="0"/>
                        <a:t>Chat Completions</a:t>
                      </a:r>
                      <a:r>
                        <a:rPr lang="en-IN" sz="1600" noProof="0" dirty="0"/>
                        <a:t> for new projects. It unifies text, image, and multimodal interactions under one endpoint.</a:t>
                      </a:r>
                    </a:p>
                  </a:txBody>
                  <a:tcPr marL="37838" marR="37838" marT="18919" marB="18919" anchor="ctr"/>
                </a:tc>
                <a:extLst>
                  <a:ext uri="{0D108BD9-81ED-4DB2-BD59-A6C34878D82A}">
                    <a16:rowId xmlns:a16="http://schemas.microsoft.com/office/drawing/2014/main" val="2148937277"/>
                  </a:ext>
                </a:extLst>
              </a:tr>
              <a:tr h="37837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b="1" noProof="0" dirty="0"/>
                        <a:t>Why introduced</a:t>
                      </a:r>
                      <a:endParaRPr lang="en-IN" sz="1600" noProof="0" dirty="0"/>
                    </a:p>
                  </a:txBody>
                  <a:tcPr marL="37838" marR="37838" marT="18919" marB="1891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To simplify integration and provide </a:t>
                      </a:r>
                      <a:r>
                        <a:rPr lang="en-IN" sz="1600" b="1" noProof="0" dirty="0"/>
                        <a:t>agentic primitives</a:t>
                      </a:r>
                      <a:r>
                        <a:rPr lang="en-IN" sz="1600" noProof="0" dirty="0"/>
                        <a:t> (built-in tool use, structured outputs, multi-turn interactions).</a:t>
                      </a:r>
                    </a:p>
                  </a:txBody>
                  <a:tcPr marL="37838" marR="37838" marT="18919" marB="18919" anchor="ctr"/>
                </a:tc>
                <a:extLst>
                  <a:ext uri="{0D108BD9-81ED-4DB2-BD59-A6C34878D82A}">
                    <a16:rowId xmlns:a16="http://schemas.microsoft.com/office/drawing/2014/main" val="868633014"/>
                  </a:ext>
                </a:extLst>
              </a:tr>
              <a:tr h="37837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b="1" noProof="0" dirty="0"/>
                        <a:t>Unified Input</a:t>
                      </a:r>
                      <a:endParaRPr lang="en-IN" sz="1600" noProof="0" dirty="0"/>
                    </a:p>
                  </a:txBody>
                  <a:tcPr marL="37838" marR="37838" marT="18919" marB="1891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Accepts a list of </a:t>
                      </a:r>
                      <a:r>
                        <a:rPr lang="en-IN" sz="1600" b="1" noProof="0" dirty="0"/>
                        <a:t>input messages</a:t>
                      </a:r>
                      <a:r>
                        <a:rPr lang="en-IN" sz="1600" noProof="0" dirty="0"/>
                        <a:t> (system, user, assistant, tool) – very similar to Chat Completions but more flexible.</a:t>
                      </a:r>
                    </a:p>
                  </a:txBody>
                  <a:tcPr marL="37838" marR="37838" marT="18919" marB="18919" anchor="ctr"/>
                </a:tc>
                <a:extLst>
                  <a:ext uri="{0D108BD9-81ED-4DB2-BD59-A6C34878D82A}">
                    <a16:rowId xmlns:a16="http://schemas.microsoft.com/office/drawing/2014/main" val="1127537622"/>
                  </a:ext>
                </a:extLst>
              </a:tr>
              <a:tr h="37837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b="1" noProof="0" dirty="0"/>
                        <a:t>Unified Output</a:t>
                      </a:r>
                      <a:endParaRPr lang="en-IN" sz="1600" noProof="0" dirty="0"/>
                    </a:p>
                  </a:txBody>
                  <a:tcPr marL="37838" marR="37838" marT="18919" marB="1891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Returns a single response object with output (text, tool calls, or function calls) and helper fields like </a:t>
                      </a:r>
                      <a:r>
                        <a:rPr lang="en-IN" sz="1600" noProof="0" dirty="0" err="1"/>
                        <a:t>output_text</a:t>
                      </a:r>
                      <a:r>
                        <a:rPr lang="en-IN" sz="1600" noProof="0" dirty="0"/>
                        <a:t>.</a:t>
                      </a:r>
                    </a:p>
                  </a:txBody>
                  <a:tcPr marL="37838" marR="37838" marT="18919" marB="18919" anchor="ctr"/>
                </a:tc>
                <a:extLst>
                  <a:ext uri="{0D108BD9-81ED-4DB2-BD59-A6C34878D82A}">
                    <a16:rowId xmlns:a16="http://schemas.microsoft.com/office/drawing/2014/main" val="2763096585"/>
                  </a:ext>
                </a:extLst>
              </a:tr>
              <a:tr h="37837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b="1" noProof="0" dirty="0"/>
                        <a:t>Tools Support</a:t>
                      </a:r>
                      <a:endParaRPr lang="en-IN" sz="1600" noProof="0" dirty="0"/>
                    </a:p>
                  </a:txBody>
                  <a:tcPr marL="37838" marR="37838" marT="18919" marB="1891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Built-in tool/function calling: we can define tools (functions, APIs) with JSON schema, and the model can call them when needed.</a:t>
                      </a:r>
                    </a:p>
                  </a:txBody>
                  <a:tcPr marL="37838" marR="37838" marT="18919" marB="18919" anchor="ctr"/>
                </a:tc>
                <a:extLst>
                  <a:ext uri="{0D108BD9-81ED-4DB2-BD59-A6C34878D82A}">
                    <a16:rowId xmlns:a16="http://schemas.microsoft.com/office/drawing/2014/main" val="1955649362"/>
                  </a:ext>
                </a:extLst>
              </a:tr>
              <a:tr h="26486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b="1" noProof="0" dirty="0"/>
                        <a:t>System Instructions</a:t>
                      </a:r>
                      <a:endParaRPr lang="en-IN" sz="1600" noProof="0" dirty="0"/>
                    </a:p>
                  </a:txBody>
                  <a:tcPr marL="37838" marR="37838" marT="18919" marB="1891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Accepts a "system" role message or an "instructions" field – making it easier to inject guidance.</a:t>
                      </a:r>
                    </a:p>
                  </a:txBody>
                  <a:tcPr marL="37838" marR="37838" marT="18919" marB="18919" anchor="ctr"/>
                </a:tc>
                <a:extLst>
                  <a:ext uri="{0D108BD9-81ED-4DB2-BD59-A6C34878D82A}">
                    <a16:rowId xmlns:a16="http://schemas.microsoft.com/office/drawing/2014/main" val="2745300860"/>
                  </a:ext>
                </a:extLst>
              </a:tr>
              <a:tr h="26486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b="1" noProof="0" dirty="0"/>
                        <a:t>Streaming</a:t>
                      </a:r>
                      <a:endParaRPr lang="en-IN" sz="1600" noProof="0" dirty="0"/>
                    </a:p>
                  </a:txBody>
                  <a:tcPr marL="37838" marR="37838" marT="18919" marB="1891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Supports </a:t>
                      </a:r>
                      <a:r>
                        <a:rPr lang="en-IN" sz="1600" b="1" noProof="0" dirty="0"/>
                        <a:t>streaming responses</a:t>
                      </a:r>
                      <a:r>
                        <a:rPr lang="en-IN" sz="1600" noProof="0" dirty="0"/>
                        <a:t> (like Chat Completions streaming) for real-time apps.</a:t>
                      </a:r>
                    </a:p>
                  </a:txBody>
                  <a:tcPr marL="37838" marR="37838" marT="18919" marB="18919" anchor="ctr"/>
                </a:tc>
                <a:extLst>
                  <a:ext uri="{0D108BD9-81ED-4DB2-BD59-A6C34878D82A}">
                    <a16:rowId xmlns:a16="http://schemas.microsoft.com/office/drawing/2014/main" val="1008788523"/>
                  </a:ext>
                </a:extLst>
              </a:tr>
              <a:tr h="26486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b="1" noProof="0" dirty="0"/>
                        <a:t>Models Supported</a:t>
                      </a:r>
                      <a:endParaRPr lang="en-IN" sz="1600" noProof="0" dirty="0"/>
                    </a:p>
                  </a:txBody>
                  <a:tcPr marL="37838" marR="37838" marT="18919" marB="1891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Works with GPT-4o, GPT-4o-mini, and future models; tuned for </a:t>
                      </a:r>
                      <a:r>
                        <a:rPr lang="en-IN" sz="1600" b="1" noProof="0" dirty="0"/>
                        <a:t>multi-modal + agentic tasks</a:t>
                      </a:r>
                      <a:r>
                        <a:rPr lang="en-IN" sz="1600" noProof="0" dirty="0"/>
                        <a:t>.</a:t>
                      </a:r>
                    </a:p>
                  </a:txBody>
                  <a:tcPr marL="37838" marR="37838" marT="18919" marB="18919" anchor="ctr"/>
                </a:tc>
                <a:extLst>
                  <a:ext uri="{0D108BD9-81ED-4DB2-BD59-A6C34878D82A}">
                    <a16:rowId xmlns:a16="http://schemas.microsoft.com/office/drawing/2014/main" val="3614459986"/>
                  </a:ext>
                </a:extLst>
              </a:tr>
              <a:tr h="26486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b="1" noProof="0" dirty="0"/>
                        <a:t>Backward Compatibility</a:t>
                      </a:r>
                      <a:endParaRPr lang="en-IN" sz="1600" noProof="0" dirty="0"/>
                    </a:p>
                  </a:txBody>
                  <a:tcPr marL="37838" marR="37838" marT="18919" marB="1891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Chat Completions API is still supported, but </a:t>
                      </a:r>
                      <a:r>
                        <a:rPr lang="en-IN" sz="1600" b="1" noProof="0" dirty="0"/>
                        <a:t>Responses is recommended for all new projects</a:t>
                      </a:r>
                      <a:r>
                        <a:rPr lang="en-IN" sz="1600" noProof="0" dirty="0"/>
                        <a:t>.</a:t>
                      </a:r>
                    </a:p>
                  </a:txBody>
                  <a:tcPr marL="37838" marR="37838" marT="18919" marB="18919" anchor="ctr"/>
                </a:tc>
                <a:extLst>
                  <a:ext uri="{0D108BD9-81ED-4DB2-BD59-A6C34878D82A}">
                    <a16:rowId xmlns:a16="http://schemas.microsoft.com/office/drawing/2014/main" val="4093091548"/>
                  </a:ext>
                </a:extLst>
              </a:tr>
              <a:tr h="26486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b="1" noProof="0" dirty="0"/>
                        <a:t>Structured Output</a:t>
                      </a:r>
                      <a:endParaRPr lang="en-IN" sz="1600" noProof="0" dirty="0"/>
                    </a:p>
                  </a:txBody>
                  <a:tcPr marL="37838" marR="37838" marT="18919" marB="1891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Works smoothly with </a:t>
                      </a:r>
                      <a:r>
                        <a:rPr lang="en-IN" sz="1600" b="1" noProof="0" dirty="0" err="1"/>
                        <a:t>Pydantic</a:t>
                      </a:r>
                      <a:r>
                        <a:rPr lang="en-IN" sz="1600" b="1" noProof="0" dirty="0"/>
                        <a:t> schemas</a:t>
                      </a:r>
                      <a:r>
                        <a:rPr lang="en-IN" sz="1600" noProof="0" dirty="0"/>
                        <a:t>, </a:t>
                      </a:r>
                      <a:r>
                        <a:rPr lang="en-IN" sz="1600" noProof="0" dirty="0" err="1"/>
                        <a:t>enums</a:t>
                      </a:r>
                      <a:r>
                        <a:rPr lang="en-IN" sz="1600" noProof="0" dirty="0"/>
                        <a:t>, JSON modes – reducing the risk of invalid responses.</a:t>
                      </a:r>
                    </a:p>
                  </a:txBody>
                  <a:tcPr marL="37838" marR="37838" marT="18919" marB="18919" anchor="ctr"/>
                </a:tc>
                <a:extLst>
                  <a:ext uri="{0D108BD9-81ED-4DB2-BD59-A6C34878D82A}">
                    <a16:rowId xmlns:a16="http://schemas.microsoft.com/office/drawing/2014/main" val="311979362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97694329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BF504D-40D9-6595-ECA5-FCFC266F93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Understanding Code Differences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5558B6-7C05-4A15-0F33-0AFC0857E1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sz="2000" noProof="0" dirty="0"/>
              <a:t>Code path: C:\code\agenticai\1_openai_chat_requests\1_2_openai_responses_short_story.py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F306267C-83AF-F720-08C1-78994F16F805}"/>
              </a:ext>
            </a:extLst>
          </p:cNvPr>
          <p:cNvGraphicFramePr>
            <a:graphicFrameLocks noGrp="1"/>
          </p:cNvGraphicFramePr>
          <p:nvPr/>
        </p:nvGraphicFramePr>
        <p:xfrm>
          <a:off x="442180" y="2687128"/>
          <a:ext cx="11034446" cy="393192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5517223">
                  <a:extLst>
                    <a:ext uri="{9D8B030D-6E8A-4147-A177-3AD203B41FA5}">
                      <a16:colId xmlns:a16="http://schemas.microsoft.com/office/drawing/2014/main" val="1222795247"/>
                    </a:ext>
                  </a:extLst>
                </a:gridCol>
                <a:gridCol w="5517223">
                  <a:extLst>
                    <a:ext uri="{9D8B030D-6E8A-4147-A177-3AD203B41FA5}">
                      <a16:colId xmlns:a16="http://schemas.microsoft.com/office/drawing/2014/main" val="56483557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IN" sz="2000" noProof="0" dirty="0"/>
                        <a:t>Chat Completions API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2000" noProof="0" dirty="0"/>
                        <a:t>Responses API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0518446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sz="1800" b="0" kern="1200" noProof="0" dirty="0">
                          <a:solidFill>
                            <a:schemeClr val="dk1"/>
                          </a:solidFill>
                          <a:effectLst/>
                        </a:rPr>
                        <a:t>messages = [{"role": "user", "content": "What is 2+2?"}]</a:t>
                      </a:r>
                      <a:endParaRPr lang="en-IN" sz="1800" b="0" kern="1200" noProof="0" dirty="0">
                        <a:solidFill>
                          <a:schemeClr val="dk1"/>
                        </a:solidFill>
                        <a:effectLst/>
                        <a:latin typeface="Cascadia Code" panose="020B0609020000020004" pitchFamily="49" charset="0"/>
                        <a:ea typeface="Cascadia Code" panose="020B0609020000020004" pitchFamily="49" charset="0"/>
                        <a:cs typeface="Cascadia Code" panose="020B06090200000200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sz="1800" b="0" kern="1200" noProof="0" dirty="0">
                          <a:solidFill>
                            <a:schemeClr val="dk1"/>
                          </a:solidFill>
                          <a:effectLst/>
                        </a:rPr>
                        <a:t>input="Write a short story of three lines about an AI agent who wanted to learn singing."</a:t>
                      </a:r>
                      <a:endParaRPr lang="en-IN" sz="1800" b="0" kern="1200" noProof="0" dirty="0">
                        <a:solidFill>
                          <a:schemeClr val="dk1"/>
                        </a:solidFill>
                        <a:effectLst/>
                        <a:latin typeface="Cascadia Code" panose="020B0609020000020004" pitchFamily="49" charset="0"/>
                        <a:ea typeface="Cascadia Code" panose="020B0609020000020004" pitchFamily="49" charset="0"/>
                        <a:cs typeface="Cascadia Code" panose="020B06090200000200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549580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sz="1800" b="0" kern="1200" noProof="0" dirty="0">
                          <a:solidFill>
                            <a:schemeClr val="dk1"/>
                          </a:solidFill>
                          <a:effectLst/>
                        </a:rPr>
                        <a:t>response = </a:t>
                      </a:r>
                      <a:r>
                        <a:rPr lang="en-IN" sz="1800" b="0" kern="1200" noProof="0" dirty="0" err="1">
                          <a:solidFill>
                            <a:schemeClr val="dk1"/>
                          </a:solidFill>
                          <a:effectLst/>
                        </a:rPr>
                        <a:t>openai.</a:t>
                      </a:r>
                      <a:r>
                        <a:rPr lang="en-IN" sz="1800" b="0" kern="1200" noProof="0" dirty="0" err="1">
                          <a:solidFill>
                            <a:srgbClr val="FF0000"/>
                          </a:solidFill>
                          <a:effectLst/>
                        </a:rPr>
                        <a:t>chat</a:t>
                      </a:r>
                      <a:r>
                        <a:rPr lang="en-IN" sz="1800" b="0" kern="1200" noProof="0" dirty="0" err="1">
                          <a:solidFill>
                            <a:schemeClr val="dk1"/>
                          </a:solidFill>
                          <a:effectLst/>
                        </a:rPr>
                        <a:t>.</a:t>
                      </a:r>
                      <a:r>
                        <a:rPr lang="en-IN" sz="1800" b="0" kern="1200" noProof="0" dirty="0" err="1">
                          <a:solidFill>
                            <a:srgbClr val="FF0000"/>
                          </a:solidFill>
                          <a:effectLst/>
                        </a:rPr>
                        <a:t>completions</a:t>
                      </a:r>
                      <a:r>
                        <a:rPr lang="en-IN" sz="1800" b="0" kern="1200" noProof="0" dirty="0" err="1">
                          <a:solidFill>
                            <a:schemeClr val="dk1"/>
                          </a:solidFill>
                          <a:effectLst/>
                        </a:rPr>
                        <a:t>.create</a:t>
                      </a:r>
                      <a:r>
                        <a:rPr lang="en-IN" sz="1800" b="0" kern="1200" noProof="0" dirty="0">
                          <a:solidFill>
                            <a:schemeClr val="dk1"/>
                          </a:solidFill>
                          <a:effectLst/>
                        </a:rPr>
                        <a:t>(</a:t>
                      </a:r>
                    </a:p>
                    <a:p>
                      <a:r>
                        <a:rPr lang="en-IN" sz="1800" b="0" kern="1200" noProof="0" dirty="0">
                          <a:solidFill>
                            <a:schemeClr val="dk1"/>
                          </a:solidFill>
                          <a:effectLst/>
                        </a:rPr>
                        <a:t>    model="gpt-4o-mini",</a:t>
                      </a:r>
                    </a:p>
                    <a:p>
                      <a:r>
                        <a:rPr lang="en-IN" sz="1800" b="0" kern="1200" noProof="0" dirty="0">
                          <a:solidFill>
                            <a:schemeClr val="dk1"/>
                          </a:solidFill>
                          <a:effectLst/>
                        </a:rPr>
                        <a:t>    </a:t>
                      </a:r>
                      <a:r>
                        <a:rPr lang="en-IN" sz="1800" b="0" kern="1200" noProof="0" dirty="0">
                          <a:solidFill>
                            <a:srgbClr val="FF0000"/>
                          </a:solidFill>
                          <a:effectLst/>
                        </a:rPr>
                        <a:t>messages=messages</a:t>
                      </a:r>
                    </a:p>
                    <a:p>
                      <a:r>
                        <a:rPr lang="en-IN" sz="1800" b="0" kern="1200" noProof="0" dirty="0">
                          <a:solidFill>
                            <a:schemeClr val="dk1"/>
                          </a:solidFill>
                          <a:effectLst/>
                        </a:rPr>
                        <a:t>)</a:t>
                      </a:r>
                      <a:endParaRPr lang="en-IN" sz="1800" noProof="0" dirty="0">
                        <a:latin typeface="Cascadia Code" panose="020B0609020000020004" pitchFamily="49" charset="0"/>
                        <a:ea typeface="Cascadia Code" panose="020B0609020000020004" pitchFamily="49" charset="0"/>
                        <a:cs typeface="Cascadia Code" panose="020B06090200000200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800" b="0" kern="1200" noProof="0" dirty="0">
                          <a:solidFill>
                            <a:schemeClr val="dk1"/>
                          </a:solidFill>
                          <a:effectLst/>
                        </a:rPr>
                        <a:t>response = </a:t>
                      </a:r>
                      <a:r>
                        <a:rPr lang="en-IN" sz="1800" b="0" kern="1200" noProof="0" dirty="0" err="1">
                          <a:solidFill>
                            <a:srgbClr val="FF0000"/>
                          </a:solidFill>
                          <a:effectLst/>
                        </a:rPr>
                        <a:t>client.responses</a:t>
                      </a:r>
                      <a:r>
                        <a:rPr lang="en-IN" sz="1800" b="0" kern="1200" noProof="0" dirty="0" err="1">
                          <a:solidFill>
                            <a:schemeClr val="dk1"/>
                          </a:solidFill>
                          <a:effectLst/>
                        </a:rPr>
                        <a:t>.create</a:t>
                      </a:r>
                      <a:r>
                        <a:rPr lang="en-IN" sz="1800" b="0" kern="1200" noProof="0" dirty="0">
                          <a:solidFill>
                            <a:schemeClr val="dk1"/>
                          </a:solidFill>
                          <a:effectLst/>
                        </a:rPr>
                        <a:t>(</a:t>
                      </a:r>
                    </a:p>
                    <a:p>
                      <a:r>
                        <a:rPr lang="en-IN" sz="1800" b="0" kern="1200" noProof="0" dirty="0">
                          <a:solidFill>
                            <a:schemeClr val="dk1"/>
                          </a:solidFill>
                          <a:effectLst/>
                        </a:rPr>
                        <a:t>    model="gpt-4o-mini",</a:t>
                      </a:r>
                    </a:p>
                    <a:p>
                      <a:r>
                        <a:rPr lang="en-IN" sz="1800" b="0" kern="1200" noProof="0" dirty="0">
                          <a:solidFill>
                            <a:schemeClr val="dk1"/>
                          </a:solidFill>
                          <a:effectLst/>
                        </a:rPr>
                        <a:t>    </a:t>
                      </a:r>
                      <a:r>
                        <a:rPr lang="en-IN" sz="1800" b="0" kern="1200" noProof="0" dirty="0">
                          <a:solidFill>
                            <a:srgbClr val="FF0000"/>
                          </a:solidFill>
                          <a:effectLst/>
                        </a:rPr>
                        <a:t>input=input</a:t>
                      </a:r>
                    </a:p>
                    <a:p>
                      <a:r>
                        <a:rPr lang="en-IN" sz="1800" b="0" kern="1200" noProof="0" dirty="0">
                          <a:solidFill>
                            <a:schemeClr val="dk1"/>
                          </a:solidFill>
                          <a:effectLst/>
                        </a:rPr>
                        <a:t>)</a:t>
                      </a:r>
                      <a:endParaRPr lang="en-IN" sz="1800" b="0" kern="1200" noProof="0" dirty="0">
                        <a:solidFill>
                          <a:schemeClr val="dk1"/>
                        </a:solidFill>
                        <a:effectLst/>
                        <a:latin typeface="Cascadia Code" panose="020B0609020000020004" pitchFamily="49" charset="0"/>
                        <a:ea typeface="Cascadia Code" panose="020B0609020000020004" pitchFamily="49" charset="0"/>
                        <a:cs typeface="Cascadia Code" panose="020B06090200000200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8868111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342900" indent="-342900">
                        <a:buFont typeface="Arial" panose="020B0604020202020204" pitchFamily="34" charset="0"/>
                        <a:buChar char="•"/>
                      </a:pPr>
                      <a:r>
                        <a:rPr lang="en-IN" sz="2000" noProof="0" dirty="0"/>
                        <a:t>Designed specifically for chat-style interactions</a:t>
                      </a:r>
                    </a:p>
                    <a:p>
                      <a:pPr marL="342900" indent="-342900">
                        <a:buFont typeface="Arial" panose="020B0604020202020204" pitchFamily="34" charset="0"/>
                        <a:buChar char="•"/>
                      </a:pPr>
                      <a:r>
                        <a:rPr lang="en-IN" sz="2000" noProof="0" dirty="0"/>
                        <a:t>We must supply a message array with roles (system, user, etc)</a:t>
                      </a:r>
                    </a:p>
                    <a:p>
                      <a:pPr marL="342900" indent="-342900">
                        <a:buFont typeface="Arial" panose="020B0604020202020204" pitchFamily="34" charset="0"/>
                        <a:buChar char="•"/>
                      </a:pPr>
                      <a:r>
                        <a:rPr lang="en-IN" sz="2000" noProof="0" dirty="0"/>
                        <a:t>Good for structured multi-turn conversations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342900" indent="-342900">
                        <a:buFont typeface="Arial" panose="020B0604020202020204" pitchFamily="34" charset="0"/>
                        <a:buChar char="•"/>
                      </a:pPr>
                      <a:r>
                        <a:rPr lang="en-IN" sz="2000" b="0" kern="1200" noProof="0" dirty="0">
                          <a:solidFill>
                            <a:schemeClr val="dk1"/>
                          </a:solidFill>
                          <a:effectLst/>
                        </a:rPr>
                        <a:t>High-level API</a:t>
                      </a:r>
                    </a:p>
                    <a:p>
                      <a:pPr marL="342900" indent="-342900">
                        <a:buFont typeface="Arial" panose="020B0604020202020204" pitchFamily="34" charset="0"/>
                        <a:buChar char="•"/>
                      </a:pPr>
                      <a:r>
                        <a:rPr lang="en-IN" sz="2000" b="0" kern="1200" noProof="0" dirty="0">
                          <a:solidFill>
                            <a:schemeClr val="dk1"/>
                          </a:solidFill>
                          <a:effectLst/>
                        </a:rPr>
                        <a:t>Accepts input (text/image)</a:t>
                      </a:r>
                    </a:p>
                    <a:p>
                      <a:pPr marL="342900" indent="-342900">
                        <a:buFont typeface="Arial" panose="020B0604020202020204" pitchFamily="34" charset="0"/>
                        <a:buChar char="•"/>
                      </a:pPr>
                      <a:r>
                        <a:rPr lang="en-IN" sz="2000" b="0" kern="1200" noProof="0" dirty="0">
                          <a:solidFill>
                            <a:schemeClr val="dk1"/>
                          </a:solidFill>
                          <a:effectLst/>
                        </a:rPr>
                        <a:t>Abstracts away roles/messages, while still supporting structured inputs, if needed</a:t>
                      </a:r>
                      <a:endParaRPr lang="en-IN" sz="2000" b="0" kern="1200" noProof="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201593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sz="2000" noProof="0" dirty="0"/>
                        <a:t>Conversational agents with history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2000" b="0" kern="1200" noProof="0" dirty="0">
                          <a:solidFill>
                            <a:schemeClr val="dk1"/>
                          </a:solidFill>
                          <a:effectLst/>
                        </a:rPr>
                        <a:t>General purpose</a:t>
                      </a:r>
                      <a:endParaRPr lang="en-IN" sz="2000" b="0" kern="1200" noProof="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4886609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00696625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FA71DF-E46D-2EA4-C488-D476E62929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Using OpenAI Responses API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AF34EF-3FBE-E1BC-2C98-75F4A55D979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noProof="0" dirty="0"/>
              <a:t>Code path: C:\code\agenticai\1_openai_chat_requests</a:t>
            </a:r>
          </a:p>
          <a:p>
            <a:endParaRPr lang="en-IN" noProof="0" dirty="0"/>
          </a:p>
          <a:p>
            <a:endParaRPr lang="en-IN" noProof="0" dirty="0"/>
          </a:p>
          <a:p>
            <a:endParaRPr lang="en-IN" noProof="0" dirty="0"/>
          </a:p>
          <a:p>
            <a:endParaRPr lang="en-IN" noProof="0" dirty="0"/>
          </a:p>
          <a:p>
            <a:endParaRPr lang="en-IN" noProof="0" dirty="0"/>
          </a:p>
          <a:p>
            <a:endParaRPr lang="en-IN" noProof="0" dirty="0"/>
          </a:p>
          <a:p>
            <a:endParaRPr lang="en-IN" noProof="0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DE60BDC1-249B-A79F-F7D1-5AF2A6D6DBC2}"/>
              </a:ext>
            </a:extLst>
          </p:cNvPr>
          <p:cNvGraphicFramePr>
            <a:graphicFrameLocks noGrp="1"/>
          </p:cNvGraphicFramePr>
          <p:nvPr/>
        </p:nvGraphicFramePr>
        <p:xfrm>
          <a:off x="838200" y="2385854"/>
          <a:ext cx="9959904" cy="4140200"/>
        </p:xfrm>
        <a:graphic>
          <a:graphicData uri="http://schemas.openxmlformats.org/drawingml/2006/table">
            <a:tbl>
              <a:tblPr firstRow="1" bandRow="1">
                <a:tableStyleId>{912C8C85-51F0-491E-9774-3900AFEF0FD7}</a:tableStyleId>
              </a:tblPr>
              <a:tblGrid>
                <a:gridCol w="4773843">
                  <a:extLst>
                    <a:ext uri="{9D8B030D-6E8A-4147-A177-3AD203B41FA5}">
                      <a16:colId xmlns:a16="http://schemas.microsoft.com/office/drawing/2014/main" val="216924318"/>
                    </a:ext>
                  </a:extLst>
                </a:gridCol>
                <a:gridCol w="5186061">
                  <a:extLst>
                    <a:ext uri="{9D8B030D-6E8A-4147-A177-3AD203B41FA5}">
                      <a16:colId xmlns:a16="http://schemas.microsoft.com/office/drawing/2014/main" val="1428823515"/>
                    </a:ext>
                  </a:extLst>
                </a:gridCol>
              </a:tblGrid>
              <a:tr h="231947">
                <a:tc>
                  <a:txBody>
                    <a:bodyPr/>
                    <a:lstStyle/>
                    <a:p>
                      <a:r>
                        <a:rPr lang="en-IN" noProof="0" dirty="0"/>
                        <a:t>Code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noProof="0" dirty="0"/>
                        <a:t>Purpose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85788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noProof="0" dirty="0"/>
                        <a:t>1_2_openai_responses_short_story.py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sz="1800" b="0" kern="1200" noProof="0" dirty="0">
                          <a:solidFill>
                            <a:schemeClr val="dk1"/>
                          </a:solidFill>
                          <a:effectLst/>
                        </a:rPr>
                        <a:t>Basic example to ask a model to generate a short story</a:t>
                      </a:r>
                      <a:endParaRPr lang="en-IN" noProof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4149301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noProof="0" dirty="0"/>
                        <a:t>1_3_openai_responses_analyze_image.py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noProof="0" dirty="0" err="1"/>
                        <a:t>Analyze</a:t>
                      </a:r>
                      <a:r>
                        <a:rPr lang="en-IN" noProof="0" dirty="0"/>
                        <a:t> an image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630414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noProof="0" dirty="0"/>
                        <a:t>1_4_openai_responses_summarize_text.py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noProof="0" dirty="0"/>
                        <a:t>Summarize text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428744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noProof="0" dirty="0"/>
                        <a:t>1_5_openai_responses_streaming.py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noProof="0" dirty="0"/>
                        <a:t>Streaming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576669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noProof="0" dirty="0"/>
                        <a:t>1_6_openai_responses_add_instructions.py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IN" noProof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noProof="0" dirty="0"/>
                        <a:t>Add </a:t>
                      </a:r>
                      <a:r>
                        <a:rPr lang="en-IN" i="1" noProof="0" dirty="0"/>
                        <a:t>instructions</a:t>
                      </a:r>
                      <a:r>
                        <a:rPr lang="en-IN" i="0" noProof="0" dirty="0"/>
                        <a:t> parameter (Has higher authority than </a:t>
                      </a:r>
                      <a:r>
                        <a:rPr lang="en-IN" i="1" noProof="0" dirty="0"/>
                        <a:t>messages</a:t>
                      </a:r>
                      <a:r>
                        <a:rPr lang="en-IN" i="0" noProof="0" dirty="0"/>
                        <a:t> parameter)</a:t>
                      </a:r>
                      <a:endParaRPr lang="en-IN" noProof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520806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noProof="0" dirty="0"/>
                        <a:t>1_7_openai_responses_pydantic.py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noProof="0" dirty="0"/>
                        <a:t>Adding structured output using </a:t>
                      </a:r>
                      <a:r>
                        <a:rPr lang="en-IN" noProof="0" dirty="0" err="1"/>
                        <a:t>Pydantic</a:t>
                      </a:r>
                      <a:r>
                        <a:rPr lang="en-IN" noProof="0" dirty="0"/>
                        <a:t>*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534105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noProof="0" dirty="0"/>
                        <a:t>1_8_openai_responses_chatbot.py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noProof="0" dirty="0"/>
                        <a:t>Chatbot for Warren Buffett related questions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177909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noProof="0" dirty="0"/>
                        <a:t>1_9_openai_responses_tool.py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noProof="0" dirty="0"/>
                        <a:t>Use a tool (Must code schema, etc – Much easier in OpenAI Agents API)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1309569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90504029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523403-6599-8A49-7FA0-63331F5A4B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Structured Output with </a:t>
            </a:r>
            <a:r>
              <a:rPr lang="en-IN" noProof="0" dirty="0" err="1"/>
              <a:t>Pydantic</a:t>
            </a:r>
            <a:endParaRPr lang="en-IN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FD8DB1-66F3-E2DE-4F40-688E98C739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sz="1800" b="1" noProof="0" dirty="0"/>
              <a:t>Structured outputs</a:t>
            </a:r>
            <a:r>
              <a:rPr lang="en-IN" sz="1800" noProof="0" dirty="0"/>
              <a:t>: Feature that ensures that the model will always generate responses that are not just JSON but also adhere to a JSON schema</a:t>
            </a:r>
          </a:p>
          <a:p>
            <a:r>
              <a:rPr lang="en-IN" sz="1800" b="1" dirty="0" err="1"/>
              <a:t>Pydantic</a:t>
            </a:r>
            <a:r>
              <a:rPr lang="en-IN" sz="1800" dirty="0"/>
              <a:t>: A tool that checks, cleans, and structures our data automatically</a:t>
            </a:r>
          </a:p>
          <a:p>
            <a:r>
              <a:rPr lang="en-IN" sz="1800" noProof="0" dirty="0"/>
              <a:t>Raw data -&gt; Pyda</a:t>
            </a:r>
            <a:r>
              <a:rPr lang="en-IN" sz="1800" dirty="0" err="1"/>
              <a:t>ntic</a:t>
            </a:r>
            <a:r>
              <a:rPr lang="en-IN" sz="1800" dirty="0"/>
              <a:t> -&gt; Validated, Typed. Reliable data</a:t>
            </a:r>
          </a:p>
          <a:p>
            <a:endParaRPr lang="en-IN" sz="1800" noProof="0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70B8B42C-EAD1-B2DE-01F4-6D9FA0507700}"/>
              </a:ext>
            </a:extLst>
          </p:cNvPr>
          <p:cNvGraphicFramePr>
            <a:graphicFrameLocks noGrp="1"/>
          </p:cNvGraphicFramePr>
          <p:nvPr/>
        </p:nvGraphicFramePr>
        <p:xfrm>
          <a:off x="502570" y="5437983"/>
          <a:ext cx="6937691" cy="1341120"/>
        </p:xfrm>
        <a:graphic>
          <a:graphicData uri="http://schemas.openxmlformats.org/drawingml/2006/table">
            <a:tbl>
              <a:tblPr firstRow="1" bandRow="1">
                <a:tableStyleId>{85BE263C-DBD7-4A20-BB59-AAB30ACAA65A}</a:tableStyleId>
              </a:tblPr>
              <a:tblGrid>
                <a:gridCol w="1336204">
                  <a:extLst>
                    <a:ext uri="{9D8B030D-6E8A-4147-A177-3AD203B41FA5}">
                      <a16:colId xmlns:a16="http://schemas.microsoft.com/office/drawing/2014/main" val="1661448237"/>
                    </a:ext>
                  </a:extLst>
                </a:gridCol>
                <a:gridCol w="1930427">
                  <a:extLst>
                    <a:ext uri="{9D8B030D-6E8A-4147-A177-3AD203B41FA5}">
                      <a16:colId xmlns:a16="http://schemas.microsoft.com/office/drawing/2014/main" val="3245511409"/>
                    </a:ext>
                  </a:extLst>
                </a:gridCol>
                <a:gridCol w="3671060">
                  <a:extLst>
                    <a:ext uri="{9D8B030D-6E8A-4147-A177-3AD203B41FA5}">
                      <a16:colId xmlns:a16="http://schemas.microsoft.com/office/drawing/2014/main" val="947548419"/>
                    </a:ext>
                  </a:extLst>
                </a:gridCol>
              </a:tblGrid>
              <a:tr h="184456">
                <a:tc>
                  <a:txBody>
                    <a:bodyPr/>
                    <a:lstStyle/>
                    <a:p>
                      <a:r>
                        <a:rPr lang="en-IN" sz="1400" noProof="0" dirty="0"/>
                        <a:t>Aspect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1400" noProof="0" dirty="0"/>
                        <a:t>Normal Code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1400" noProof="0" dirty="0"/>
                        <a:t>Structured Output Code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1733450"/>
                  </a:ext>
                </a:extLst>
              </a:tr>
              <a:tr h="18445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sz="1400" b="0" kern="1200" noProof="0" dirty="0">
                          <a:solidFill>
                            <a:schemeClr val="dk1"/>
                          </a:solidFill>
                          <a:effectLst/>
                        </a:rPr>
                        <a:t>LLM call</a:t>
                      </a:r>
                      <a:endParaRPr lang="en-IN" sz="1400" b="0" kern="1200" noProof="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sz="1400" b="0" kern="1200" noProof="0" dirty="0" err="1">
                          <a:solidFill>
                            <a:schemeClr val="dk1"/>
                          </a:solidFill>
                          <a:effectLst/>
                        </a:rPr>
                        <a:t>client.responses.create</a:t>
                      </a:r>
                      <a:endParaRPr lang="en-IN" sz="1400" b="0" kern="1200" noProof="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sz="1400" b="0" kern="1200" noProof="0" dirty="0" err="1">
                          <a:solidFill>
                            <a:schemeClr val="dk1"/>
                          </a:solidFill>
                          <a:effectLst/>
                        </a:rPr>
                        <a:t>client.responses.parse</a:t>
                      </a:r>
                      <a:endParaRPr lang="en-IN" sz="1400" b="0" kern="1200" noProof="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6644739"/>
                  </a:ext>
                </a:extLst>
              </a:tr>
              <a:tr h="257733">
                <a:tc>
                  <a:txBody>
                    <a:bodyPr/>
                    <a:lstStyle/>
                    <a:p>
                      <a:r>
                        <a:rPr lang="en-IN" sz="1400" noProof="0" dirty="0"/>
                        <a:t>Handling response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1400" noProof="0" dirty="0" err="1"/>
                        <a:t>response.output_text</a:t>
                      </a:r>
                      <a:endParaRPr lang="en-IN" sz="1400" noProof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sz="1400" b="0" kern="1200" noProof="0" dirty="0" err="1">
                          <a:solidFill>
                            <a:schemeClr val="dk1"/>
                          </a:solidFill>
                          <a:effectLst/>
                        </a:rPr>
                        <a:t>response.output_parsed</a:t>
                      </a:r>
                      <a:r>
                        <a:rPr lang="en-IN" sz="1400" b="0" kern="1200" noProof="0" dirty="0">
                          <a:solidFill>
                            <a:schemeClr val="dk1"/>
                          </a:solidFill>
                          <a:effectLst/>
                        </a:rPr>
                        <a:t>, where </a:t>
                      </a:r>
                      <a:r>
                        <a:rPr lang="en-IN" sz="1400" b="0" kern="1200" noProof="0" dirty="0" err="1">
                          <a:solidFill>
                            <a:schemeClr val="dk1"/>
                          </a:solidFill>
                          <a:effectLst/>
                        </a:rPr>
                        <a:t>output_parsed</a:t>
                      </a:r>
                      <a:r>
                        <a:rPr lang="en-IN" sz="1400" b="0" kern="1200" noProof="0" dirty="0">
                          <a:solidFill>
                            <a:schemeClr val="dk1"/>
                          </a:solidFill>
                          <a:effectLst/>
                        </a:rPr>
                        <a:t> will be mapped to a schema that we have defined</a:t>
                      </a:r>
                      <a:endParaRPr lang="en-IN" sz="1400" b="0" kern="1200" noProof="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41778056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0C3D600F-2A64-1F84-3E2D-5AD77404CE54}"/>
              </a:ext>
            </a:extLst>
          </p:cNvPr>
          <p:cNvSpPr txBox="1"/>
          <p:nvPr/>
        </p:nvSpPr>
        <p:spPr>
          <a:xfrm>
            <a:off x="4180820" y="3179388"/>
            <a:ext cx="3259441" cy="2123658"/>
          </a:xfrm>
          <a:prstGeom prst="rect">
            <a:avLst/>
          </a:prstGeom>
          <a:solidFill>
            <a:srgbClr val="C00000">
              <a:alpha val="90000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600" b="1" dirty="0">
                <a:solidFill>
                  <a:schemeClr val="bg1"/>
                </a:solidFill>
              </a:rPr>
              <a:t>Without </a:t>
            </a:r>
            <a:r>
              <a:rPr lang="en-US" sz="1600" b="1" dirty="0" err="1">
                <a:solidFill>
                  <a:schemeClr val="bg1"/>
                </a:solidFill>
              </a:rPr>
              <a:t>Pydantic</a:t>
            </a:r>
            <a:endParaRPr lang="en-US" sz="1600" b="1" dirty="0">
              <a:solidFill>
                <a:schemeClr val="bg1"/>
              </a:solidFill>
            </a:endParaRPr>
          </a:p>
          <a:p>
            <a:r>
              <a:rPr lang="en-US" sz="1600" dirty="0">
                <a:solidFill>
                  <a:schemeClr val="bg1"/>
                </a:solidFill>
              </a:rPr>
              <a:t>user = {</a:t>
            </a:r>
          </a:p>
          <a:p>
            <a:r>
              <a:rPr lang="en-US" sz="1600" dirty="0">
                <a:solidFill>
                  <a:schemeClr val="bg1"/>
                </a:solidFill>
              </a:rPr>
              <a:t>    "name": "Alice",</a:t>
            </a:r>
          </a:p>
          <a:p>
            <a:r>
              <a:rPr lang="en-US" sz="1600" dirty="0">
                <a:solidFill>
                  <a:schemeClr val="bg1"/>
                </a:solidFill>
              </a:rPr>
              <a:t>    "age": "25"   # string, not int</a:t>
            </a:r>
          </a:p>
          <a:p>
            <a:r>
              <a:rPr lang="en-US" sz="1600" dirty="0">
                <a:solidFill>
                  <a:schemeClr val="bg1"/>
                </a:solidFill>
              </a:rPr>
              <a:t>}</a:t>
            </a:r>
          </a:p>
          <a:p>
            <a:endParaRPr lang="en-US" sz="1600" dirty="0">
              <a:solidFill>
                <a:schemeClr val="bg1"/>
              </a:solidFill>
            </a:endParaRPr>
          </a:p>
          <a:p>
            <a:r>
              <a:rPr lang="en-US" sz="1600" dirty="0">
                <a:solidFill>
                  <a:schemeClr val="bg1"/>
                </a:solidFill>
              </a:rPr>
              <a:t>print(user["age"] + 1)   #  crash</a:t>
            </a:r>
          </a:p>
          <a:p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79680B8-1624-D08B-B3F4-A287BBB0A2B4}"/>
              </a:ext>
            </a:extLst>
          </p:cNvPr>
          <p:cNvSpPr txBox="1"/>
          <p:nvPr/>
        </p:nvSpPr>
        <p:spPr>
          <a:xfrm>
            <a:off x="7650828" y="3107912"/>
            <a:ext cx="4271853" cy="2616101"/>
          </a:xfrm>
          <a:prstGeom prst="rect">
            <a:avLst/>
          </a:prstGeom>
          <a:solidFill>
            <a:srgbClr val="92D050">
              <a:alpha val="90000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600" b="1" dirty="0"/>
              <a:t>With </a:t>
            </a:r>
            <a:r>
              <a:rPr lang="en-US" sz="1600" b="1" dirty="0" err="1"/>
              <a:t>Pydantic</a:t>
            </a:r>
            <a:endParaRPr lang="en-US" sz="1600" b="1" dirty="0"/>
          </a:p>
          <a:p>
            <a:r>
              <a:rPr lang="en-US" sz="1600" dirty="0"/>
              <a:t>from </a:t>
            </a:r>
            <a:r>
              <a:rPr lang="en-US" sz="1600" dirty="0" err="1"/>
              <a:t>pydantic</a:t>
            </a:r>
            <a:r>
              <a:rPr lang="en-US" sz="1600" dirty="0"/>
              <a:t> import </a:t>
            </a:r>
            <a:r>
              <a:rPr lang="en-US" sz="1600" dirty="0" err="1"/>
              <a:t>BaseModel</a:t>
            </a:r>
            <a:endParaRPr lang="en-US" sz="1600" dirty="0"/>
          </a:p>
          <a:p>
            <a:endParaRPr lang="en-US" sz="1600" dirty="0"/>
          </a:p>
          <a:p>
            <a:r>
              <a:rPr lang="en-US" sz="1600" dirty="0"/>
              <a:t>class User(</a:t>
            </a:r>
            <a:r>
              <a:rPr lang="en-US" sz="1600" dirty="0" err="1"/>
              <a:t>BaseModel</a:t>
            </a:r>
            <a:r>
              <a:rPr lang="en-US" sz="1600" dirty="0"/>
              <a:t>):</a:t>
            </a:r>
          </a:p>
          <a:p>
            <a:r>
              <a:rPr lang="en-US" sz="1600" dirty="0"/>
              <a:t>    name: str</a:t>
            </a:r>
          </a:p>
          <a:p>
            <a:r>
              <a:rPr lang="en-US" sz="1600" dirty="0"/>
              <a:t>    age: int</a:t>
            </a:r>
          </a:p>
          <a:p>
            <a:endParaRPr lang="en-US" sz="1600" dirty="0"/>
          </a:p>
          <a:p>
            <a:r>
              <a:rPr lang="en-US" sz="1600" dirty="0"/>
              <a:t>user = User(name="Alice", age="25")</a:t>
            </a:r>
          </a:p>
          <a:p>
            <a:endParaRPr lang="en-US" sz="1600" dirty="0"/>
          </a:p>
          <a:p>
            <a:r>
              <a:rPr lang="en-US" sz="1600" dirty="0"/>
              <a:t>print(</a:t>
            </a:r>
            <a:r>
              <a:rPr lang="en-US" sz="1600" dirty="0" err="1"/>
              <a:t>user.age</a:t>
            </a:r>
            <a:r>
              <a:rPr lang="en-US" sz="1600" dirty="0"/>
              <a:t> + 1)   # Ok</a:t>
            </a:r>
          </a:p>
        </p:txBody>
      </p:sp>
      <p:sp>
        <p:nvSpPr>
          <p:cNvPr id="7" name="Callout: Up Arrow 6">
            <a:extLst>
              <a:ext uri="{FF2B5EF4-FFF2-40B4-BE49-F238E27FC236}">
                <a16:creationId xmlns:a16="http://schemas.microsoft.com/office/drawing/2014/main" id="{E4441FC3-6E59-E626-8328-5AC8CCC989A5}"/>
              </a:ext>
            </a:extLst>
          </p:cNvPr>
          <p:cNvSpPr/>
          <p:nvPr/>
        </p:nvSpPr>
        <p:spPr>
          <a:xfrm>
            <a:off x="8376183" y="5724013"/>
            <a:ext cx="2603597" cy="976934"/>
          </a:xfrm>
          <a:prstGeom prst="upArrowCallou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dirty="0"/>
              <a:t>Converts “25” to 25</a:t>
            </a:r>
          </a:p>
          <a:p>
            <a:pPr algn="ctr"/>
            <a:r>
              <a:rPr lang="en-IN" dirty="0"/>
              <a:t>Ensures age is an integer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806060259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0DAA45-48E0-9287-DA59-8CF83AF563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Tools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C97B16CC-B03B-C65A-5CE5-514789A67481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838200" y="1825625"/>
          <a:ext cx="10515600" cy="448564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2628900">
                  <a:extLst>
                    <a:ext uri="{9D8B030D-6E8A-4147-A177-3AD203B41FA5}">
                      <a16:colId xmlns:a16="http://schemas.microsoft.com/office/drawing/2014/main" val="1209553404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1571877273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2512360573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15014398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IN" noProof="0" dirty="0"/>
                        <a:t>Tool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noProof="0" dirty="0"/>
                        <a:t>Basic details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noProof="0" dirty="0"/>
                        <a:t>Key points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noProof="0" dirty="0"/>
                        <a:t>Drawbacks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930019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noProof="0" dirty="0"/>
                        <a:t>Local Tools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noProof="0" dirty="0"/>
                        <a:t>Designed to run locally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noProof="0" dirty="0"/>
                        <a:t>Metadata (Tool name, Description, Schema) are also very important as the LLM uses these to decide which tool to call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noProof="0" dirty="0"/>
                        <a:t>Hard to share across use cases, Duplication, Maintenance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166219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noProof="0" dirty="0"/>
                        <a:t>API-based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noProof="0" dirty="0"/>
                        <a:t>Enable agents to interact with external services to get additional information, process data, execute actions, get real-time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noProof="0" dirty="0"/>
                        <a:t>Useful when an agent needs to integrate with multiple systems, broadening agent functionality without needing to retrain 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noProof="0" dirty="0"/>
                        <a:t>Tools may need payment, API keys, May not be accessible sometimes (Reliability issues)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42340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noProof="0" dirty="0"/>
                        <a:t>Model Context Protocol (MCP)-based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noProof="0" dirty="0"/>
                        <a:t>Replaces the earlier situation: Custom integration with each API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noProof="0" dirty="0"/>
                        <a:t>Uniform, Model-agnostic way to connect an LLM to external systems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noProof="0" dirty="0"/>
                        <a:t>More overhead: MCP server, client etc, Security concerns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4706394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37547596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55E439-7B9F-CB58-39A1-466DC9AE93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Tool Calling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0D501D-46DB-40A2-C730-EA592818A94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IN" b="1" noProof="0" dirty="0"/>
              <a:t>Step 1: Define the tool</a:t>
            </a:r>
          </a:p>
          <a:p>
            <a:pPr lvl="1"/>
            <a:r>
              <a:rPr lang="en-IN" b="1" noProof="0" dirty="0"/>
              <a:t>tools </a:t>
            </a:r>
            <a:r>
              <a:rPr lang="en-IN" noProof="0" dirty="0"/>
              <a:t>= [</a:t>
            </a:r>
          </a:p>
          <a:p>
            <a:pPr lvl="1"/>
            <a:r>
              <a:rPr lang="en-IN" noProof="0" dirty="0"/>
              <a:t>    {</a:t>
            </a:r>
          </a:p>
          <a:p>
            <a:pPr lvl="1"/>
            <a:r>
              <a:rPr lang="en-IN" noProof="0" dirty="0"/>
              <a:t>        "type": "function",</a:t>
            </a:r>
          </a:p>
          <a:p>
            <a:pPr lvl="1"/>
            <a:r>
              <a:rPr lang="en-IN" noProof="0" dirty="0"/>
              <a:t>        "function": {</a:t>
            </a:r>
          </a:p>
          <a:p>
            <a:pPr lvl="1"/>
            <a:r>
              <a:rPr lang="en-IN" noProof="0" dirty="0"/>
              <a:t>            "name": "</a:t>
            </a:r>
            <a:r>
              <a:rPr lang="en-IN" noProof="0" dirty="0" err="1"/>
              <a:t>summarize_text</a:t>
            </a:r>
            <a:r>
              <a:rPr lang="en-IN" noProof="0" dirty="0"/>
              <a:t>", …</a:t>
            </a:r>
          </a:p>
          <a:p>
            <a:r>
              <a:rPr lang="en-IN" b="1" noProof="0" dirty="0"/>
              <a:t>Step 2: Model decides to call the tool</a:t>
            </a:r>
          </a:p>
          <a:p>
            <a:pPr lvl="1"/>
            <a:r>
              <a:rPr lang="en-IN" noProof="0" dirty="0"/>
              <a:t>response = </a:t>
            </a:r>
            <a:r>
              <a:rPr lang="en-IN" noProof="0" dirty="0" err="1"/>
              <a:t>client.responses.create</a:t>
            </a:r>
            <a:r>
              <a:rPr lang="en-IN" noProof="0" dirty="0"/>
              <a:t>( …</a:t>
            </a:r>
          </a:p>
          <a:p>
            <a:pPr lvl="1"/>
            <a:r>
              <a:rPr lang="en-IN" noProof="0" dirty="0"/>
              <a:t>        {"role": "system", "content": "You are a Buffett-trained agent. </a:t>
            </a:r>
            <a:r>
              <a:rPr lang="en-IN" b="1" noProof="0" dirty="0"/>
              <a:t>Use tools when needed</a:t>
            </a:r>
            <a:r>
              <a:rPr lang="en-IN" noProof="0" dirty="0"/>
              <a:t>."}, …</a:t>
            </a:r>
          </a:p>
          <a:p>
            <a:pPr lvl="1"/>
            <a:r>
              <a:rPr lang="en-IN" b="1" noProof="0" dirty="0"/>
              <a:t>tools=tools </a:t>
            </a:r>
            <a:r>
              <a:rPr lang="en-IN" noProof="0" dirty="0"/>
              <a:t>…</a:t>
            </a:r>
            <a:endParaRPr lang="en-IN" b="1" noProof="0" dirty="0"/>
          </a:p>
          <a:p>
            <a:r>
              <a:rPr lang="en-IN" b="1" noProof="0" dirty="0"/>
              <a:t>Step 3: Detect a tool call and run the tool</a:t>
            </a:r>
          </a:p>
          <a:p>
            <a:pPr lvl="1"/>
            <a:r>
              <a:rPr lang="en-IN" noProof="0" dirty="0"/>
              <a:t>if </a:t>
            </a:r>
            <a:r>
              <a:rPr lang="en-IN" noProof="0" dirty="0" err="1"/>
              <a:t>response.output</a:t>
            </a:r>
            <a:r>
              <a:rPr lang="en-IN" noProof="0" dirty="0"/>
              <a:t>[0].type == "</a:t>
            </a:r>
            <a:r>
              <a:rPr lang="en-IN" noProof="0" dirty="0" err="1"/>
              <a:t>tool_call</a:t>
            </a:r>
            <a:r>
              <a:rPr lang="en-IN" noProof="0" dirty="0"/>
              <a:t>":</a:t>
            </a:r>
          </a:p>
          <a:p>
            <a:pPr lvl="1"/>
            <a:r>
              <a:rPr lang="en-IN" noProof="0" dirty="0"/>
              <a:t>    </a:t>
            </a:r>
            <a:r>
              <a:rPr lang="en-IN" noProof="0" dirty="0" err="1"/>
              <a:t>tool_call</a:t>
            </a:r>
            <a:r>
              <a:rPr lang="en-IN" noProof="0" dirty="0"/>
              <a:t> = </a:t>
            </a:r>
            <a:r>
              <a:rPr lang="en-IN" noProof="0" dirty="0" err="1"/>
              <a:t>response.output</a:t>
            </a:r>
            <a:r>
              <a:rPr lang="en-IN" noProof="0" dirty="0"/>
              <a:t>[0].</a:t>
            </a:r>
            <a:r>
              <a:rPr lang="en-IN" noProof="0" dirty="0" err="1"/>
              <a:t>tool_call</a:t>
            </a:r>
            <a:r>
              <a:rPr lang="en-IN" noProof="0" dirty="0"/>
              <a:t>       # contains info about which function to run</a:t>
            </a:r>
          </a:p>
          <a:p>
            <a:pPr lvl="1"/>
            <a:r>
              <a:rPr lang="en-IN" noProof="0" dirty="0"/>
              <a:t>    </a:t>
            </a:r>
            <a:r>
              <a:rPr lang="en-IN" noProof="0" dirty="0" err="1"/>
              <a:t>args</a:t>
            </a:r>
            <a:r>
              <a:rPr lang="en-IN" noProof="0" dirty="0"/>
              <a:t> = </a:t>
            </a:r>
            <a:r>
              <a:rPr lang="en-IN" noProof="0" dirty="0" err="1"/>
              <a:t>tool_call.function.arguments</a:t>
            </a:r>
            <a:r>
              <a:rPr lang="en-IN" noProof="0" dirty="0"/>
              <a:t>            # JSON arguments for that function</a:t>
            </a:r>
          </a:p>
          <a:p>
            <a:pPr lvl="1"/>
            <a:r>
              <a:rPr lang="en-IN" noProof="0" dirty="0"/>
              <a:t>    result = </a:t>
            </a:r>
            <a:r>
              <a:rPr lang="en-IN" noProof="0" dirty="0" err="1"/>
              <a:t>summarize_text</a:t>
            </a:r>
            <a:r>
              <a:rPr lang="en-IN" noProof="0" dirty="0"/>
              <a:t>(**</a:t>
            </a:r>
            <a:r>
              <a:rPr lang="en-IN" noProof="0" dirty="0" err="1"/>
              <a:t>args</a:t>
            </a:r>
            <a:r>
              <a:rPr lang="en-IN" noProof="0" dirty="0"/>
              <a:t>)                # executes our local Python function</a:t>
            </a:r>
          </a:p>
          <a:p>
            <a:pPr lvl="1"/>
            <a:endParaRPr lang="en-IN" noProof="0" dirty="0"/>
          </a:p>
          <a:p>
            <a:pPr lvl="1"/>
            <a:endParaRPr lang="en-IN" noProof="0" dirty="0"/>
          </a:p>
          <a:p>
            <a:pPr lvl="1"/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528991543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E0BDB25-DAA8-E930-7711-86B19C4DF1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2) OpenAI Agents API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21A46AC-CE4C-1453-27FA-111EF7D7077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1204031758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37AA3C1-5A66-87CA-F078-914CF7AA2D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Agents API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8DF3C67-034A-5F49-9486-64AC7BCA70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endParaRPr lang="en-IN" b="1" noProof="0" dirty="0"/>
          </a:p>
          <a:p>
            <a:endParaRPr lang="en-IN" noProof="0" dirty="0"/>
          </a:p>
          <a:p>
            <a:endParaRPr lang="en-IN" noProof="0" dirty="0"/>
          </a:p>
          <a:p>
            <a:endParaRPr lang="en-IN" noProof="0" dirty="0"/>
          </a:p>
          <a:p>
            <a:endParaRPr lang="en-IN" noProof="0" dirty="0"/>
          </a:p>
          <a:p>
            <a:endParaRPr lang="en-IN" noProof="0" dirty="0"/>
          </a:p>
          <a:p>
            <a:endParaRPr lang="en-IN" noProof="0" dirty="0"/>
          </a:p>
          <a:p>
            <a:endParaRPr lang="en-IN" noProof="0" dirty="0"/>
          </a:p>
          <a:p>
            <a:endParaRPr lang="en-IN" noProof="0" dirty="0"/>
          </a:p>
          <a:p>
            <a:endParaRPr lang="en-IN" noProof="0" dirty="0"/>
          </a:p>
          <a:p>
            <a:endParaRPr lang="en-IN" noProof="0" dirty="0"/>
          </a:p>
          <a:p>
            <a:endParaRPr lang="en-IN" noProof="0" dirty="0"/>
          </a:p>
          <a:p>
            <a:endParaRPr lang="en-IN" noProof="0" dirty="0"/>
          </a:p>
          <a:p>
            <a:endParaRPr lang="en-IN" noProof="0" dirty="0"/>
          </a:p>
          <a:p>
            <a:r>
              <a:rPr lang="en-IN" noProof="0" dirty="0"/>
              <a:t>Code: C:\code\agenticai\2_openai_agents\2_1_openai_agent.py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5D4E51A7-D37E-C8EC-39E8-DAFF87769771}"/>
              </a:ext>
            </a:extLst>
          </p:cNvPr>
          <p:cNvGraphicFramePr>
            <a:graphicFrameLocks noGrp="1"/>
          </p:cNvGraphicFramePr>
          <p:nvPr/>
        </p:nvGraphicFramePr>
        <p:xfrm>
          <a:off x="963260" y="1481503"/>
          <a:ext cx="10515599" cy="4224428"/>
        </p:xfrm>
        <a:graphic>
          <a:graphicData uri="http://schemas.openxmlformats.org/drawingml/2006/table">
            <a:tbl>
              <a:tblPr/>
              <a:tblGrid>
                <a:gridCol w="2452241">
                  <a:extLst>
                    <a:ext uri="{9D8B030D-6E8A-4147-A177-3AD203B41FA5}">
                      <a16:colId xmlns:a16="http://schemas.microsoft.com/office/drawing/2014/main" val="4182698781"/>
                    </a:ext>
                  </a:extLst>
                </a:gridCol>
                <a:gridCol w="8063358">
                  <a:extLst>
                    <a:ext uri="{9D8B030D-6E8A-4147-A177-3AD203B41FA5}">
                      <a16:colId xmlns:a16="http://schemas.microsoft.com/office/drawing/2014/main" val="2641310142"/>
                    </a:ext>
                  </a:extLst>
                </a:gridCol>
              </a:tblGrid>
              <a:tr h="26586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500" b="1" noProof="0" dirty="0"/>
                        <a:t>Aspect</a:t>
                      </a:r>
                      <a:endParaRPr lang="en-IN" sz="1500" noProof="0" dirty="0"/>
                    </a:p>
                  </a:txBody>
                  <a:tcPr marL="75023" marR="75023" marT="37512" marB="375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500" b="1" noProof="0" dirty="0"/>
                        <a:t>Description</a:t>
                      </a:r>
                      <a:endParaRPr lang="en-IN" sz="1500" noProof="0" dirty="0"/>
                    </a:p>
                  </a:txBody>
                  <a:tcPr marL="75023" marR="75023" marT="37512" marB="375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64313008"/>
                  </a:ext>
                </a:extLst>
              </a:tr>
              <a:tr h="85402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500" b="1" noProof="0" dirty="0"/>
                        <a:t>Official Definition</a:t>
                      </a:r>
                      <a:endParaRPr lang="en-IN" sz="1500" noProof="0" dirty="0"/>
                    </a:p>
                  </a:txBody>
                  <a:tcPr marL="75023" marR="75023" marT="37512" marB="375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500" noProof="0" dirty="0"/>
                        <a:t>“</a:t>
                      </a:r>
                      <a:r>
                        <a:rPr lang="en-IN" sz="1500" b="1" noProof="0" dirty="0"/>
                        <a:t>Agents represent systems that intelligently accomplish tasks, ranging from executing simple workflows to pursuing complex, open-ended objectives.</a:t>
                      </a:r>
                      <a:r>
                        <a:rPr lang="en-IN" sz="1500" noProof="0" dirty="0"/>
                        <a:t>” — </a:t>
                      </a:r>
                      <a:r>
                        <a:rPr lang="en-IN" sz="1500" i="1" noProof="0" dirty="0"/>
                        <a:t>OpenAI</a:t>
                      </a:r>
                      <a:endParaRPr lang="en-IN" sz="1500" noProof="0" dirty="0"/>
                    </a:p>
                  </a:txBody>
                  <a:tcPr marL="75023" marR="75023" marT="37512" marB="375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10853121"/>
                  </a:ext>
                </a:extLst>
              </a:tr>
              <a:tr h="65693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500" b="1" noProof="0" dirty="0"/>
                        <a:t>Purpose</a:t>
                      </a:r>
                      <a:endParaRPr lang="en-IN" sz="1500" noProof="0" dirty="0"/>
                    </a:p>
                  </a:txBody>
                  <a:tcPr marL="75023" marR="75023" marT="37512" marB="375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500" noProof="0" dirty="0"/>
                        <a:t>Agents combine </a:t>
                      </a:r>
                      <a:r>
                        <a:rPr lang="en-IN" sz="1500" b="1" noProof="0" dirty="0"/>
                        <a:t>reasoning</a:t>
                      </a:r>
                      <a:r>
                        <a:rPr lang="en-IN" sz="1500" noProof="0" dirty="0"/>
                        <a:t>, </a:t>
                      </a:r>
                      <a:r>
                        <a:rPr lang="en-IN" sz="1500" b="1" noProof="0" dirty="0"/>
                        <a:t>tool use</a:t>
                      </a:r>
                      <a:r>
                        <a:rPr lang="en-IN" sz="1500" noProof="0" dirty="0"/>
                        <a:t>, and </a:t>
                      </a:r>
                      <a:r>
                        <a:rPr lang="en-IN" sz="1500" b="1" noProof="0" dirty="0"/>
                        <a:t>memory</a:t>
                      </a:r>
                      <a:r>
                        <a:rPr lang="en-IN" sz="1500" noProof="0" dirty="0"/>
                        <a:t> to autonomously complete tasks — from basic automation to multi-step decision-making</a:t>
                      </a:r>
                    </a:p>
                  </a:txBody>
                  <a:tcPr marL="75023" marR="75023" marT="37512" marB="375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70291019"/>
                  </a:ext>
                </a:extLst>
              </a:tr>
              <a:tr h="65693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500" b="1" noProof="0" dirty="0"/>
                        <a:t>Examples of Tasks</a:t>
                      </a:r>
                      <a:endParaRPr lang="en-IN" sz="1500" noProof="0" dirty="0"/>
                    </a:p>
                  </a:txBody>
                  <a:tcPr marL="75023" marR="75023" marT="37512" marB="375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500" noProof="0" dirty="0"/>
                        <a:t>• Run data analysis scripts </a:t>
                      </a:r>
                    </a:p>
                    <a:p>
                      <a:pPr>
                        <a:buNone/>
                      </a:pPr>
                      <a:r>
                        <a:rPr lang="en-IN" sz="1500" noProof="0" dirty="0"/>
                        <a:t>• Search the web or use APIs </a:t>
                      </a:r>
                    </a:p>
                    <a:p>
                      <a:pPr>
                        <a:buNone/>
                      </a:pPr>
                      <a:r>
                        <a:rPr lang="en-IN" sz="1500" noProof="0" dirty="0"/>
                        <a:t>• Send messages or emails </a:t>
                      </a:r>
                    </a:p>
                    <a:p>
                      <a:pPr>
                        <a:buNone/>
                      </a:pPr>
                      <a:r>
                        <a:rPr lang="en-IN" sz="1500" noProof="0" dirty="0"/>
                        <a:t>• Plan and execute multi-step goals</a:t>
                      </a:r>
                    </a:p>
                  </a:txBody>
                  <a:tcPr marL="75023" marR="75023" marT="37512" marB="375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03554786"/>
                  </a:ext>
                </a:extLst>
              </a:tr>
              <a:tr h="26586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500" b="1" noProof="0" dirty="0"/>
                        <a:t>Installation Command</a:t>
                      </a:r>
                      <a:endParaRPr lang="en-IN" sz="1500" noProof="0" dirty="0"/>
                    </a:p>
                  </a:txBody>
                  <a:tcPr marL="75023" marR="75023" marT="37512" marB="375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500" b="1" noProof="0" dirty="0">
                          <a:latin typeface="Courier New" panose="02070309020205020404" pitchFamily="49" charset="0"/>
                        </a:rPr>
                        <a:t>pip install </a:t>
                      </a:r>
                      <a:r>
                        <a:rPr lang="en-IN" sz="1500" b="1" noProof="0" dirty="0" err="1">
                          <a:latin typeface="Courier New" panose="02070309020205020404" pitchFamily="49" charset="0"/>
                        </a:rPr>
                        <a:t>openai</a:t>
                      </a:r>
                      <a:r>
                        <a:rPr lang="en-IN" sz="1500" b="1" noProof="0" dirty="0">
                          <a:latin typeface="Courier New" panose="02070309020205020404" pitchFamily="49" charset="0"/>
                        </a:rPr>
                        <a:t>-agents</a:t>
                      </a:r>
                      <a:endParaRPr lang="en-IN" sz="1500" b="1" noProof="0" dirty="0"/>
                    </a:p>
                  </a:txBody>
                  <a:tcPr marL="75023" marR="75023" marT="37512" marB="375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06531"/>
                  </a:ext>
                </a:extLst>
              </a:tr>
              <a:tr h="65693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500" b="1" noProof="0" dirty="0"/>
                        <a:t>Integration</a:t>
                      </a:r>
                      <a:endParaRPr lang="en-IN" sz="1500" noProof="0" dirty="0"/>
                    </a:p>
                  </a:txBody>
                  <a:tcPr marL="75023" marR="75023" marT="37512" marB="375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500" noProof="0" dirty="0"/>
                        <a:t>Works seamlessly with the </a:t>
                      </a:r>
                      <a:r>
                        <a:rPr lang="en-IN" sz="1500" b="1" noProof="0" dirty="0"/>
                        <a:t>OpenAI Responses API</a:t>
                      </a:r>
                      <a:r>
                        <a:rPr lang="en-IN" sz="1500" noProof="0" dirty="0"/>
                        <a:t>, enabling dynamic tool-calling and multi-step task completion</a:t>
                      </a:r>
                    </a:p>
                  </a:txBody>
                  <a:tcPr marL="75023" marR="75023" marT="37512" marB="375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71716649"/>
                  </a:ext>
                </a:extLst>
              </a:tr>
              <a:tr h="45985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500" b="1" noProof="0" dirty="0"/>
                        <a:t>Benefit</a:t>
                      </a:r>
                      <a:endParaRPr lang="en-IN" sz="1500" noProof="0" dirty="0"/>
                    </a:p>
                  </a:txBody>
                  <a:tcPr marL="75023" marR="75023" marT="37512" marB="375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500" noProof="0" dirty="0"/>
                        <a:t>Turns LLMs from reactive assistants into </a:t>
                      </a:r>
                      <a:r>
                        <a:rPr lang="en-IN" sz="1500" b="1" noProof="0" dirty="0"/>
                        <a:t>goal-driven, autonomous systems</a:t>
                      </a:r>
                      <a:endParaRPr lang="en-IN" sz="1500" noProof="0" dirty="0"/>
                    </a:p>
                  </a:txBody>
                  <a:tcPr marL="75023" marR="75023" marT="37512" marB="375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1900798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87909232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B25946-4DD0-BD92-AA53-84A0114EA3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Agents API Basics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BB5988-D4A7-6685-1814-D5225EC3CF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B987856-73F6-E779-223A-A2ED8DB128DC}"/>
              </a:ext>
            </a:extLst>
          </p:cNvPr>
          <p:cNvSpPr txBox="1"/>
          <p:nvPr/>
        </p:nvSpPr>
        <p:spPr>
          <a:xfrm>
            <a:off x="481630" y="2477955"/>
            <a:ext cx="4997789" cy="187743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IN" b="1" noProof="0" dirty="0"/>
              <a:t>Step 1: Defining an Agent</a:t>
            </a:r>
          </a:p>
          <a:p>
            <a:endParaRPr lang="en-IN" noProof="0" dirty="0"/>
          </a:p>
          <a:p>
            <a:r>
              <a:rPr lang="en-IN" sz="16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agent = Agent(</a:t>
            </a:r>
          </a:p>
          <a:p>
            <a:r>
              <a:rPr lang="en-IN" sz="16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    name="Assistant",</a:t>
            </a:r>
          </a:p>
          <a:p>
            <a:r>
              <a:rPr lang="en-IN" sz="16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    instructions=instruction,</a:t>
            </a:r>
          </a:p>
          <a:p>
            <a:r>
              <a:rPr lang="en-IN" sz="16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    model=“gpt-4o-mini” // optional</a:t>
            </a:r>
          </a:p>
          <a:p>
            <a:r>
              <a:rPr lang="en-IN" sz="16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endParaRPr lang="en-IN" noProof="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CDCACEE-5C36-A4FC-5F88-1B63CE418D68}"/>
              </a:ext>
            </a:extLst>
          </p:cNvPr>
          <p:cNvSpPr txBox="1"/>
          <p:nvPr/>
        </p:nvSpPr>
        <p:spPr>
          <a:xfrm>
            <a:off x="5786542" y="2387379"/>
            <a:ext cx="5193234" cy="135421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IN" sz="1600" noProof="0" dirty="0"/>
              <a:t>Agent: Object representing our intelligent assistant</a:t>
            </a:r>
          </a:p>
          <a:p>
            <a:r>
              <a:rPr lang="en-IN" sz="1600" noProof="0" dirty="0"/>
              <a:t>instructions: Tell the agent how to behave</a:t>
            </a:r>
          </a:p>
          <a:p>
            <a:endParaRPr lang="en-IN" sz="1600" noProof="0" dirty="0"/>
          </a:p>
          <a:p>
            <a:r>
              <a:rPr lang="en-IN" sz="1600" noProof="0" dirty="0"/>
              <a:t>Note: This will create but not run the agent</a:t>
            </a:r>
          </a:p>
          <a:p>
            <a:endParaRPr lang="en-IN" sz="1600" noProof="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CDFB2CE-B9D9-23AC-8969-ABEDF6A54210}"/>
              </a:ext>
            </a:extLst>
          </p:cNvPr>
          <p:cNvSpPr txBox="1"/>
          <p:nvPr/>
        </p:nvSpPr>
        <p:spPr>
          <a:xfrm>
            <a:off x="481630" y="4368146"/>
            <a:ext cx="4997789" cy="1169551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IN" b="1" noProof="0" dirty="0"/>
              <a:t>Step 2: Running the Agent</a:t>
            </a:r>
          </a:p>
          <a:p>
            <a:endParaRPr lang="en-IN" noProof="0" dirty="0"/>
          </a:p>
          <a:p>
            <a:r>
              <a:rPr lang="en-IN" sz="16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result = </a:t>
            </a:r>
            <a:r>
              <a:rPr lang="en-IN" sz="1600" noProof="0" dirty="0" err="1">
                <a:latin typeface="Cascadia Mono" panose="020B0609020000020004" pitchFamily="49" charset="0"/>
                <a:cs typeface="Cascadia Mono" panose="020B0609020000020004" pitchFamily="49" charset="0"/>
              </a:rPr>
              <a:t>Runner.run_sync</a:t>
            </a:r>
            <a:r>
              <a:rPr lang="en-IN" sz="16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(agent, message)</a:t>
            </a:r>
          </a:p>
          <a:p>
            <a:endParaRPr lang="en-IN" noProof="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417E146-5ACA-6717-0FFB-2F94366438B4}"/>
              </a:ext>
            </a:extLst>
          </p:cNvPr>
          <p:cNvSpPr txBox="1"/>
          <p:nvPr/>
        </p:nvSpPr>
        <p:spPr>
          <a:xfrm>
            <a:off x="5786542" y="3928562"/>
            <a:ext cx="5193234" cy="261610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IN" sz="1600" noProof="0" dirty="0" err="1"/>
              <a:t>Runner.run_sync</a:t>
            </a:r>
            <a:r>
              <a:rPr lang="en-IN" sz="1600" noProof="0" dirty="0"/>
              <a:t> executes the agent synchronously</a:t>
            </a:r>
          </a:p>
          <a:p>
            <a:endParaRPr lang="en-IN" sz="1600" noProof="0" dirty="0"/>
          </a:p>
          <a:p>
            <a:r>
              <a:rPr lang="en-IN" sz="1600" noProof="0" dirty="0"/>
              <a:t>Sends the message to the agent along with instructions</a:t>
            </a:r>
          </a:p>
          <a:p>
            <a:endParaRPr lang="en-IN" sz="1600" noProof="0" dirty="0"/>
          </a:p>
          <a:p>
            <a:r>
              <a:rPr lang="en-IN" sz="1600" noProof="0" dirty="0"/>
              <a:t>Internally:</a:t>
            </a:r>
          </a:p>
          <a:p>
            <a:r>
              <a:rPr lang="en-IN" sz="1600" noProof="0" dirty="0"/>
              <a:t>1. The agent formats the message for the LLM</a:t>
            </a:r>
          </a:p>
          <a:p>
            <a:r>
              <a:rPr lang="en-IN" sz="1600" noProof="0" dirty="0"/>
              <a:t>2. The LLM generates a response based on the instruction and message</a:t>
            </a:r>
          </a:p>
          <a:p>
            <a:r>
              <a:rPr lang="en-IN" sz="1600" noProof="0" dirty="0"/>
              <a:t>3. Runner wraps this execution and stores the final output in result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03D05C8-12DD-80FE-0A0F-79488B7CAC71}"/>
              </a:ext>
            </a:extLst>
          </p:cNvPr>
          <p:cNvSpPr txBox="1"/>
          <p:nvPr/>
        </p:nvSpPr>
        <p:spPr>
          <a:xfrm>
            <a:off x="838200" y="1348571"/>
            <a:ext cx="9745745" cy="954107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IN" sz="1400" noProof="0" dirty="0"/>
              <a:t>instruction = "You are a helpful customer support analyst.“</a:t>
            </a:r>
          </a:p>
          <a:p>
            <a:endParaRPr lang="en-IN" sz="1400" noProof="0" dirty="0"/>
          </a:p>
          <a:p>
            <a:r>
              <a:rPr lang="en-IN" sz="1400" noProof="0" dirty="0"/>
              <a:t>message = "</a:t>
            </a:r>
            <a:r>
              <a:rPr lang="en-IN" sz="1400" noProof="0" dirty="0" err="1"/>
              <a:t>Analyze</a:t>
            </a:r>
            <a:r>
              <a:rPr lang="en-IN" sz="1400" noProof="0" dirty="0"/>
              <a:t> this customer feedback and suggest improvements to the product: 'The packaging is great, but the delivery was delayed by two days.'"</a:t>
            </a:r>
          </a:p>
        </p:txBody>
      </p:sp>
    </p:spTree>
    <p:extLst>
      <p:ext uri="{BB962C8B-B14F-4D97-AF65-F5344CB8AC3E}">
        <p14:creationId xmlns:p14="http://schemas.microsoft.com/office/powerpoint/2010/main" val="750283089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1C7C96-86DD-FD90-D3E4-8A30CCFA5B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OpenAI Agents SDK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3501EB-49D5-3EBA-216C-C6339E04C2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noProof="0" dirty="0"/>
              <a:t>Allows us to build agentic apps with basic primitives:</a:t>
            </a:r>
          </a:p>
          <a:p>
            <a:endParaRPr lang="en-IN" noProof="0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03025BEE-F3C2-6731-5F43-051E63E968E5}"/>
              </a:ext>
            </a:extLst>
          </p:cNvPr>
          <p:cNvGraphicFramePr>
            <a:graphicFrameLocks noGrp="1"/>
          </p:cNvGraphicFramePr>
          <p:nvPr/>
        </p:nvGraphicFramePr>
        <p:xfrm>
          <a:off x="838200" y="2362027"/>
          <a:ext cx="10515600" cy="4203160"/>
        </p:xfrm>
        <a:graphic>
          <a:graphicData uri="http://schemas.openxmlformats.org/drawingml/2006/table">
            <a:tbl>
              <a:tblPr>
                <a:tableStyleId>{E8B1032C-EA38-4F05-BA0D-38AFFFC7BED3}</a:tableStyleId>
              </a:tblPr>
              <a:tblGrid>
                <a:gridCol w="1596775">
                  <a:extLst>
                    <a:ext uri="{9D8B030D-6E8A-4147-A177-3AD203B41FA5}">
                      <a16:colId xmlns:a16="http://schemas.microsoft.com/office/drawing/2014/main" val="2469913142"/>
                    </a:ext>
                  </a:extLst>
                </a:gridCol>
                <a:gridCol w="4078841">
                  <a:extLst>
                    <a:ext uri="{9D8B030D-6E8A-4147-A177-3AD203B41FA5}">
                      <a16:colId xmlns:a16="http://schemas.microsoft.com/office/drawing/2014/main" val="1365375933"/>
                    </a:ext>
                  </a:extLst>
                </a:gridCol>
                <a:gridCol w="4839984">
                  <a:extLst>
                    <a:ext uri="{9D8B030D-6E8A-4147-A177-3AD203B41FA5}">
                      <a16:colId xmlns:a16="http://schemas.microsoft.com/office/drawing/2014/main" val="3864009623"/>
                    </a:ext>
                  </a:extLst>
                </a:gridCol>
              </a:tblGrid>
              <a:tr h="41395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b="1" noProof="0" dirty="0"/>
                        <a:t>Primitive</a:t>
                      </a:r>
                      <a:endParaRPr lang="en-IN" sz="2000" noProof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b="1" noProof="0" dirty="0"/>
                        <a:t>Description</a:t>
                      </a:r>
                      <a:endParaRPr lang="en-IN" sz="2000" noProof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b="1" noProof="0" dirty="0"/>
                        <a:t>Example Use Case</a:t>
                      </a:r>
                      <a:endParaRPr lang="en-IN" sz="2000" noProof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79516050"/>
                  </a:ext>
                </a:extLst>
              </a:tr>
              <a:tr h="85971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b="1" noProof="0" dirty="0"/>
                        <a:t>Agents</a:t>
                      </a:r>
                      <a:endParaRPr lang="en-IN" sz="2000" noProof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noProof="0" dirty="0"/>
                        <a:t>LLMs equipped with instructions and tools.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noProof="0" dirty="0"/>
                        <a:t>A customer support bot that answers FAQs using a knowledge base and function calling.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02438369"/>
                  </a:ext>
                </a:extLst>
              </a:tr>
              <a:tr h="85971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b="1" noProof="0" dirty="0"/>
                        <a:t>Handoffs</a:t>
                      </a:r>
                      <a:endParaRPr lang="en-IN" sz="2000" noProof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noProof="0" dirty="0"/>
                        <a:t>Allow agents to delegate to other agents for specific tasks.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noProof="0" dirty="0"/>
                        <a:t>A general support agent escalates a billing-related query to a specialized billing agent.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45061710"/>
                  </a:ext>
                </a:extLst>
              </a:tr>
              <a:tr h="103488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b="1" noProof="0" dirty="0"/>
                        <a:t>Guardrails</a:t>
                      </a:r>
                      <a:endParaRPr lang="en-IN" sz="2000" noProof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noProof="0" dirty="0"/>
                        <a:t>Enable validation of agent inputs and outputs.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noProof="0" dirty="0"/>
                        <a:t>Prevent an agent from generating unsafe instructions or validate that output is JSON before returning.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44341352"/>
                  </a:ext>
                </a:extLst>
              </a:tr>
              <a:tr h="103488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b="1" noProof="0" dirty="0"/>
                        <a:t>Sessions</a:t>
                      </a:r>
                      <a:endParaRPr lang="en-IN" sz="2000" noProof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noProof="0" dirty="0"/>
                        <a:t>Automatically maintain conversation history across agent runs.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noProof="0" dirty="0"/>
                        <a:t>A tutoring agent remembers what topics a student has already covered across multiple sessions.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3103326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5622053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0936D3-4109-4E2D-E4F6-551587E9A2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Agents API: Sync or Async?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137860-E044-7F56-74A2-7FA1AF3636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noProof="0" dirty="0"/>
              <a:t>Agents API supports two modes of operation: </a:t>
            </a:r>
            <a:r>
              <a:rPr lang="en-IN" b="1" noProof="0" dirty="0"/>
              <a:t>synchronous</a:t>
            </a:r>
            <a:r>
              <a:rPr lang="en-IN" noProof="0" dirty="0"/>
              <a:t> and </a:t>
            </a:r>
            <a:r>
              <a:rPr lang="en-IN" b="1" noProof="0" dirty="0"/>
              <a:t>asynchronous</a:t>
            </a:r>
          </a:p>
          <a:p>
            <a:endParaRPr lang="en-IN" noProof="0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52CE6E5B-E743-D5FB-0800-7B2F164CB2E6}"/>
              </a:ext>
            </a:extLst>
          </p:cNvPr>
          <p:cNvGraphicFramePr>
            <a:graphicFrameLocks noGrp="1"/>
          </p:cNvGraphicFramePr>
          <p:nvPr/>
        </p:nvGraphicFramePr>
        <p:xfrm>
          <a:off x="838200" y="2854883"/>
          <a:ext cx="10679634" cy="3933142"/>
        </p:xfrm>
        <a:graphic>
          <a:graphicData uri="http://schemas.openxmlformats.org/drawingml/2006/table">
            <a:tbl>
              <a:tblPr>
                <a:tableStyleId>{5DA37D80-6434-44D0-A028-1B22A696006F}</a:tableStyleId>
              </a:tblPr>
              <a:tblGrid>
                <a:gridCol w="2240047">
                  <a:extLst>
                    <a:ext uri="{9D8B030D-6E8A-4147-A177-3AD203B41FA5}">
                      <a16:colId xmlns:a16="http://schemas.microsoft.com/office/drawing/2014/main" val="3291926472"/>
                    </a:ext>
                  </a:extLst>
                </a:gridCol>
                <a:gridCol w="3860025">
                  <a:extLst>
                    <a:ext uri="{9D8B030D-6E8A-4147-A177-3AD203B41FA5}">
                      <a16:colId xmlns:a16="http://schemas.microsoft.com/office/drawing/2014/main" val="3225460055"/>
                    </a:ext>
                  </a:extLst>
                </a:gridCol>
                <a:gridCol w="4579562">
                  <a:extLst>
                    <a:ext uri="{9D8B030D-6E8A-4147-A177-3AD203B41FA5}">
                      <a16:colId xmlns:a16="http://schemas.microsoft.com/office/drawing/2014/main" val="612264176"/>
                    </a:ext>
                  </a:extLst>
                </a:gridCol>
              </a:tblGrid>
              <a:tr h="15471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 b="1" noProof="0" dirty="0"/>
                        <a:t>Aspect</a:t>
                      </a:r>
                    </a:p>
                  </a:txBody>
                  <a:tcPr marL="52426" marR="52426" marT="26213" marB="2621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 b="1" noProof="0" dirty="0">
                          <a:solidFill>
                            <a:srgbClr val="FF0000"/>
                          </a:solidFill>
                        </a:rPr>
                        <a:t>Synchronous</a:t>
                      </a:r>
                      <a:r>
                        <a:rPr lang="en-IN" sz="1800" b="1" noProof="0" dirty="0"/>
                        <a:t>: </a:t>
                      </a:r>
                      <a:r>
                        <a:rPr lang="en-IN" sz="1800" b="1" noProof="0" dirty="0" err="1"/>
                        <a:t>Runner.run_sync</a:t>
                      </a:r>
                      <a:r>
                        <a:rPr lang="en-IN" sz="1800" b="1" noProof="0" dirty="0"/>
                        <a:t>(...)</a:t>
                      </a:r>
                    </a:p>
                  </a:txBody>
                  <a:tcPr marL="52426" marR="52426" marT="26213" marB="2621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 b="1" noProof="0" dirty="0">
                          <a:solidFill>
                            <a:srgbClr val="FF0000"/>
                          </a:solidFill>
                        </a:rPr>
                        <a:t>Asynchronous</a:t>
                      </a:r>
                      <a:r>
                        <a:rPr lang="en-IN" sz="1800" b="1" noProof="0" dirty="0"/>
                        <a:t>: await </a:t>
                      </a:r>
                      <a:r>
                        <a:rPr lang="en-IN" sz="1800" b="1" noProof="0" dirty="0" err="1"/>
                        <a:t>Runner.run</a:t>
                      </a:r>
                      <a:r>
                        <a:rPr lang="en-IN" sz="1800" b="1" noProof="0" dirty="0"/>
                        <a:t>(...)</a:t>
                      </a:r>
                    </a:p>
                  </a:txBody>
                  <a:tcPr marL="52426" marR="52426" marT="26213" marB="26213" anchor="ctr"/>
                </a:tc>
                <a:extLst>
                  <a:ext uri="{0D108BD9-81ED-4DB2-BD59-A6C34878D82A}">
                    <a16:rowId xmlns:a16="http://schemas.microsoft.com/office/drawing/2014/main" val="3010442310"/>
                  </a:ext>
                </a:extLst>
              </a:tr>
              <a:tr h="27075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 b="1" noProof="0" dirty="0"/>
                        <a:t>Programming style</a:t>
                      </a:r>
                      <a:endParaRPr lang="en-IN" sz="1800" noProof="0" dirty="0"/>
                    </a:p>
                  </a:txBody>
                  <a:tcPr marL="52426" marR="52426" marT="26213" marB="2621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 noProof="0" dirty="0"/>
                        <a:t>Blocking (runs one task at a time)</a:t>
                      </a:r>
                    </a:p>
                  </a:txBody>
                  <a:tcPr marL="52426" marR="52426" marT="26213" marB="2621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 noProof="0" dirty="0"/>
                        <a:t>Non-blocking (can run multiple tasks concurrently)</a:t>
                      </a:r>
                    </a:p>
                  </a:txBody>
                  <a:tcPr marL="52426" marR="52426" marT="26213" marB="26213" anchor="ctr"/>
                </a:tc>
                <a:extLst>
                  <a:ext uri="{0D108BD9-81ED-4DB2-BD59-A6C34878D82A}">
                    <a16:rowId xmlns:a16="http://schemas.microsoft.com/office/drawing/2014/main" val="1619753185"/>
                  </a:ext>
                </a:extLst>
              </a:tr>
              <a:tr h="27075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 b="1" noProof="0" dirty="0"/>
                        <a:t>Ease of use</a:t>
                      </a:r>
                      <a:endParaRPr lang="en-IN" sz="1800" noProof="0" dirty="0"/>
                    </a:p>
                  </a:txBody>
                  <a:tcPr marL="52426" marR="52426" marT="26213" marB="2621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 noProof="0" dirty="0"/>
                        <a:t>Simpler to write, no async/await needed</a:t>
                      </a:r>
                    </a:p>
                  </a:txBody>
                  <a:tcPr marL="52426" marR="52426" marT="26213" marB="2621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 noProof="0" dirty="0"/>
                        <a:t>Requires </a:t>
                      </a:r>
                      <a:r>
                        <a:rPr lang="en-IN" sz="1800" b="1" noProof="0" dirty="0" err="1"/>
                        <a:t>asyncio</a:t>
                      </a:r>
                      <a:r>
                        <a:rPr lang="en-IN" sz="1800" noProof="0" dirty="0"/>
                        <a:t> and </a:t>
                      </a:r>
                      <a:r>
                        <a:rPr lang="en-IN" sz="1800" b="1" noProof="0" dirty="0"/>
                        <a:t>await </a:t>
                      </a:r>
                      <a:r>
                        <a:rPr lang="en-IN" sz="1800" noProof="0" dirty="0"/>
                        <a:t>keywords</a:t>
                      </a:r>
                    </a:p>
                  </a:txBody>
                  <a:tcPr marL="52426" marR="52426" marT="26213" marB="26213" anchor="ctr"/>
                </a:tc>
                <a:extLst>
                  <a:ext uri="{0D108BD9-81ED-4DB2-BD59-A6C34878D82A}">
                    <a16:rowId xmlns:a16="http://schemas.microsoft.com/office/drawing/2014/main" val="1494663685"/>
                  </a:ext>
                </a:extLst>
              </a:tr>
              <a:tr h="38679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 b="1" noProof="0" dirty="0"/>
                        <a:t>Best for</a:t>
                      </a:r>
                      <a:endParaRPr lang="en-IN" sz="1800" noProof="0" dirty="0"/>
                    </a:p>
                  </a:txBody>
                  <a:tcPr marL="52426" marR="52426" marT="26213" marB="2621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 noProof="0" dirty="0"/>
                        <a:t>Quick scripts, one-off calls, debugging</a:t>
                      </a:r>
                    </a:p>
                  </a:txBody>
                  <a:tcPr marL="52426" marR="52426" marT="26213" marB="2621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 noProof="0" dirty="0"/>
                        <a:t>Production apps, web servers, handling multiple sessions or tool calls</a:t>
                      </a:r>
                    </a:p>
                  </a:txBody>
                  <a:tcPr marL="52426" marR="52426" marT="26213" marB="26213" anchor="ctr"/>
                </a:tc>
                <a:extLst>
                  <a:ext uri="{0D108BD9-81ED-4DB2-BD59-A6C34878D82A}">
                    <a16:rowId xmlns:a16="http://schemas.microsoft.com/office/drawing/2014/main" val="2778826006"/>
                  </a:ext>
                </a:extLst>
              </a:tr>
              <a:tr h="27075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 b="1" noProof="0" dirty="0"/>
                        <a:t>Concurrency</a:t>
                      </a:r>
                      <a:endParaRPr lang="en-IN" sz="1800" noProof="0" dirty="0"/>
                    </a:p>
                  </a:txBody>
                  <a:tcPr marL="52426" marR="52426" marT="26213" marB="2621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 noProof="0" dirty="0"/>
                        <a:t>Cannot overlap calls – each waits for the previous to finish</a:t>
                      </a:r>
                    </a:p>
                  </a:txBody>
                  <a:tcPr marL="52426" marR="52426" marT="26213" marB="2621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 noProof="0" dirty="0"/>
                        <a:t>Can run multiple LLM calls or tool calls in parallel</a:t>
                      </a:r>
                    </a:p>
                  </a:txBody>
                  <a:tcPr marL="52426" marR="52426" marT="26213" marB="26213" anchor="ctr"/>
                </a:tc>
                <a:extLst>
                  <a:ext uri="{0D108BD9-81ED-4DB2-BD59-A6C34878D82A}">
                    <a16:rowId xmlns:a16="http://schemas.microsoft.com/office/drawing/2014/main" val="2464696240"/>
                  </a:ext>
                </a:extLst>
              </a:tr>
              <a:tr h="27075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 b="1" noProof="0" dirty="0"/>
                        <a:t>Performance</a:t>
                      </a:r>
                      <a:endParaRPr lang="en-IN" sz="1800" noProof="0" dirty="0"/>
                    </a:p>
                  </a:txBody>
                  <a:tcPr marL="52426" marR="52426" marT="26213" marB="2621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 noProof="0" dirty="0"/>
                        <a:t>Slower if many requests, since they run sequentially</a:t>
                      </a:r>
                    </a:p>
                  </a:txBody>
                  <a:tcPr marL="52426" marR="52426" marT="26213" marB="2621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 noProof="0" dirty="0"/>
                        <a:t>Faster throughput when managing many tasks</a:t>
                      </a:r>
                    </a:p>
                  </a:txBody>
                  <a:tcPr marL="52426" marR="52426" marT="26213" marB="26213" anchor="ctr"/>
                </a:tc>
                <a:extLst>
                  <a:ext uri="{0D108BD9-81ED-4DB2-BD59-A6C34878D82A}">
                    <a16:rowId xmlns:a16="http://schemas.microsoft.com/office/drawing/2014/main" val="1043531246"/>
                  </a:ext>
                </a:extLst>
              </a:tr>
              <a:tr h="38679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 b="1" noProof="0" dirty="0"/>
                        <a:t>Error handling</a:t>
                      </a:r>
                      <a:endParaRPr lang="en-IN" sz="1800" noProof="0" dirty="0"/>
                    </a:p>
                  </a:txBody>
                  <a:tcPr marL="52426" marR="52426" marT="26213" marB="2621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 noProof="0" dirty="0"/>
                        <a:t>Traditional try/except</a:t>
                      </a:r>
                    </a:p>
                  </a:txBody>
                  <a:tcPr marL="52426" marR="52426" marT="26213" marB="2621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 noProof="0" dirty="0"/>
                        <a:t>Async exception handling (</a:t>
                      </a:r>
                      <a:r>
                        <a:rPr lang="en-IN" sz="1800" noProof="0" dirty="0" err="1"/>
                        <a:t>asyncio.gather</a:t>
                      </a:r>
                      <a:r>
                        <a:rPr lang="en-IN" sz="1800" noProof="0" dirty="0"/>
                        <a:t>, cancellation, timeouts)</a:t>
                      </a:r>
                    </a:p>
                  </a:txBody>
                  <a:tcPr marL="52426" marR="52426" marT="26213" marB="26213" anchor="ctr"/>
                </a:tc>
                <a:extLst>
                  <a:ext uri="{0D108BD9-81ED-4DB2-BD59-A6C34878D82A}">
                    <a16:rowId xmlns:a16="http://schemas.microsoft.com/office/drawing/2014/main" val="43743613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27023335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5ADF21-85EA-70A8-D331-38C0B96476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Sync versus Async: Sample Code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B8B4B982-1536-A196-5614-1CC8B2B03B12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782359" y="1392855"/>
          <a:ext cx="10515600" cy="4851400"/>
        </p:xfrm>
        <a:graphic>
          <a:graphicData uri="http://schemas.openxmlformats.org/drawingml/2006/table">
            <a:tbl>
              <a:tblPr firstRow="1" bandRow="1">
                <a:tableStyleId>{72833802-FEF1-4C79-8D5D-14CF1EAF98D9}</a:tableStyleId>
              </a:tblPr>
              <a:tblGrid>
                <a:gridCol w="5257800">
                  <a:extLst>
                    <a:ext uri="{9D8B030D-6E8A-4147-A177-3AD203B41FA5}">
                      <a16:colId xmlns:a16="http://schemas.microsoft.com/office/drawing/2014/main" val="432002974"/>
                    </a:ext>
                  </a:extLst>
                </a:gridCol>
                <a:gridCol w="5257800">
                  <a:extLst>
                    <a:ext uri="{9D8B030D-6E8A-4147-A177-3AD203B41FA5}">
                      <a16:colId xmlns:a16="http://schemas.microsoft.com/office/drawing/2014/main" val="59514870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IN" noProof="0" dirty="0"/>
                        <a:t>Sync Approach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noProof="0" dirty="0"/>
                        <a:t>Async Approach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459753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noProof="0" dirty="0"/>
                        <a:t>from agents import Agent, Runner</a:t>
                      </a:r>
                    </a:p>
                    <a:p>
                      <a:endParaRPr lang="en-IN" noProof="0" dirty="0"/>
                    </a:p>
                    <a:p>
                      <a:endParaRPr lang="en-IN" noProof="0" dirty="0"/>
                    </a:p>
                    <a:p>
                      <a:r>
                        <a:rPr lang="en-IN" noProof="0" dirty="0"/>
                        <a:t>agent = Agent(name="Assistant", </a:t>
                      </a:r>
                    </a:p>
                    <a:p>
                      <a:r>
                        <a:rPr lang="en-IN" noProof="0" dirty="0"/>
                        <a:t>                          instructions="</a:t>
                      </a:r>
                      <a:r>
                        <a:rPr lang="en-IN" sz="1800" b="0" kern="1200" noProof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You are a helpful customer support analyst.</a:t>
                      </a:r>
                      <a:r>
                        <a:rPr lang="en-IN" noProof="0" dirty="0"/>
                        <a:t>")</a:t>
                      </a:r>
                    </a:p>
                    <a:p>
                      <a:endParaRPr lang="en-IN" noProof="0" dirty="0"/>
                    </a:p>
                    <a:p>
                      <a:r>
                        <a:rPr lang="en-IN" noProof="0" dirty="0"/>
                        <a:t>result = </a:t>
                      </a:r>
                      <a:r>
                        <a:rPr lang="en-IN" noProof="0" dirty="0" err="1">
                          <a:solidFill>
                            <a:srgbClr val="FF0000"/>
                          </a:solidFill>
                        </a:rPr>
                        <a:t>Runner.run_sync</a:t>
                      </a:r>
                      <a:r>
                        <a:rPr lang="en-IN" noProof="0" dirty="0"/>
                        <a:t>(agent, 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noProof="0" dirty="0"/>
                        <a:t>                     "</a:t>
                      </a:r>
                      <a:r>
                        <a:rPr lang="en-IN" sz="1800" b="0" kern="1200" noProof="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Analyze</a:t>
                      </a:r>
                      <a:r>
                        <a:rPr lang="en-IN" sz="1800" b="0" kern="1200" noProof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this customer feedback and suggest improvements to the product: 'The packaging is great, but the delivery was delayed by two days.'"</a:t>
                      </a:r>
                    </a:p>
                    <a:p>
                      <a:r>
                        <a:rPr lang="en-IN" noProof="0" dirty="0"/>
                        <a:t>")</a:t>
                      </a:r>
                    </a:p>
                    <a:p>
                      <a:endParaRPr lang="en-IN" noProof="0" dirty="0"/>
                    </a:p>
                    <a:p>
                      <a:endParaRPr lang="en-IN" noProof="0" dirty="0"/>
                    </a:p>
                    <a:p>
                      <a:r>
                        <a:rPr lang="en-IN" noProof="0" dirty="0"/>
                        <a:t>print(</a:t>
                      </a:r>
                      <a:r>
                        <a:rPr lang="en-IN" noProof="0" dirty="0" err="1"/>
                        <a:t>result.final_output</a:t>
                      </a:r>
                      <a:r>
                        <a:rPr lang="en-IN" noProof="0" dirty="0"/>
                        <a:t>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noProof="0" dirty="0"/>
                        <a:t>import </a:t>
                      </a:r>
                      <a:r>
                        <a:rPr lang="en-IN" noProof="0" dirty="0" err="1"/>
                        <a:t>asyncio</a:t>
                      </a:r>
                      <a:endParaRPr lang="en-IN" noProof="0" dirty="0"/>
                    </a:p>
                    <a:p>
                      <a:r>
                        <a:rPr lang="en-IN" noProof="0" dirty="0"/>
                        <a:t>from agents import Agent, Runner</a:t>
                      </a:r>
                    </a:p>
                    <a:p>
                      <a:endParaRPr lang="en-IN" noProof="0" dirty="0"/>
                    </a:p>
                    <a:p>
                      <a:r>
                        <a:rPr lang="en-IN" noProof="0" dirty="0"/>
                        <a:t>agent = Agent(name="Assistant", 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noProof="0" dirty="0"/>
                        <a:t>                      instructions="</a:t>
                      </a:r>
                      <a:r>
                        <a:rPr lang="en-IN" sz="1800" b="0" kern="1200" noProof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You are a helpful customer support analyst.</a:t>
                      </a:r>
                      <a:r>
                        <a:rPr lang="en-IN" noProof="0" dirty="0"/>
                        <a:t>")</a:t>
                      </a:r>
                    </a:p>
                    <a:p>
                      <a:endParaRPr lang="en-IN" noProof="0" dirty="0"/>
                    </a:p>
                    <a:p>
                      <a:r>
                        <a:rPr lang="en-IN" noProof="0" dirty="0">
                          <a:solidFill>
                            <a:srgbClr val="FF0000"/>
                          </a:solidFill>
                        </a:rPr>
                        <a:t>async </a:t>
                      </a:r>
                      <a:r>
                        <a:rPr lang="en-IN" noProof="0" dirty="0"/>
                        <a:t>def main():</a:t>
                      </a:r>
                    </a:p>
                    <a:p>
                      <a:r>
                        <a:rPr lang="en-IN" noProof="0" dirty="0"/>
                        <a:t>    result = </a:t>
                      </a:r>
                      <a:r>
                        <a:rPr lang="en-IN" noProof="0" dirty="0">
                          <a:solidFill>
                            <a:srgbClr val="FF0000"/>
                          </a:solidFill>
                        </a:rPr>
                        <a:t>await </a:t>
                      </a:r>
                      <a:r>
                        <a:rPr lang="en-IN" noProof="0" dirty="0" err="1">
                          <a:solidFill>
                            <a:srgbClr val="FF0000"/>
                          </a:solidFill>
                        </a:rPr>
                        <a:t>Runner.run</a:t>
                      </a:r>
                      <a:r>
                        <a:rPr lang="en-IN" noProof="0" dirty="0"/>
                        <a:t>(agent, 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noProof="0" dirty="0"/>
                        <a:t>    “</a:t>
                      </a:r>
                      <a:r>
                        <a:rPr lang="en-IN" sz="1800" b="0" kern="1200" noProof="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Analyze</a:t>
                      </a:r>
                      <a:r>
                        <a:rPr lang="en-IN" sz="1800" b="0" kern="1200" noProof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this customer feedback and suggest improvements to the product: 'The packaging is great, but the delivery was delayed by two days.'"</a:t>
                      </a:r>
                    </a:p>
                    <a:p>
                      <a:r>
                        <a:rPr lang="en-IN" noProof="0" dirty="0"/>
                        <a:t>)</a:t>
                      </a:r>
                    </a:p>
                    <a:p>
                      <a:r>
                        <a:rPr lang="en-IN" noProof="0" dirty="0"/>
                        <a:t>    print(</a:t>
                      </a:r>
                      <a:r>
                        <a:rPr lang="en-IN" noProof="0" dirty="0" err="1"/>
                        <a:t>result.final_output</a:t>
                      </a:r>
                      <a:r>
                        <a:rPr lang="en-IN" noProof="0" dirty="0"/>
                        <a:t>)</a:t>
                      </a:r>
                    </a:p>
                    <a:p>
                      <a:endParaRPr lang="en-IN" noProof="0" dirty="0"/>
                    </a:p>
                    <a:p>
                      <a:r>
                        <a:rPr lang="en-IN" noProof="0" dirty="0" err="1">
                          <a:solidFill>
                            <a:srgbClr val="FF0000"/>
                          </a:solidFill>
                        </a:rPr>
                        <a:t>asyncio.run</a:t>
                      </a:r>
                      <a:r>
                        <a:rPr lang="en-IN" noProof="0" dirty="0"/>
                        <a:t>(main())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4202833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44309437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54278B-1E8B-F2C2-9CAE-EC0C73D9ED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First Agent SDK Example (Sync Approach)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E8A2D0-C299-4CE6-136E-7063EDBFDD8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noProof="0" dirty="0">
                <a:solidFill>
                  <a:srgbClr val="FF0000"/>
                </a:solidFill>
              </a:rPr>
              <a:t>agent = Agent(name="Assistant", instructions="You are a helpful assistant")</a:t>
            </a:r>
          </a:p>
          <a:p>
            <a:pPr lvl="1"/>
            <a:r>
              <a:rPr lang="en-IN" noProof="0" dirty="0"/>
              <a:t>Create an Agent object, giving it a name and system prompt (to tell it what role to perform)</a:t>
            </a:r>
          </a:p>
          <a:p>
            <a:r>
              <a:rPr lang="en-IN" noProof="0" dirty="0">
                <a:solidFill>
                  <a:srgbClr val="FF0000"/>
                </a:solidFill>
              </a:rPr>
              <a:t>result = </a:t>
            </a:r>
            <a:r>
              <a:rPr lang="en-IN" noProof="0" dirty="0" err="1">
                <a:solidFill>
                  <a:srgbClr val="FF0000"/>
                </a:solidFill>
              </a:rPr>
              <a:t>Runner.run_sync</a:t>
            </a:r>
            <a:r>
              <a:rPr lang="en-IN" noProof="0" dirty="0">
                <a:solidFill>
                  <a:srgbClr val="FF0000"/>
                </a:solidFill>
              </a:rPr>
              <a:t>(agent, "Write a joke about vibe coding.")</a:t>
            </a:r>
          </a:p>
          <a:p>
            <a:pPr lvl="1"/>
            <a:r>
              <a:rPr lang="en-IN" noProof="0" dirty="0"/>
              <a:t>Runner executes a task for the agent</a:t>
            </a:r>
          </a:p>
          <a:p>
            <a:pPr lvl="1"/>
            <a:r>
              <a:rPr lang="en-IN" noProof="0" dirty="0"/>
              <a:t>Actual task is mentioned in the method call</a:t>
            </a:r>
          </a:p>
          <a:p>
            <a:pPr lvl="1"/>
            <a:r>
              <a:rPr lang="en-IN" noProof="0" dirty="0"/>
              <a:t>_sync part indicates that the program will wait for the LLM to finish its work</a:t>
            </a:r>
          </a:p>
          <a:p>
            <a:pPr lvl="1"/>
            <a:r>
              <a:rPr lang="en-IN" noProof="0" dirty="0"/>
              <a:t>Output is stored in the result variable</a:t>
            </a:r>
          </a:p>
          <a:p>
            <a:r>
              <a:rPr lang="en-IN" noProof="0" dirty="0"/>
              <a:t>Code: 2_1_openai_agent_basic.py</a:t>
            </a:r>
          </a:p>
        </p:txBody>
      </p:sp>
    </p:spTree>
    <p:extLst>
      <p:ext uri="{BB962C8B-B14F-4D97-AF65-F5344CB8AC3E}">
        <p14:creationId xmlns:p14="http://schemas.microsoft.com/office/powerpoint/2010/main" val="2393752743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F85A0C-3F7B-9A8E-8C4F-6943C67350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 err="1"/>
              <a:t>asyncio</a:t>
            </a:r>
            <a:r>
              <a:rPr lang="en-IN" noProof="0" dirty="0"/>
              <a:t> in Python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A79B55-E6CB-4060-5775-D7C133CC04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noProof="0" dirty="0"/>
              <a:t>Normally, Python runs code synchronously (line by line) - If one line is slow (e.g., waiting for a network request), everything else is stuck</a:t>
            </a:r>
          </a:p>
          <a:p>
            <a:r>
              <a:rPr lang="en-IN" noProof="0" dirty="0"/>
              <a:t>But with </a:t>
            </a:r>
            <a:r>
              <a:rPr lang="en-IN" noProof="0" dirty="0" err="1"/>
              <a:t>asyncio</a:t>
            </a:r>
            <a:r>
              <a:rPr lang="en-IN" noProof="0" dirty="0"/>
              <a:t>, we can do something else while waiting</a:t>
            </a:r>
          </a:p>
          <a:p>
            <a:r>
              <a:rPr lang="en-IN" noProof="0" dirty="0"/>
              <a:t>Analogy:</a:t>
            </a:r>
          </a:p>
          <a:p>
            <a:pPr lvl="1"/>
            <a:r>
              <a:rPr lang="en-IN" noProof="0" dirty="0"/>
              <a:t>Normal code (sync): We are cooking noodles. We boil water, stand still until it boils, then add noodles.</a:t>
            </a:r>
          </a:p>
          <a:p>
            <a:pPr lvl="1"/>
            <a:r>
              <a:rPr lang="en-IN" noProof="0" dirty="0"/>
              <a:t>Async code: While waiting for the water to boil, we cut vegetables and prepare sauce. Nothing is wasted.</a:t>
            </a:r>
          </a:p>
          <a:p>
            <a:r>
              <a:rPr lang="en-IN" noProof="0" dirty="0"/>
              <a:t>Code example: Next slide</a:t>
            </a:r>
          </a:p>
        </p:txBody>
      </p:sp>
    </p:spTree>
    <p:extLst>
      <p:ext uri="{BB962C8B-B14F-4D97-AF65-F5344CB8AC3E}">
        <p14:creationId xmlns:p14="http://schemas.microsoft.com/office/powerpoint/2010/main" val="3261393146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649EAE-0294-A462-83C8-D157C0A89A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 err="1"/>
              <a:t>asyncio</a:t>
            </a:r>
            <a:r>
              <a:rPr lang="en-IN" noProof="0" dirty="0"/>
              <a:t> Code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F5E676-170D-1715-4CE6-6FEA3661A2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IN" sz="1400" noProof="0" dirty="0">
                <a:solidFill>
                  <a:srgbClr val="FF0000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import </a:t>
            </a:r>
            <a:r>
              <a:rPr lang="en-IN" sz="1400" noProof="0" dirty="0" err="1">
                <a:solidFill>
                  <a:srgbClr val="FF0000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asyncio</a:t>
            </a:r>
            <a:endParaRPr lang="en-IN" sz="1400" noProof="0" dirty="0">
              <a:solidFill>
                <a:srgbClr val="FF0000"/>
              </a:solidFill>
              <a:latin typeface="Cascadia Code" panose="020B0609020000020004" pitchFamily="49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  <a:p>
            <a:endParaRPr lang="en-IN" sz="1400" noProof="0" dirty="0">
              <a:solidFill>
                <a:srgbClr val="FF0000"/>
              </a:solidFill>
              <a:latin typeface="Cascadia Code" panose="020B0609020000020004" pitchFamily="49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IN" sz="1400" noProof="0" dirty="0">
                <a:solidFill>
                  <a:srgbClr val="FF0000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async def task(name, delay):</a:t>
            </a:r>
          </a:p>
          <a:p>
            <a:r>
              <a:rPr lang="en-IN" sz="1400" noProof="0" dirty="0">
                <a:solidFill>
                  <a:srgbClr val="FF0000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    print(</a:t>
            </a:r>
            <a:r>
              <a:rPr lang="en-IN" sz="1400" noProof="0" dirty="0" err="1">
                <a:solidFill>
                  <a:srgbClr val="FF0000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f"Task</a:t>
            </a:r>
            <a:r>
              <a:rPr lang="en-IN" sz="1400" noProof="0" dirty="0">
                <a:solidFill>
                  <a:srgbClr val="FF0000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 {name} started")</a:t>
            </a:r>
          </a:p>
          <a:p>
            <a:r>
              <a:rPr lang="en-IN" sz="1400" noProof="0" dirty="0">
                <a:solidFill>
                  <a:srgbClr val="FF0000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    await </a:t>
            </a:r>
            <a:r>
              <a:rPr lang="en-IN" sz="1400" noProof="0" dirty="0" err="1">
                <a:solidFill>
                  <a:srgbClr val="FF0000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asyncio.sleep</a:t>
            </a:r>
            <a:r>
              <a:rPr lang="en-IN" sz="1400" noProof="0" dirty="0">
                <a:solidFill>
                  <a:srgbClr val="FF0000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(delay)   # simulate waiting</a:t>
            </a:r>
          </a:p>
          <a:p>
            <a:r>
              <a:rPr lang="en-IN" sz="1400" noProof="0" dirty="0">
                <a:solidFill>
                  <a:srgbClr val="FF0000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    print(</a:t>
            </a:r>
            <a:r>
              <a:rPr lang="en-IN" sz="1400" noProof="0" dirty="0" err="1">
                <a:solidFill>
                  <a:srgbClr val="FF0000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f"Task</a:t>
            </a:r>
            <a:r>
              <a:rPr lang="en-IN" sz="1400" noProof="0" dirty="0">
                <a:solidFill>
                  <a:srgbClr val="FF0000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 {name} finished after {delay} seconds")</a:t>
            </a:r>
          </a:p>
          <a:p>
            <a:endParaRPr lang="en-IN" sz="1400" noProof="0" dirty="0">
              <a:solidFill>
                <a:srgbClr val="FF0000"/>
              </a:solidFill>
              <a:latin typeface="Cascadia Code" panose="020B0609020000020004" pitchFamily="49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IN" sz="1400" noProof="0" dirty="0">
                <a:solidFill>
                  <a:srgbClr val="FF0000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async def main():</a:t>
            </a:r>
          </a:p>
          <a:p>
            <a:r>
              <a:rPr lang="en-IN" sz="1400" noProof="0" dirty="0">
                <a:solidFill>
                  <a:srgbClr val="FF0000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    # Run tasks concurrently</a:t>
            </a:r>
          </a:p>
          <a:p>
            <a:r>
              <a:rPr lang="en-IN" sz="1400" noProof="0" dirty="0">
                <a:solidFill>
                  <a:srgbClr val="FF0000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    await </a:t>
            </a:r>
            <a:r>
              <a:rPr lang="en-IN" sz="1400" noProof="0" dirty="0" err="1">
                <a:solidFill>
                  <a:srgbClr val="FF0000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asyncio.gather</a:t>
            </a:r>
            <a:r>
              <a:rPr lang="en-IN" sz="1400" noProof="0" dirty="0">
                <a:solidFill>
                  <a:srgbClr val="FF0000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(</a:t>
            </a:r>
          </a:p>
          <a:p>
            <a:r>
              <a:rPr lang="en-IN" sz="1400" noProof="0" dirty="0">
                <a:solidFill>
                  <a:srgbClr val="FF0000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        task("A", 2),</a:t>
            </a:r>
          </a:p>
          <a:p>
            <a:r>
              <a:rPr lang="en-IN" sz="1400" noProof="0" dirty="0">
                <a:solidFill>
                  <a:srgbClr val="FF0000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        task("B", 1),</a:t>
            </a:r>
          </a:p>
          <a:p>
            <a:r>
              <a:rPr lang="en-IN" sz="1400" noProof="0" dirty="0">
                <a:solidFill>
                  <a:srgbClr val="FF0000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        task("C", 3),</a:t>
            </a:r>
          </a:p>
          <a:p>
            <a:r>
              <a:rPr lang="en-IN" sz="1400" noProof="0" dirty="0">
                <a:solidFill>
                  <a:srgbClr val="FF0000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    )</a:t>
            </a:r>
          </a:p>
          <a:p>
            <a:endParaRPr lang="en-IN" sz="1400" noProof="0" dirty="0">
              <a:solidFill>
                <a:srgbClr val="FF0000"/>
              </a:solidFill>
              <a:latin typeface="Cascadia Code" panose="020B0609020000020004" pitchFamily="49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IN" sz="1400" noProof="0" dirty="0" err="1">
                <a:solidFill>
                  <a:srgbClr val="FF0000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asyncio.run</a:t>
            </a:r>
            <a:r>
              <a:rPr lang="en-IN" sz="1400" noProof="0" dirty="0">
                <a:solidFill>
                  <a:srgbClr val="FF0000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(main())</a:t>
            </a:r>
          </a:p>
          <a:p>
            <a:endParaRPr lang="en-IN" sz="1400" noProof="0" dirty="0">
              <a:solidFill>
                <a:srgbClr val="FF0000"/>
              </a:solidFill>
              <a:latin typeface="Cascadia Code" panose="020B0609020000020004" pitchFamily="49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AEC194F-8C06-1B4E-AD01-4D5C36318D7A}"/>
              </a:ext>
            </a:extLst>
          </p:cNvPr>
          <p:cNvSpPr txBox="1"/>
          <p:nvPr/>
        </p:nvSpPr>
        <p:spPr>
          <a:xfrm>
            <a:off x="5534346" y="3533878"/>
            <a:ext cx="6044629" cy="3170099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IN" sz="2000" b="1" noProof="0" dirty="0"/>
              <a:t>How to write</a:t>
            </a:r>
          </a:p>
          <a:p>
            <a:endParaRPr lang="en-IN" sz="2000" noProof="0" dirty="0"/>
          </a:p>
          <a:p>
            <a:pPr marL="342900" indent="-342900">
              <a:buAutoNum type="arabicParenBoth"/>
            </a:pPr>
            <a:r>
              <a:rPr lang="en-IN" sz="2000" b="1" noProof="0" dirty="0"/>
              <a:t>Coroutine</a:t>
            </a:r>
            <a:r>
              <a:rPr lang="en-IN" sz="2000" noProof="0" dirty="0"/>
              <a:t>: A special function defined with </a:t>
            </a:r>
            <a:r>
              <a:rPr lang="en-IN" sz="2000" b="1" noProof="0" dirty="0"/>
              <a:t>async def</a:t>
            </a:r>
            <a:r>
              <a:rPr lang="en-IN" sz="2000" noProof="0" dirty="0"/>
              <a:t>, which can be paused (</a:t>
            </a:r>
            <a:r>
              <a:rPr lang="en-IN" sz="2000" b="1" noProof="0" dirty="0"/>
              <a:t>await</a:t>
            </a:r>
            <a:r>
              <a:rPr lang="en-IN" sz="2000" noProof="0" dirty="0"/>
              <a:t>) and resumed later</a:t>
            </a:r>
          </a:p>
          <a:p>
            <a:pPr marL="342900" indent="-342900">
              <a:buAutoNum type="arabicParenBoth"/>
            </a:pPr>
            <a:r>
              <a:rPr lang="en-IN" sz="2000" b="1" noProof="0" dirty="0"/>
              <a:t>Event loop</a:t>
            </a:r>
            <a:r>
              <a:rPr lang="en-IN" sz="2000" noProof="0" dirty="0"/>
              <a:t>: The core of </a:t>
            </a:r>
            <a:r>
              <a:rPr lang="en-IN" sz="2000" b="1" noProof="0" dirty="0" err="1"/>
              <a:t>asyncio</a:t>
            </a:r>
            <a:r>
              <a:rPr lang="en-IN" sz="2000" noProof="0" dirty="0"/>
              <a:t>, which manages all coroutines and usually starts with </a:t>
            </a:r>
            <a:r>
              <a:rPr lang="en-IN" sz="2000" b="1" noProof="0" dirty="0" err="1"/>
              <a:t>asyncio.run</a:t>
            </a:r>
            <a:r>
              <a:rPr lang="en-IN" sz="2000" noProof="0" dirty="0"/>
              <a:t>(function())</a:t>
            </a:r>
          </a:p>
          <a:p>
            <a:pPr marL="342900" indent="-342900">
              <a:buAutoNum type="arabicParenBoth"/>
            </a:pPr>
            <a:r>
              <a:rPr lang="en-IN" sz="2000" b="1" noProof="0" dirty="0"/>
              <a:t>await</a:t>
            </a:r>
            <a:r>
              <a:rPr lang="en-IN" sz="2000" noProof="0" dirty="0"/>
              <a:t>: Used inside </a:t>
            </a:r>
            <a:r>
              <a:rPr lang="en-IN" sz="2000" b="1" noProof="0" dirty="0" err="1"/>
              <a:t>asyncio</a:t>
            </a:r>
            <a:r>
              <a:rPr lang="en-IN" sz="2000" b="1" noProof="0" dirty="0"/>
              <a:t> def </a:t>
            </a:r>
            <a:r>
              <a:rPr lang="en-IN" sz="2000" noProof="0" dirty="0"/>
              <a:t>functions to </a:t>
            </a:r>
            <a:r>
              <a:rPr lang="en-IN" sz="2000" i="1" noProof="0" dirty="0"/>
              <a:t>wait </a:t>
            </a:r>
            <a:r>
              <a:rPr lang="en-IN" sz="2000" noProof="0" dirty="0"/>
              <a:t>for another coroutine … While waiting, Python can run other tasks</a:t>
            </a:r>
          </a:p>
        </p:txBody>
      </p:sp>
    </p:spTree>
    <p:extLst>
      <p:ext uri="{BB962C8B-B14F-4D97-AF65-F5344CB8AC3E}">
        <p14:creationId xmlns:p14="http://schemas.microsoft.com/office/powerpoint/2010/main" val="1535541103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B968CE-0C44-2BD5-EE14-5AD67AE82A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Sync Versus Async Processing in Agents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648A89-7D07-B19F-DD61-15371D5D8A9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noProof="0" dirty="0"/>
              <a:t>Run two agents one after the other, i.e. in sync mode, wait for their work to complete, and then output the final combined result</a:t>
            </a:r>
          </a:p>
          <a:p>
            <a:pPr lvl="1"/>
            <a:r>
              <a:rPr lang="en-IN" noProof="0" dirty="0"/>
              <a:t>2_8_openai_agent_sync.py</a:t>
            </a:r>
          </a:p>
          <a:p>
            <a:r>
              <a:rPr lang="en-IN" noProof="0" dirty="0"/>
              <a:t>Run the same two agents at the same time, i.e. in async mode, wait for their work to complete, and then output the final combined result</a:t>
            </a:r>
          </a:p>
          <a:p>
            <a:pPr lvl="1"/>
            <a:r>
              <a:rPr lang="en-IN" noProof="0" dirty="0"/>
              <a:t>2_9_openai_agent_async.py</a:t>
            </a:r>
          </a:p>
          <a:p>
            <a:endParaRPr lang="en-IN" noProof="0" dirty="0"/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2472677853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CE4D4E-E2AF-4BFB-4516-2D0AA96894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Design Patterns Using Agents API</a:t>
            </a:r>
            <a:endParaRPr lang="en-GB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CBDAACCA-9EAC-3AC5-197A-6C0804DEFDD5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838200" y="1825625"/>
          <a:ext cx="10515597" cy="4765040"/>
        </p:xfrm>
        <a:graphic>
          <a:graphicData uri="http://schemas.openxmlformats.org/drawingml/2006/table">
            <a:tbl>
              <a:tblPr firstRow="1" bandRow="1">
                <a:tableStyleId>{72833802-FEF1-4C79-8D5D-14CF1EAF98D9}</a:tableStyleId>
              </a:tblPr>
              <a:tblGrid>
                <a:gridCol w="301509">
                  <a:extLst>
                    <a:ext uri="{9D8B030D-6E8A-4147-A177-3AD203B41FA5}">
                      <a16:colId xmlns:a16="http://schemas.microsoft.com/office/drawing/2014/main" val="1463998755"/>
                    </a:ext>
                  </a:extLst>
                </a:gridCol>
                <a:gridCol w="2043241">
                  <a:extLst>
                    <a:ext uri="{9D8B030D-6E8A-4147-A177-3AD203B41FA5}">
                      <a16:colId xmlns:a16="http://schemas.microsoft.com/office/drawing/2014/main" val="191519000"/>
                    </a:ext>
                  </a:extLst>
                </a:gridCol>
                <a:gridCol w="4167151">
                  <a:extLst>
                    <a:ext uri="{9D8B030D-6E8A-4147-A177-3AD203B41FA5}">
                      <a16:colId xmlns:a16="http://schemas.microsoft.com/office/drawing/2014/main" val="2048103053"/>
                    </a:ext>
                  </a:extLst>
                </a:gridCol>
                <a:gridCol w="4003696">
                  <a:extLst>
                    <a:ext uri="{9D8B030D-6E8A-4147-A177-3AD203B41FA5}">
                      <a16:colId xmlns:a16="http://schemas.microsoft.com/office/drawing/2014/main" val="284158854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IN" dirty="0"/>
                        <a:t>#</a:t>
                      </a:r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Pattern Name</a:t>
                      </a:r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Details</a:t>
                      </a:r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Code</a:t>
                      </a:r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543665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dirty="0"/>
                        <a:t>1</a:t>
                      </a:r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Tool Use Pattern</a:t>
                      </a:r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Agent decides “when” to call a tool</a:t>
                      </a:r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2_0_1_openai_agent_pattern_tool.py</a:t>
                      </a:r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906601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dirty="0"/>
                        <a:t>2</a:t>
                      </a:r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Planning Pattern</a:t>
                      </a:r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First create a plan and then execute it</a:t>
                      </a:r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2_0_2_openai_agent_pattern_plan.py</a:t>
                      </a:r>
                      <a:endParaRPr lang="en-GB" dirty="0"/>
                    </a:p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748929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dirty="0"/>
                        <a:t>3</a:t>
                      </a:r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dirty="0" err="1"/>
                        <a:t>ReAct</a:t>
                      </a:r>
                      <a:r>
                        <a:rPr lang="en-IN" dirty="0"/>
                        <a:t> (Reason + Act) Pattern</a:t>
                      </a:r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Think -&gt; Act -&gt; Observe -&gt; Repeat</a:t>
                      </a:r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2_0_3_openai_agent_pattern_react.py</a:t>
                      </a:r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904618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dirty="0"/>
                        <a:t>4</a:t>
                      </a:r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Reflection Pattern</a:t>
                      </a:r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Generate -&gt; Review -&gt; Improve (Agent critiques its own output)</a:t>
                      </a:r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2_0_4_openai_agent_pattern_reflection.py</a:t>
                      </a:r>
                      <a:endParaRPr lang="en-GB" dirty="0"/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0760094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dirty="0"/>
                        <a:t>5</a:t>
                      </a:r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dirty="0" err="1"/>
                        <a:t>ReWOO</a:t>
                      </a:r>
                      <a:r>
                        <a:rPr lang="en-IN" dirty="0"/>
                        <a:t> (Reason Without Observation) Pattern</a:t>
                      </a:r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Reason over structured knowledge not just text</a:t>
                      </a:r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2_0_5_openai_agent_pattern_rewoo.py</a:t>
                      </a:r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8723017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dirty="0"/>
                        <a:t>6</a:t>
                      </a:r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Multi-agent pattern</a:t>
                      </a:r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Divide work among multiple agents</a:t>
                      </a:r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2_0_6_openai_agent_pattern_multi_agent.py</a:t>
                      </a:r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7218384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44097988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824013-1070-8360-4F06-D48A877C28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Tool Use Pattern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C7FEE5-EB3B-4701-2972-FFB3B79BA8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Definition</a:t>
            </a:r>
          </a:p>
          <a:p>
            <a:pPr lvl="1"/>
            <a:r>
              <a:rPr lang="en-US" dirty="0"/>
              <a:t>Agents extend capabilities by using </a:t>
            </a:r>
            <a:r>
              <a:rPr lang="en-US" b="1" dirty="0"/>
              <a:t>external tools </a:t>
            </a:r>
            <a:r>
              <a:rPr lang="en-US" dirty="0"/>
              <a:t>or </a:t>
            </a:r>
            <a:r>
              <a:rPr lang="en-US" b="1" dirty="0"/>
              <a:t>APIs </a:t>
            </a:r>
            <a:r>
              <a:rPr lang="en-US" dirty="0"/>
              <a:t>to achieve goals</a:t>
            </a:r>
          </a:p>
          <a:p>
            <a:pPr lvl="1"/>
            <a:r>
              <a:rPr lang="en-US" dirty="0"/>
              <a:t>Instead of doing everything internally, the agent delegates tasks to specialized modules</a:t>
            </a:r>
          </a:p>
          <a:p>
            <a:r>
              <a:rPr lang="en-US" dirty="0"/>
              <a:t>Workflow</a:t>
            </a:r>
          </a:p>
          <a:p>
            <a:pPr lvl="1"/>
            <a:r>
              <a:rPr lang="en-US" dirty="0"/>
              <a:t>Agent analyzes the task</a:t>
            </a:r>
          </a:p>
          <a:p>
            <a:pPr lvl="1"/>
            <a:r>
              <a:rPr lang="en-US" dirty="0"/>
              <a:t>Determines which tool is suitable</a:t>
            </a:r>
          </a:p>
          <a:p>
            <a:pPr lvl="1"/>
            <a:r>
              <a:rPr lang="en-US" dirty="0"/>
              <a:t>Sends structured input to the tool</a:t>
            </a:r>
          </a:p>
          <a:p>
            <a:pPr lvl="1"/>
            <a:r>
              <a:rPr lang="en-US" dirty="0"/>
              <a:t>Receives output / result</a:t>
            </a:r>
          </a:p>
          <a:p>
            <a:pPr lvl="1"/>
            <a:r>
              <a:rPr lang="en-US" dirty="0"/>
              <a:t>Integrates result into final reasoning / answer</a:t>
            </a:r>
          </a:p>
          <a:p>
            <a:r>
              <a:rPr lang="en-US" dirty="0"/>
              <a:t>Advantages</a:t>
            </a:r>
          </a:p>
          <a:p>
            <a:pPr lvl="1"/>
            <a:r>
              <a:rPr lang="en-US" dirty="0"/>
              <a:t>Modularity: Each tool is specialized; agent remains flexible</a:t>
            </a:r>
          </a:p>
          <a:p>
            <a:pPr lvl="1"/>
            <a:r>
              <a:rPr lang="en-US" dirty="0"/>
              <a:t>Scalability: Add new tools without changing core agent logic</a:t>
            </a:r>
          </a:p>
          <a:p>
            <a:pPr lvl="1"/>
            <a:r>
              <a:rPr lang="en-US" dirty="0"/>
              <a:t>Auditability: Clear trace of which tool produced what output</a:t>
            </a:r>
          </a:p>
          <a:p>
            <a:pPr lvl="1"/>
            <a:r>
              <a:rPr lang="en-US" dirty="0"/>
              <a:t>Efficiency: Offloads complex computations to optimized tools</a:t>
            </a:r>
            <a:endParaRPr lang="en-GB" dirty="0"/>
          </a:p>
        </p:txBody>
      </p:sp>
      <p:pic>
        <p:nvPicPr>
          <p:cNvPr id="1026" name="Picture 2" descr="Creating my first AI Agent: a journey of curiosity and growth. | Austan  Lundeen, CDMP, PCM posted on the topic | LinkedIn">
            <a:extLst>
              <a:ext uri="{FF2B5EF4-FFF2-40B4-BE49-F238E27FC236}">
                <a16:creationId xmlns:a16="http://schemas.microsoft.com/office/drawing/2014/main" id="{947B51EB-2097-FD71-24ED-8FAE073141E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66773" y="186151"/>
            <a:ext cx="1252937" cy="12529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Rectangle: Folded Corner 4">
            <a:extLst>
              <a:ext uri="{FF2B5EF4-FFF2-40B4-BE49-F238E27FC236}">
                <a16:creationId xmlns:a16="http://schemas.microsoft.com/office/drawing/2014/main" id="{D4F41DC3-8350-71A6-4459-78BE45C4F62A}"/>
              </a:ext>
            </a:extLst>
          </p:cNvPr>
          <p:cNvSpPr/>
          <p:nvPr/>
        </p:nvSpPr>
        <p:spPr>
          <a:xfrm>
            <a:off x="5074572" y="207564"/>
            <a:ext cx="1354149" cy="1252937"/>
          </a:xfrm>
          <a:prstGeom prst="foldedCorner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dirty="0"/>
              <a:t>Our Agentic AI Code Containing Tools</a:t>
            </a:r>
            <a:endParaRPr lang="en-GB" dirty="0"/>
          </a:p>
        </p:txBody>
      </p:sp>
      <p:sp>
        <p:nvSpPr>
          <p:cNvPr id="6" name="Arrow: Right 5">
            <a:extLst>
              <a:ext uri="{FF2B5EF4-FFF2-40B4-BE49-F238E27FC236}">
                <a16:creationId xmlns:a16="http://schemas.microsoft.com/office/drawing/2014/main" id="{010F5504-93A8-5BED-058A-A69FAE1375F4}"/>
              </a:ext>
            </a:extLst>
          </p:cNvPr>
          <p:cNvSpPr/>
          <p:nvPr/>
        </p:nvSpPr>
        <p:spPr>
          <a:xfrm>
            <a:off x="6463621" y="617490"/>
            <a:ext cx="503152" cy="404849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C4615C02-3BD4-FF8B-93D9-6B8286780AFC}"/>
              </a:ext>
            </a:extLst>
          </p:cNvPr>
          <p:cNvSpPr/>
          <p:nvPr/>
        </p:nvSpPr>
        <p:spPr>
          <a:xfrm>
            <a:off x="8268570" y="600433"/>
            <a:ext cx="503152" cy="404849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1028" name="Picture 4" descr="Llm Images – Browse 39,491 Stock Photos, Vectors, and Video | Adobe Stock">
            <a:extLst>
              <a:ext uri="{FF2B5EF4-FFF2-40B4-BE49-F238E27FC236}">
                <a16:creationId xmlns:a16="http://schemas.microsoft.com/office/drawing/2014/main" id="{3AB6585E-2211-64F1-F44C-054326C59D6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25822" y="108532"/>
            <a:ext cx="1934665" cy="14509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DF118926-0348-AD3C-08FB-C2D2AFAB511B}"/>
              </a:ext>
            </a:extLst>
          </p:cNvPr>
          <p:cNvCxnSpPr>
            <a:cxnSpLocks/>
          </p:cNvCxnSpPr>
          <p:nvPr/>
        </p:nvCxnSpPr>
        <p:spPr>
          <a:xfrm>
            <a:off x="9793154" y="1387367"/>
            <a:ext cx="0" cy="514666"/>
          </a:xfrm>
          <a:prstGeom prst="line">
            <a:avLst/>
          </a:prstGeom>
          <a:ln w="25400">
            <a:solidFill>
              <a:schemeClr val="accent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5E52E473-E0A5-9120-C830-39D766F568E1}"/>
              </a:ext>
            </a:extLst>
          </p:cNvPr>
          <p:cNvCxnSpPr>
            <a:cxnSpLocks/>
          </p:cNvCxnSpPr>
          <p:nvPr/>
        </p:nvCxnSpPr>
        <p:spPr>
          <a:xfrm flipH="1">
            <a:off x="5698132" y="1910878"/>
            <a:ext cx="4102002" cy="0"/>
          </a:xfrm>
          <a:prstGeom prst="line">
            <a:avLst/>
          </a:prstGeom>
          <a:ln w="25400">
            <a:solidFill>
              <a:schemeClr val="accent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FFF9C338-2B42-A3F4-2023-5E63F87ED85E}"/>
              </a:ext>
            </a:extLst>
          </p:cNvPr>
          <p:cNvCxnSpPr>
            <a:cxnSpLocks/>
          </p:cNvCxnSpPr>
          <p:nvPr/>
        </p:nvCxnSpPr>
        <p:spPr>
          <a:xfrm flipV="1">
            <a:off x="5705112" y="1439088"/>
            <a:ext cx="0" cy="471790"/>
          </a:xfrm>
          <a:prstGeom prst="straightConnector1">
            <a:avLst/>
          </a:prstGeom>
          <a:ln w="25400">
            <a:solidFill>
              <a:schemeClr val="accent2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hought Bubble: Cloud 18">
            <a:extLst>
              <a:ext uri="{FF2B5EF4-FFF2-40B4-BE49-F238E27FC236}">
                <a16:creationId xmlns:a16="http://schemas.microsoft.com/office/drawing/2014/main" id="{89D6434B-17F8-093A-C2D2-CCB3AA7B1672}"/>
              </a:ext>
            </a:extLst>
          </p:cNvPr>
          <p:cNvSpPr/>
          <p:nvPr/>
        </p:nvSpPr>
        <p:spPr>
          <a:xfrm>
            <a:off x="10965822" y="0"/>
            <a:ext cx="1226178" cy="1025594"/>
          </a:xfrm>
          <a:prstGeom prst="cloudCallout">
            <a:avLst>
              <a:gd name="adj1" fmla="val -74343"/>
              <a:gd name="adj2" fmla="val 16900"/>
            </a:avLst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400" b="1" dirty="0">
                <a:solidFill>
                  <a:schemeClr val="tx1"/>
                </a:solidFill>
              </a:rPr>
              <a:t>Need to call a Tool</a:t>
            </a:r>
            <a:endParaRPr lang="en-GB" sz="1400" b="1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66917313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5AC24D-CEC6-1425-B878-D76D345791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Planning Pattern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3B2943-6FCF-0848-71D7-DDC80F9D691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IN" dirty="0"/>
              <a:t>Definition</a:t>
            </a:r>
          </a:p>
          <a:p>
            <a:pPr lvl="1"/>
            <a:r>
              <a:rPr lang="en-US" dirty="0"/>
              <a:t>The agent explicitly creates a step-by-step plan before executing a task</a:t>
            </a:r>
          </a:p>
          <a:p>
            <a:pPr lvl="1"/>
            <a:r>
              <a:rPr lang="en-US" dirty="0"/>
              <a:t>Planning separates reasoning about what to do from doing the work</a:t>
            </a:r>
          </a:p>
          <a:p>
            <a:pPr lvl="1"/>
            <a:r>
              <a:rPr lang="en-US" dirty="0"/>
              <a:t>The plan acts as a control structure guiding execution</a:t>
            </a:r>
          </a:p>
          <a:p>
            <a:r>
              <a:rPr lang="en-US" dirty="0"/>
              <a:t>Workflow</a:t>
            </a:r>
          </a:p>
          <a:p>
            <a:pPr lvl="1"/>
            <a:r>
              <a:rPr lang="en-US" dirty="0"/>
              <a:t>Agent analyzes the user goal</a:t>
            </a:r>
          </a:p>
          <a:p>
            <a:pPr lvl="1"/>
            <a:r>
              <a:rPr lang="en-US" dirty="0"/>
              <a:t>Decomposes the goal into ordered steps</a:t>
            </a:r>
          </a:p>
          <a:p>
            <a:pPr lvl="1"/>
            <a:r>
              <a:rPr lang="en-US" dirty="0"/>
              <a:t>Validates the plan for feasibility and completeness</a:t>
            </a:r>
          </a:p>
          <a:p>
            <a:pPr lvl="1"/>
            <a:r>
              <a:rPr lang="en-US" dirty="0"/>
              <a:t>Executes each step sequentially (or conditionally)</a:t>
            </a:r>
          </a:p>
          <a:p>
            <a:pPr lvl="1"/>
            <a:r>
              <a:rPr lang="en-US" dirty="0"/>
              <a:t>Produces the final output based on the executed plan</a:t>
            </a:r>
          </a:p>
          <a:p>
            <a:r>
              <a:rPr lang="en-US" dirty="0"/>
              <a:t>Advantages</a:t>
            </a:r>
          </a:p>
          <a:p>
            <a:pPr lvl="1"/>
            <a:r>
              <a:rPr lang="en-US" dirty="0"/>
              <a:t>Predictability: Clear execution path reduces unexpected behavior</a:t>
            </a:r>
          </a:p>
          <a:p>
            <a:pPr lvl="1"/>
            <a:r>
              <a:rPr lang="en-US" dirty="0"/>
              <a:t>Debuggability: Failures can be traced to a specific plan step</a:t>
            </a:r>
          </a:p>
          <a:p>
            <a:pPr lvl="1"/>
            <a:r>
              <a:rPr lang="en-US" dirty="0"/>
              <a:t>Safety: Risky actions can be reviewed before execution</a:t>
            </a:r>
          </a:p>
          <a:p>
            <a:pPr lvl="1"/>
            <a:r>
              <a:rPr lang="en-US" dirty="0"/>
              <a:t>Production-readiness: Enables monitoring, logging, and governance</a:t>
            </a:r>
            <a:endParaRPr lang="en-GB" dirty="0"/>
          </a:p>
        </p:txBody>
      </p:sp>
      <p:pic>
        <p:nvPicPr>
          <p:cNvPr id="5" name="Picture 2" descr="Creating my first AI Agent: a journey of curiosity and growth. | Austan  Lundeen, CDMP, PCM posted on the topic | LinkedIn">
            <a:extLst>
              <a:ext uri="{FF2B5EF4-FFF2-40B4-BE49-F238E27FC236}">
                <a16:creationId xmlns:a16="http://schemas.microsoft.com/office/drawing/2014/main" id="{1DB61474-85C0-B760-AE40-0A26D1A6CF2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66773" y="186151"/>
            <a:ext cx="1252937" cy="12529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Rectangle: Folded Corner 5">
            <a:extLst>
              <a:ext uri="{FF2B5EF4-FFF2-40B4-BE49-F238E27FC236}">
                <a16:creationId xmlns:a16="http://schemas.microsoft.com/office/drawing/2014/main" id="{0D232520-61EE-48B3-AC8A-3DB84D5F2FC6}"/>
              </a:ext>
            </a:extLst>
          </p:cNvPr>
          <p:cNvSpPr/>
          <p:nvPr/>
        </p:nvSpPr>
        <p:spPr>
          <a:xfrm>
            <a:off x="5074572" y="207564"/>
            <a:ext cx="1354149" cy="1252937"/>
          </a:xfrm>
          <a:prstGeom prst="foldedCorner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dirty="0"/>
              <a:t>Our Agentic AI Code</a:t>
            </a:r>
            <a:endParaRPr lang="en-GB" dirty="0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7910997E-B6C2-B709-AD85-49315CC321F1}"/>
              </a:ext>
            </a:extLst>
          </p:cNvPr>
          <p:cNvSpPr/>
          <p:nvPr/>
        </p:nvSpPr>
        <p:spPr>
          <a:xfrm>
            <a:off x="6480201" y="619313"/>
            <a:ext cx="503152" cy="404849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F9262CA4-F37E-5C52-8F98-B89FA191D135}"/>
              </a:ext>
            </a:extLst>
          </p:cNvPr>
          <p:cNvSpPr/>
          <p:nvPr/>
        </p:nvSpPr>
        <p:spPr>
          <a:xfrm>
            <a:off x="8322670" y="610194"/>
            <a:ext cx="503152" cy="404849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9" name="Picture 4" descr="Llm Images – Browse 39,491 Stock Photos, Vectors, and Video | Adobe Stock">
            <a:extLst>
              <a:ext uri="{FF2B5EF4-FFF2-40B4-BE49-F238E27FC236}">
                <a16:creationId xmlns:a16="http://schemas.microsoft.com/office/drawing/2014/main" id="{3FFBE1D1-0130-45B0-1117-3855E971B5A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57335" y="87117"/>
            <a:ext cx="1934665" cy="14509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D22BECCF-1B53-2006-84B1-850E87E657C4}"/>
              </a:ext>
            </a:extLst>
          </p:cNvPr>
          <p:cNvSpPr txBox="1"/>
          <p:nvPr/>
        </p:nvSpPr>
        <p:spPr>
          <a:xfrm>
            <a:off x="8874833" y="365125"/>
            <a:ext cx="1040043" cy="861774"/>
          </a:xfrm>
          <a:prstGeom prst="rect">
            <a:avLst/>
          </a:prstGeom>
          <a:solidFill>
            <a:schemeClr val="accent4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sz="1600" b="1" dirty="0"/>
              <a:t>Plan</a:t>
            </a:r>
          </a:p>
          <a:p>
            <a:pPr algn="ctr"/>
            <a:r>
              <a:rPr lang="en-IN" sz="1600" b="1" dirty="0"/>
              <a:t>+</a:t>
            </a:r>
          </a:p>
          <a:p>
            <a:pPr algn="ctr"/>
            <a:r>
              <a:rPr lang="en-IN" sz="1600" b="1" dirty="0"/>
              <a:t>Execute</a:t>
            </a:r>
            <a:endParaRPr lang="en-GB" sz="1600" b="1" dirty="0"/>
          </a:p>
        </p:txBody>
      </p:sp>
      <p:sp>
        <p:nvSpPr>
          <p:cNvPr id="14" name="Arrow: Right 13">
            <a:extLst>
              <a:ext uri="{FF2B5EF4-FFF2-40B4-BE49-F238E27FC236}">
                <a16:creationId xmlns:a16="http://schemas.microsoft.com/office/drawing/2014/main" id="{33DA6922-DA5B-A9E1-594D-F93B8EB7E16E}"/>
              </a:ext>
            </a:extLst>
          </p:cNvPr>
          <p:cNvSpPr/>
          <p:nvPr/>
        </p:nvSpPr>
        <p:spPr>
          <a:xfrm>
            <a:off x="9963887" y="610193"/>
            <a:ext cx="503152" cy="404849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71817976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E48168-79B9-3AE3-A4BE-17682862B6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 err="1"/>
              <a:t>ReAct</a:t>
            </a:r>
            <a:r>
              <a:rPr lang="en-IN" dirty="0"/>
              <a:t> Pattern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3D7069-6076-F5E6-DD4D-11771C9070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IN" dirty="0"/>
              <a:t>Definition</a:t>
            </a:r>
          </a:p>
          <a:p>
            <a:pPr lvl="1"/>
            <a:r>
              <a:rPr lang="en-US" dirty="0"/>
              <a:t>The agent interleaves </a:t>
            </a:r>
            <a:r>
              <a:rPr lang="en-US" b="1" dirty="0"/>
              <a:t>reasoning </a:t>
            </a:r>
            <a:r>
              <a:rPr lang="en-US" dirty="0"/>
              <a:t>and </a:t>
            </a:r>
            <a:r>
              <a:rPr lang="en-US" b="1" dirty="0"/>
              <a:t>action </a:t>
            </a:r>
            <a:r>
              <a:rPr lang="en-US" dirty="0"/>
              <a:t>in a tight loop</a:t>
            </a:r>
          </a:p>
          <a:p>
            <a:pPr lvl="1"/>
            <a:r>
              <a:rPr lang="en-US" dirty="0"/>
              <a:t>Instead of planning everything upfront, the agent decides what to do next at each step</a:t>
            </a:r>
          </a:p>
          <a:p>
            <a:pPr lvl="1"/>
            <a:r>
              <a:rPr lang="en-US" dirty="0"/>
              <a:t>Actions are taken based on intermediate observations</a:t>
            </a:r>
          </a:p>
          <a:p>
            <a:r>
              <a:rPr lang="en-US" dirty="0"/>
              <a:t>Workflow</a:t>
            </a:r>
          </a:p>
          <a:p>
            <a:pPr lvl="1"/>
            <a:r>
              <a:rPr lang="en-US" dirty="0"/>
              <a:t>Agent reasons about the current state</a:t>
            </a:r>
          </a:p>
          <a:p>
            <a:pPr lvl="1"/>
            <a:r>
              <a:rPr lang="en-US" dirty="0"/>
              <a:t>Decides the next action to take</a:t>
            </a:r>
          </a:p>
          <a:p>
            <a:pPr lvl="1"/>
            <a:r>
              <a:rPr lang="en-US" dirty="0"/>
              <a:t>Executes the action (tool call, computation, lookup, etc.)</a:t>
            </a:r>
          </a:p>
          <a:p>
            <a:pPr lvl="1"/>
            <a:r>
              <a:rPr lang="en-US" dirty="0"/>
              <a:t>Observes the result</a:t>
            </a:r>
          </a:p>
          <a:p>
            <a:pPr lvl="1"/>
            <a:r>
              <a:rPr lang="en-US" dirty="0"/>
              <a:t>Updates reasoning based on the observation</a:t>
            </a:r>
          </a:p>
          <a:p>
            <a:pPr lvl="1"/>
            <a:r>
              <a:rPr lang="en-US" dirty="0"/>
              <a:t>Repeats until the goal is achieved</a:t>
            </a:r>
          </a:p>
          <a:p>
            <a:r>
              <a:rPr lang="en-US" dirty="0"/>
              <a:t>Advantages</a:t>
            </a:r>
          </a:p>
          <a:p>
            <a:pPr lvl="1"/>
            <a:r>
              <a:rPr lang="en-US" dirty="0"/>
              <a:t>Adaptability: Adjusts actions dynamically based on observations</a:t>
            </a:r>
          </a:p>
          <a:p>
            <a:pPr lvl="1"/>
            <a:r>
              <a:rPr lang="en-US" dirty="0"/>
              <a:t>Exploration-friendly: Suitable for open-ended or uncertain tasks</a:t>
            </a:r>
          </a:p>
          <a:p>
            <a:pPr lvl="1"/>
            <a:r>
              <a:rPr lang="en-US" dirty="0"/>
              <a:t>Error recovery: Can correct course mid-execution</a:t>
            </a:r>
          </a:p>
          <a:p>
            <a:pPr lvl="1"/>
            <a:r>
              <a:rPr lang="en-US" dirty="0"/>
              <a:t>Natural agent behavior: Closely mimics human problem-solving</a:t>
            </a:r>
            <a:endParaRPr lang="en-GB" dirty="0"/>
          </a:p>
        </p:txBody>
      </p:sp>
      <p:pic>
        <p:nvPicPr>
          <p:cNvPr id="4" name="Picture 2" descr="Creating my first AI Agent: a journey of curiosity and growth. | Austan  Lundeen, CDMP, PCM posted on the topic | LinkedIn">
            <a:extLst>
              <a:ext uri="{FF2B5EF4-FFF2-40B4-BE49-F238E27FC236}">
                <a16:creationId xmlns:a16="http://schemas.microsoft.com/office/drawing/2014/main" id="{299A23F7-3518-0D84-F4CF-D1BD4F4C729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03511" y="276893"/>
            <a:ext cx="1252937" cy="12529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Rectangle: Folded Corner 4">
            <a:extLst>
              <a:ext uri="{FF2B5EF4-FFF2-40B4-BE49-F238E27FC236}">
                <a16:creationId xmlns:a16="http://schemas.microsoft.com/office/drawing/2014/main" id="{2FA0317A-EAF4-D20E-C9FF-46D79D61998B}"/>
              </a:ext>
            </a:extLst>
          </p:cNvPr>
          <p:cNvSpPr/>
          <p:nvPr/>
        </p:nvSpPr>
        <p:spPr>
          <a:xfrm>
            <a:off x="4111310" y="298306"/>
            <a:ext cx="1354149" cy="1252937"/>
          </a:xfrm>
          <a:prstGeom prst="foldedCorner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dirty="0"/>
              <a:t>Our Agentic AI Code</a:t>
            </a:r>
            <a:endParaRPr lang="en-GB" dirty="0"/>
          </a:p>
        </p:txBody>
      </p:sp>
      <p:sp>
        <p:nvSpPr>
          <p:cNvPr id="6" name="Arrow: Right 5">
            <a:extLst>
              <a:ext uri="{FF2B5EF4-FFF2-40B4-BE49-F238E27FC236}">
                <a16:creationId xmlns:a16="http://schemas.microsoft.com/office/drawing/2014/main" id="{8A093914-059C-DDF3-24B2-89CF60BCDA28}"/>
              </a:ext>
            </a:extLst>
          </p:cNvPr>
          <p:cNvSpPr/>
          <p:nvPr/>
        </p:nvSpPr>
        <p:spPr>
          <a:xfrm>
            <a:off x="5516939" y="710055"/>
            <a:ext cx="503152" cy="404849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2C55F7CB-C775-7775-B4B3-330B65E433EF}"/>
              </a:ext>
            </a:extLst>
          </p:cNvPr>
          <p:cNvSpPr/>
          <p:nvPr/>
        </p:nvSpPr>
        <p:spPr>
          <a:xfrm>
            <a:off x="7359408" y="700936"/>
            <a:ext cx="503152" cy="404849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8" name="Picture 4" descr="Llm Images – Browse 39,491 Stock Photos, Vectors, and Video | Adobe Stock">
            <a:extLst>
              <a:ext uri="{FF2B5EF4-FFF2-40B4-BE49-F238E27FC236}">
                <a16:creationId xmlns:a16="http://schemas.microsoft.com/office/drawing/2014/main" id="{7CC840C6-79AD-8E9A-ACC7-4EB03068EA1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87532" y="230188"/>
            <a:ext cx="1934665" cy="14509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Arrow: Right 9">
            <a:extLst>
              <a:ext uri="{FF2B5EF4-FFF2-40B4-BE49-F238E27FC236}">
                <a16:creationId xmlns:a16="http://schemas.microsoft.com/office/drawing/2014/main" id="{D29CF1D8-DF64-7BB0-5C4B-E2178548EDAD}"/>
              </a:ext>
            </a:extLst>
          </p:cNvPr>
          <p:cNvSpPr/>
          <p:nvPr/>
        </p:nvSpPr>
        <p:spPr>
          <a:xfrm>
            <a:off x="9894084" y="753264"/>
            <a:ext cx="503152" cy="404849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Flowchart: Multidocument 10">
            <a:extLst>
              <a:ext uri="{FF2B5EF4-FFF2-40B4-BE49-F238E27FC236}">
                <a16:creationId xmlns:a16="http://schemas.microsoft.com/office/drawing/2014/main" id="{1D60E31D-7FB9-84C5-7569-98010C145019}"/>
              </a:ext>
            </a:extLst>
          </p:cNvPr>
          <p:cNvSpPr/>
          <p:nvPr/>
        </p:nvSpPr>
        <p:spPr>
          <a:xfrm>
            <a:off x="7965520" y="298306"/>
            <a:ext cx="1615900" cy="1252937"/>
          </a:xfrm>
          <a:prstGeom prst="flowChartMultidocument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600" b="1" dirty="0">
                <a:solidFill>
                  <a:schemeClr val="tx1"/>
                </a:solidFill>
              </a:rPr>
              <a:t>Thought + Action + Observation</a:t>
            </a:r>
            <a:endParaRPr lang="en-GB" sz="1600" b="1" dirty="0">
              <a:solidFill>
                <a:schemeClr val="tx1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815DE7D-C0AF-1FA7-5101-CF48A7BF6B2D}"/>
              </a:ext>
            </a:extLst>
          </p:cNvPr>
          <p:cNvSpPr txBox="1"/>
          <p:nvPr/>
        </p:nvSpPr>
        <p:spPr>
          <a:xfrm>
            <a:off x="7965520" y="1551243"/>
            <a:ext cx="145361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b="1" dirty="0"/>
              <a:t>“N” Iterations</a:t>
            </a:r>
            <a:endParaRPr lang="en-GB" sz="1600" b="1" dirty="0"/>
          </a:p>
        </p:txBody>
      </p:sp>
    </p:spTree>
    <p:extLst>
      <p:ext uri="{BB962C8B-B14F-4D97-AF65-F5344CB8AC3E}">
        <p14:creationId xmlns:p14="http://schemas.microsoft.com/office/powerpoint/2010/main" val="2401922499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97D286-2256-6934-A96A-C8D8CA4EA2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Reflection </a:t>
            </a:r>
            <a:br>
              <a:rPr lang="en-IN" dirty="0"/>
            </a:br>
            <a:r>
              <a:rPr lang="en-IN" dirty="0"/>
              <a:t>Pattern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4FA64A-6255-51CC-7B44-72A2AC07D4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IN" dirty="0"/>
              <a:t>Definition</a:t>
            </a:r>
          </a:p>
          <a:p>
            <a:pPr lvl="1"/>
            <a:r>
              <a:rPr lang="en-US" dirty="0"/>
              <a:t>The agent evaluates and critiques its </a:t>
            </a:r>
            <a:r>
              <a:rPr lang="en-US" b="1" dirty="0"/>
              <a:t>own output</a:t>
            </a:r>
          </a:p>
          <a:p>
            <a:pPr lvl="1"/>
            <a:r>
              <a:rPr lang="en-US" dirty="0"/>
              <a:t>Reflection introduces a </a:t>
            </a:r>
            <a:r>
              <a:rPr lang="en-US" b="1" dirty="0"/>
              <a:t>self-review loop </a:t>
            </a:r>
            <a:r>
              <a:rPr lang="en-US" dirty="0"/>
              <a:t>before producing the final answer</a:t>
            </a:r>
          </a:p>
          <a:p>
            <a:pPr lvl="1"/>
            <a:r>
              <a:rPr lang="en-US" dirty="0"/>
              <a:t>The agent improves quality by identifying errors, gaps, or improvements</a:t>
            </a:r>
          </a:p>
          <a:p>
            <a:r>
              <a:rPr lang="en-US" dirty="0"/>
              <a:t>Workflow</a:t>
            </a:r>
          </a:p>
          <a:p>
            <a:pPr lvl="1"/>
            <a:r>
              <a:rPr lang="en-US" dirty="0"/>
              <a:t>Agent generates an initial draft response</a:t>
            </a:r>
          </a:p>
          <a:p>
            <a:pPr lvl="1"/>
            <a:r>
              <a:rPr lang="en-US" dirty="0"/>
              <a:t>Reviews the draft critically</a:t>
            </a:r>
          </a:p>
          <a:p>
            <a:pPr lvl="1"/>
            <a:r>
              <a:rPr lang="en-US" dirty="0"/>
              <a:t>Identifies mistakes, omissions, or weak reasoning</a:t>
            </a:r>
          </a:p>
          <a:p>
            <a:pPr lvl="1"/>
            <a:r>
              <a:rPr lang="en-US" dirty="0"/>
              <a:t>Revises the response based on reflection</a:t>
            </a:r>
          </a:p>
          <a:p>
            <a:pPr lvl="1"/>
            <a:r>
              <a:rPr lang="en-US" dirty="0"/>
              <a:t>Outputs the improved final answer</a:t>
            </a:r>
          </a:p>
          <a:p>
            <a:r>
              <a:rPr lang="en-US" dirty="0"/>
              <a:t>Advantages</a:t>
            </a:r>
          </a:p>
          <a:p>
            <a:pPr lvl="1"/>
            <a:r>
              <a:rPr lang="en-US" dirty="0"/>
              <a:t>Higher accuracy: Reduces hallucinations and logical errors</a:t>
            </a:r>
          </a:p>
          <a:p>
            <a:pPr lvl="1"/>
            <a:r>
              <a:rPr lang="en-US" dirty="0"/>
              <a:t>Quality improvement: Produces more complete and refined outputs</a:t>
            </a:r>
          </a:p>
          <a:p>
            <a:pPr lvl="1"/>
            <a:r>
              <a:rPr lang="en-US" dirty="0"/>
              <a:t>Self-correction: Detects issues without external feedback</a:t>
            </a:r>
          </a:p>
          <a:p>
            <a:pPr lvl="1"/>
            <a:r>
              <a:rPr lang="en-US" dirty="0"/>
              <a:t>Production reliability: Useful for high-stakes responses</a:t>
            </a:r>
            <a:endParaRPr lang="en-GB" dirty="0"/>
          </a:p>
        </p:txBody>
      </p:sp>
      <p:pic>
        <p:nvPicPr>
          <p:cNvPr id="4" name="Picture 2" descr="Creating my first AI Agent: a journey of curiosity and growth. | Austan  Lundeen, CDMP, PCM posted on the topic | LinkedIn">
            <a:extLst>
              <a:ext uri="{FF2B5EF4-FFF2-40B4-BE49-F238E27FC236}">
                <a16:creationId xmlns:a16="http://schemas.microsoft.com/office/drawing/2014/main" id="{3671F769-0F73-1584-42FE-E7A067EF9B6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99434" y="212721"/>
            <a:ext cx="1252937" cy="12529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Rectangle: Folded Corner 4">
            <a:extLst>
              <a:ext uri="{FF2B5EF4-FFF2-40B4-BE49-F238E27FC236}">
                <a16:creationId xmlns:a16="http://schemas.microsoft.com/office/drawing/2014/main" id="{8F5B6636-AA0D-79C0-517E-D11780DB14E0}"/>
              </a:ext>
            </a:extLst>
          </p:cNvPr>
          <p:cNvSpPr/>
          <p:nvPr/>
        </p:nvSpPr>
        <p:spPr>
          <a:xfrm>
            <a:off x="3807233" y="234134"/>
            <a:ext cx="1354149" cy="1252937"/>
          </a:xfrm>
          <a:prstGeom prst="foldedCorner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dirty="0"/>
              <a:t>Our Agentic AI Code</a:t>
            </a:r>
            <a:endParaRPr lang="en-GB" dirty="0"/>
          </a:p>
        </p:txBody>
      </p:sp>
      <p:sp>
        <p:nvSpPr>
          <p:cNvPr id="6" name="Arrow: Right 5">
            <a:extLst>
              <a:ext uri="{FF2B5EF4-FFF2-40B4-BE49-F238E27FC236}">
                <a16:creationId xmlns:a16="http://schemas.microsoft.com/office/drawing/2014/main" id="{10B7FA48-AAA2-2D8D-3B45-049DE157BBF4}"/>
              </a:ext>
            </a:extLst>
          </p:cNvPr>
          <p:cNvSpPr/>
          <p:nvPr/>
        </p:nvSpPr>
        <p:spPr>
          <a:xfrm>
            <a:off x="5212862" y="645883"/>
            <a:ext cx="503152" cy="404849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40645E86-AAF5-F544-4ACA-5D53E24529E0}"/>
              </a:ext>
            </a:extLst>
          </p:cNvPr>
          <p:cNvSpPr/>
          <p:nvPr/>
        </p:nvSpPr>
        <p:spPr>
          <a:xfrm>
            <a:off x="7055331" y="636764"/>
            <a:ext cx="503152" cy="404849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5E321DA2-656F-50C6-FB97-2A1534C52421}"/>
              </a:ext>
            </a:extLst>
          </p:cNvPr>
          <p:cNvSpPr/>
          <p:nvPr/>
        </p:nvSpPr>
        <p:spPr>
          <a:xfrm>
            <a:off x="9590007" y="689092"/>
            <a:ext cx="503152" cy="404849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Flowchart: Multidocument 8">
            <a:extLst>
              <a:ext uri="{FF2B5EF4-FFF2-40B4-BE49-F238E27FC236}">
                <a16:creationId xmlns:a16="http://schemas.microsoft.com/office/drawing/2014/main" id="{FBE35B6E-EE90-9C93-A27F-9FC93392EE5A}"/>
              </a:ext>
            </a:extLst>
          </p:cNvPr>
          <p:cNvSpPr/>
          <p:nvPr/>
        </p:nvSpPr>
        <p:spPr>
          <a:xfrm>
            <a:off x="7661443" y="234134"/>
            <a:ext cx="1615900" cy="1252937"/>
          </a:xfrm>
          <a:prstGeom prst="flowChartMultidocument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600" b="1" dirty="0">
                <a:solidFill>
                  <a:schemeClr val="tx1"/>
                </a:solidFill>
              </a:rPr>
              <a:t>Thought + Action + Observation</a:t>
            </a:r>
            <a:endParaRPr lang="en-GB" sz="1600" b="1" dirty="0">
              <a:solidFill>
                <a:schemeClr val="tx1"/>
              </a:solidFill>
            </a:endParaRPr>
          </a:p>
        </p:txBody>
      </p:sp>
      <p:pic>
        <p:nvPicPr>
          <p:cNvPr id="11" name="Picture 4" descr="Llm Images – Browse 39,491 Stock Photos, Vectors, and Video | Adobe Stock">
            <a:extLst>
              <a:ext uri="{FF2B5EF4-FFF2-40B4-BE49-F238E27FC236}">
                <a16:creationId xmlns:a16="http://schemas.microsoft.com/office/drawing/2014/main" id="{75CF49F6-7F86-DF92-8F91-D117342234D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28207" y="205349"/>
            <a:ext cx="1934665" cy="14509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01083059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6380F5-A3DF-C978-CF19-E2FF367804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 err="1"/>
              <a:t>ReAct</a:t>
            </a:r>
            <a:r>
              <a:rPr lang="en-IN" dirty="0"/>
              <a:t> Verus Reflection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E9F441-D2CC-7973-1B50-573CB2DA61D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ReAct</a:t>
            </a:r>
            <a:r>
              <a:rPr lang="en-US" dirty="0"/>
              <a:t> → “What should I do next?” (Drives actions)</a:t>
            </a:r>
          </a:p>
          <a:p>
            <a:r>
              <a:rPr lang="en-US" dirty="0"/>
              <a:t>Reflection → “Is what I did correct?” (Audits outcomes)</a:t>
            </a:r>
            <a:endParaRPr lang="en-GB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A431623A-4447-4AF9-15AA-D3BAE2F51F21}"/>
              </a:ext>
            </a:extLst>
          </p:cNvPr>
          <p:cNvGraphicFramePr>
            <a:graphicFrameLocks noGrp="1"/>
          </p:cNvGraphicFramePr>
          <p:nvPr/>
        </p:nvGraphicFramePr>
        <p:xfrm>
          <a:off x="838200" y="2885123"/>
          <a:ext cx="10515600" cy="3291840"/>
        </p:xfrm>
        <a:graphic>
          <a:graphicData uri="http://schemas.openxmlformats.org/drawingml/2006/table">
            <a:tbl>
              <a:tblPr firstRow="1">
                <a:tableStyleId>{6E25E649-3F16-4E02-A733-19D2CDBF48F0}</a:tableStyleId>
              </a:tblPr>
              <a:tblGrid>
                <a:gridCol w="3505200">
                  <a:extLst>
                    <a:ext uri="{9D8B030D-6E8A-4147-A177-3AD203B41FA5}">
                      <a16:colId xmlns:a16="http://schemas.microsoft.com/office/drawing/2014/main" val="972462456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2890231905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211972070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Aspect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b="1"/>
                        <a:t>ReAct (Reason + Act)</a:t>
                      </a:r>
                      <a:endParaRPr lang="en-GB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b="1"/>
                        <a:t>Reflection Pattern</a:t>
                      </a:r>
                      <a:endParaRPr lang="en-GB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196803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Core idea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Think </a:t>
                      </a:r>
                      <a:r>
                        <a:rPr lang="en-GB" b="1"/>
                        <a:t>while acting</a:t>
                      </a:r>
                      <a:endParaRPr lang="en-GB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Think </a:t>
                      </a:r>
                      <a:r>
                        <a:rPr lang="en-GB" b="1"/>
                        <a:t>about the answer</a:t>
                      </a:r>
                      <a:endParaRPr lang="en-GB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1541119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Reasoning happens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Before </a:t>
                      </a:r>
                      <a:r>
                        <a:rPr lang="en-GB" b="1"/>
                        <a:t>each action</a:t>
                      </a:r>
                      <a:endParaRPr lang="en-GB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After a draft or result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7466348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Main purpose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Decide </a:t>
                      </a:r>
                      <a:r>
                        <a:rPr lang="en-GB" b="1"/>
                        <a:t>next step</a:t>
                      </a:r>
                      <a:endParaRPr lang="en-GB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Check / improve correctness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2754370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Uses tools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Yes (search, DB, APIs, etc.)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Usually no (LLM-only)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8526093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Feedback source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Environment / observations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Self-critique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4789691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Error handling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Fix errors </a:t>
                      </a:r>
                      <a:r>
                        <a:rPr lang="en-GB" b="1"/>
                        <a:t>during execution</a:t>
                      </a:r>
                      <a:endParaRPr lang="en-GB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Fix errors </a:t>
                      </a:r>
                      <a:r>
                        <a:rPr lang="en-GB" b="1"/>
                        <a:t>after execution</a:t>
                      </a:r>
                      <a:endParaRPr lang="en-GB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4208185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Speed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Faster end-to-end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Slower (extra step)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1087287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Typical use cases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Agents, workflows, automation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/>
                        <a:t>Validation, QA, grading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9042889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3597904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58CF5C-B88C-D29A-328D-6145B998A1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A1E46F-FAE7-9A5C-8E4A-49E75B6C96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 err="1"/>
              <a:t>ReWOO</a:t>
            </a:r>
            <a:br>
              <a:rPr lang="en-IN" dirty="0"/>
            </a:br>
            <a:r>
              <a:rPr lang="en-IN" dirty="0"/>
              <a:t>Pattern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B03FB9-D6DC-19EC-4598-89E8521F8FF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IN" dirty="0"/>
              <a:t>Definition</a:t>
            </a:r>
          </a:p>
          <a:p>
            <a:pPr lvl="1"/>
            <a:r>
              <a:rPr lang="en-US" dirty="0"/>
              <a:t>The agent performs structured </a:t>
            </a:r>
            <a:r>
              <a:rPr lang="en-US" b="1" dirty="0"/>
              <a:t>reasoning without relying on external observations</a:t>
            </a:r>
          </a:p>
          <a:p>
            <a:pPr lvl="1"/>
            <a:r>
              <a:rPr lang="en-US" dirty="0"/>
              <a:t>All decisions are derived from </a:t>
            </a:r>
            <a:r>
              <a:rPr lang="en-US" b="1" dirty="0"/>
              <a:t>rules, constraints, and internal knowledge</a:t>
            </a:r>
          </a:p>
          <a:p>
            <a:pPr lvl="1"/>
            <a:r>
              <a:rPr lang="en-US" b="1" dirty="0"/>
              <a:t>Deterministic</a:t>
            </a:r>
            <a:r>
              <a:rPr lang="en-US" dirty="0"/>
              <a:t>, auditable reasoning</a:t>
            </a:r>
          </a:p>
          <a:p>
            <a:r>
              <a:rPr lang="en-US" dirty="0"/>
              <a:t>Workflow</a:t>
            </a:r>
          </a:p>
          <a:p>
            <a:pPr lvl="1"/>
            <a:r>
              <a:rPr lang="en-US" dirty="0"/>
              <a:t>Agent receives the task and domain constraints</a:t>
            </a:r>
          </a:p>
          <a:p>
            <a:pPr lvl="1"/>
            <a:r>
              <a:rPr lang="en-US" dirty="0"/>
              <a:t>Reasons using predefined rules or ontology</a:t>
            </a:r>
          </a:p>
          <a:p>
            <a:pPr lvl="1"/>
            <a:r>
              <a:rPr lang="en-US" dirty="0"/>
              <a:t>Applies logical transformations step by step</a:t>
            </a:r>
          </a:p>
          <a:p>
            <a:pPr lvl="1"/>
            <a:r>
              <a:rPr lang="en-US" dirty="0"/>
              <a:t>Derives a conclusion without tool calls or external feedback</a:t>
            </a:r>
          </a:p>
          <a:p>
            <a:pPr lvl="1"/>
            <a:r>
              <a:rPr lang="en-US" dirty="0"/>
              <a:t>Produces the final decision</a:t>
            </a:r>
          </a:p>
          <a:p>
            <a:r>
              <a:rPr lang="en-US" dirty="0"/>
              <a:t>Advantages</a:t>
            </a:r>
          </a:p>
          <a:p>
            <a:pPr lvl="1"/>
            <a:r>
              <a:rPr lang="en-US" dirty="0"/>
              <a:t>Determinism: Same input yields the same reasoning path</a:t>
            </a:r>
          </a:p>
          <a:p>
            <a:pPr lvl="1"/>
            <a:r>
              <a:rPr lang="en-US" dirty="0"/>
              <a:t>Auditability: Clear rule-based justification for every decision</a:t>
            </a:r>
          </a:p>
          <a:p>
            <a:pPr lvl="1"/>
            <a:r>
              <a:rPr lang="en-US" dirty="0"/>
              <a:t>Safety: No dependence on external systems or tools</a:t>
            </a:r>
          </a:p>
          <a:p>
            <a:pPr lvl="1"/>
            <a:r>
              <a:rPr lang="en-US" dirty="0"/>
              <a:t>Compliance-ready: Ideal for regulated environments</a:t>
            </a:r>
            <a:endParaRPr lang="en-GB" dirty="0"/>
          </a:p>
        </p:txBody>
      </p:sp>
      <p:pic>
        <p:nvPicPr>
          <p:cNvPr id="4" name="Picture 2" descr="Creating my first AI Agent: a journey of curiosity and growth. | Austan  Lundeen, CDMP, PCM posted on the topic | LinkedIn">
            <a:extLst>
              <a:ext uri="{FF2B5EF4-FFF2-40B4-BE49-F238E27FC236}">
                <a16:creationId xmlns:a16="http://schemas.microsoft.com/office/drawing/2014/main" id="{781382AC-CB8C-A070-DCF0-E08E92AE7FA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99434" y="212721"/>
            <a:ext cx="1252937" cy="12529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Rectangle: Folded Corner 4">
            <a:extLst>
              <a:ext uri="{FF2B5EF4-FFF2-40B4-BE49-F238E27FC236}">
                <a16:creationId xmlns:a16="http://schemas.microsoft.com/office/drawing/2014/main" id="{7B14190D-1004-A9F8-497E-9BA76F8277B0}"/>
              </a:ext>
            </a:extLst>
          </p:cNvPr>
          <p:cNvSpPr/>
          <p:nvPr/>
        </p:nvSpPr>
        <p:spPr>
          <a:xfrm>
            <a:off x="3807233" y="234134"/>
            <a:ext cx="1354149" cy="1252937"/>
          </a:xfrm>
          <a:prstGeom prst="foldedCorner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dirty="0"/>
              <a:t>Our Agentic AI Code</a:t>
            </a:r>
            <a:endParaRPr lang="en-GB" dirty="0"/>
          </a:p>
        </p:txBody>
      </p:sp>
      <p:sp>
        <p:nvSpPr>
          <p:cNvPr id="6" name="Arrow: Right 5">
            <a:extLst>
              <a:ext uri="{FF2B5EF4-FFF2-40B4-BE49-F238E27FC236}">
                <a16:creationId xmlns:a16="http://schemas.microsoft.com/office/drawing/2014/main" id="{1CCABCD8-9F9F-6C06-7E94-062787BFDF47}"/>
              </a:ext>
            </a:extLst>
          </p:cNvPr>
          <p:cNvSpPr/>
          <p:nvPr/>
        </p:nvSpPr>
        <p:spPr>
          <a:xfrm>
            <a:off x="5212862" y="645883"/>
            <a:ext cx="503152" cy="404849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9131EE5B-873F-BC23-A17F-0273DD493C48}"/>
              </a:ext>
            </a:extLst>
          </p:cNvPr>
          <p:cNvSpPr/>
          <p:nvPr/>
        </p:nvSpPr>
        <p:spPr>
          <a:xfrm>
            <a:off x="7055331" y="636764"/>
            <a:ext cx="503152" cy="404849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15F1CA3D-17C7-97DB-77D6-668BA8DE2458}"/>
              </a:ext>
            </a:extLst>
          </p:cNvPr>
          <p:cNvSpPr/>
          <p:nvPr/>
        </p:nvSpPr>
        <p:spPr>
          <a:xfrm>
            <a:off x="9590007" y="689092"/>
            <a:ext cx="503152" cy="404849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Flowchart: Multidocument 8">
            <a:extLst>
              <a:ext uri="{FF2B5EF4-FFF2-40B4-BE49-F238E27FC236}">
                <a16:creationId xmlns:a16="http://schemas.microsoft.com/office/drawing/2014/main" id="{7CBFF2AF-A211-E5A5-D7EE-D12E5A0F8CA6}"/>
              </a:ext>
            </a:extLst>
          </p:cNvPr>
          <p:cNvSpPr/>
          <p:nvPr/>
        </p:nvSpPr>
        <p:spPr>
          <a:xfrm>
            <a:off x="7661443" y="234134"/>
            <a:ext cx="1615900" cy="1252937"/>
          </a:xfrm>
          <a:prstGeom prst="flowChartMultidocument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600" b="1" dirty="0">
                <a:solidFill>
                  <a:schemeClr val="tx1"/>
                </a:solidFill>
              </a:rPr>
              <a:t>Ontology (Rules)</a:t>
            </a:r>
            <a:endParaRPr lang="en-GB" sz="1600" b="1" dirty="0">
              <a:solidFill>
                <a:schemeClr val="tx1"/>
              </a:solidFill>
            </a:endParaRPr>
          </a:p>
        </p:txBody>
      </p:sp>
      <p:pic>
        <p:nvPicPr>
          <p:cNvPr id="11" name="Picture 4" descr="Llm Images – Browse 39,491 Stock Photos, Vectors, and Video | Adobe Stock">
            <a:extLst>
              <a:ext uri="{FF2B5EF4-FFF2-40B4-BE49-F238E27FC236}">
                <a16:creationId xmlns:a16="http://schemas.microsoft.com/office/drawing/2014/main" id="{EE29B2BF-627F-EE20-B37C-BEEC17D6C7E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28207" y="205349"/>
            <a:ext cx="1934665" cy="14509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03515118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A5E7F3-AA61-D34F-B927-A52147F2B0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E8A4FDC0-B782-902B-8809-68A1A1D9D8EA}"/>
              </a:ext>
            </a:extLst>
          </p:cNvPr>
          <p:cNvSpPr/>
          <p:nvPr/>
        </p:nvSpPr>
        <p:spPr>
          <a:xfrm>
            <a:off x="5933130" y="103511"/>
            <a:ext cx="921380" cy="194048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2039AE7-CA6A-B8FE-CC00-335B1C4DC2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Multi-agent</a:t>
            </a:r>
            <a:br>
              <a:rPr lang="en-IN" dirty="0"/>
            </a:br>
            <a:r>
              <a:rPr lang="en-IN" dirty="0"/>
              <a:t>Pattern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C4E7DF-B5D1-15EC-AF0B-770E765B11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IN" dirty="0"/>
              <a:t>Definition</a:t>
            </a:r>
          </a:p>
          <a:p>
            <a:pPr lvl="1"/>
            <a:r>
              <a:rPr lang="en-US" dirty="0"/>
              <a:t>Multiple specialized agents collaborate to solve a single problem</a:t>
            </a:r>
          </a:p>
          <a:p>
            <a:pPr lvl="1"/>
            <a:r>
              <a:rPr lang="en-US" dirty="0"/>
              <a:t>Each agent has a </a:t>
            </a:r>
            <a:r>
              <a:rPr lang="en-US" b="1" dirty="0"/>
              <a:t>clear role</a:t>
            </a:r>
            <a:r>
              <a:rPr lang="en-US" dirty="0"/>
              <a:t>, </a:t>
            </a:r>
            <a:r>
              <a:rPr lang="en-US" b="1" dirty="0"/>
              <a:t>responsibility</a:t>
            </a:r>
            <a:r>
              <a:rPr lang="en-US" dirty="0"/>
              <a:t>, and </a:t>
            </a:r>
            <a:r>
              <a:rPr lang="en-US" b="1" dirty="0"/>
              <a:t>scope</a:t>
            </a:r>
          </a:p>
          <a:p>
            <a:pPr lvl="1"/>
            <a:r>
              <a:rPr lang="en-US" dirty="0"/>
              <a:t>Complex tasks are decomposed across agents instead of a single monolithic agent</a:t>
            </a:r>
          </a:p>
          <a:p>
            <a:r>
              <a:rPr lang="en-US" dirty="0"/>
              <a:t>Workflow</a:t>
            </a:r>
          </a:p>
          <a:p>
            <a:pPr lvl="1"/>
            <a:r>
              <a:rPr lang="en-US" dirty="0"/>
              <a:t>User request is received by an orchestrator (or coordinator agent)</a:t>
            </a:r>
          </a:p>
          <a:p>
            <a:pPr lvl="1"/>
            <a:r>
              <a:rPr lang="en-US" dirty="0"/>
              <a:t>Task is decomposed into sub-tasks</a:t>
            </a:r>
          </a:p>
          <a:p>
            <a:pPr lvl="1"/>
            <a:r>
              <a:rPr lang="en-US" dirty="0"/>
              <a:t>Sub-tasks are assigned to specialized agents</a:t>
            </a:r>
          </a:p>
          <a:p>
            <a:pPr lvl="1"/>
            <a:r>
              <a:rPr lang="en-US" dirty="0"/>
              <a:t>Agents execute independently or sequentially</a:t>
            </a:r>
          </a:p>
          <a:p>
            <a:pPr lvl="1"/>
            <a:r>
              <a:rPr lang="en-US" dirty="0"/>
              <a:t>Outputs are aggregated and validated</a:t>
            </a:r>
          </a:p>
          <a:p>
            <a:pPr lvl="1"/>
            <a:r>
              <a:rPr lang="en-US" dirty="0"/>
              <a:t>Final result is produced</a:t>
            </a:r>
          </a:p>
          <a:p>
            <a:r>
              <a:rPr lang="en-US" dirty="0"/>
              <a:t>Advantages</a:t>
            </a:r>
          </a:p>
          <a:p>
            <a:pPr lvl="1"/>
            <a:r>
              <a:rPr lang="en-US" dirty="0"/>
              <a:t>Specialization: Each agent focuses on what it does best</a:t>
            </a:r>
          </a:p>
          <a:p>
            <a:pPr lvl="1"/>
            <a:r>
              <a:rPr lang="en-US" dirty="0"/>
              <a:t>Scalability: Add or replace agents without redesigning the system</a:t>
            </a:r>
          </a:p>
          <a:p>
            <a:pPr lvl="1"/>
            <a:r>
              <a:rPr lang="en-US" dirty="0"/>
              <a:t>Parallelism: Agents can work concurrently for faster results</a:t>
            </a:r>
          </a:p>
          <a:p>
            <a:pPr lvl="1"/>
            <a:r>
              <a:rPr lang="en-US" dirty="0"/>
              <a:t>Robustness: Failure of one agent does not collapse the entire system</a:t>
            </a:r>
            <a:endParaRPr lang="en-GB" dirty="0"/>
          </a:p>
        </p:txBody>
      </p:sp>
      <p:pic>
        <p:nvPicPr>
          <p:cNvPr id="4" name="Picture 2" descr="Creating my first AI Agent: a journey of curiosity and growth. | Austan  Lundeen, CDMP, PCM posted on the topic | LinkedIn">
            <a:extLst>
              <a:ext uri="{FF2B5EF4-FFF2-40B4-BE49-F238E27FC236}">
                <a16:creationId xmlns:a16="http://schemas.microsoft.com/office/drawing/2014/main" id="{F1AAA476-CDB9-D5E7-54F7-6E69D0824BE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7497" y="207022"/>
            <a:ext cx="577526" cy="5775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Rectangle: Folded Corner 4">
            <a:extLst>
              <a:ext uri="{FF2B5EF4-FFF2-40B4-BE49-F238E27FC236}">
                <a16:creationId xmlns:a16="http://schemas.microsoft.com/office/drawing/2014/main" id="{74BB0007-BFD5-8BE6-FDFA-5CDE2E21F499}"/>
              </a:ext>
            </a:extLst>
          </p:cNvPr>
          <p:cNvSpPr/>
          <p:nvPr/>
        </p:nvSpPr>
        <p:spPr>
          <a:xfrm>
            <a:off x="3821194" y="442234"/>
            <a:ext cx="1354149" cy="1252937"/>
          </a:xfrm>
          <a:prstGeom prst="foldedCorner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dirty="0"/>
              <a:t>Our Agentic AI Code</a:t>
            </a:r>
            <a:endParaRPr lang="en-GB" dirty="0"/>
          </a:p>
        </p:txBody>
      </p:sp>
      <p:sp>
        <p:nvSpPr>
          <p:cNvPr id="6" name="Arrow: Right 5">
            <a:extLst>
              <a:ext uri="{FF2B5EF4-FFF2-40B4-BE49-F238E27FC236}">
                <a16:creationId xmlns:a16="http://schemas.microsoft.com/office/drawing/2014/main" id="{B2F99422-4357-4E54-3CF3-624C643CB43D}"/>
              </a:ext>
            </a:extLst>
          </p:cNvPr>
          <p:cNvSpPr/>
          <p:nvPr/>
        </p:nvSpPr>
        <p:spPr>
          <a:xfrm>
            <a:off x="5316551" y="866276"/>
            <a:ext cx="503152" cy="404849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C75E91B5-801A-A79C-E983-306068512289}"/>
              </a:ext>
            </a:extLst>
          </p:cNvPr>
          <p:cNvSpPr/>
          <p:nvPr/>
        </p:nvSpPr>
        <p:spPr>
          <a:xfrm>
            <a:off x="6948952" y="866276"/>
            <a:ext cx="503152" cy="404849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11" name="Picture 4" descr="Llm Images – Browse 39,491 Stock Photos, Vectors, and Video | Adobe Stock">
            <a:extLst>
              <a:ext uri="{FF2B5EF4-FFF2-40B4-BE49-F238E27FC236}">
                <a16:creationId xmlns:a16="http://schemas.microsoft.com/office/drawing/2014/main" id="{F057EE37-BB50-6290-31E9-8241F5337F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75267" y="343200"/>
            <a:ext cx="1934665" cy="14509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2" descr="Creating my first AI Agent: a journey of curiosity and growth. | Austan  Lundeen, CDMP, PCM posted on the topic | LinkedIn">
            <a:extLst>
              <a:ext uri="{FF2B5EF4-FFF2-40B4-BE49-F238E27FC236}">
                <a16:creationId xmlns:a16="http://schemas.microsoft.com/office/drawing/2014/main" id="{4F2B88B4-950A-C4BD-67A1-B24097D934B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7497" y="800881"/>
            <a:ext cx="577526" cy="5775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Picture 2" descr="Creating my first AI Agent: a journey of curiosity and growth. | Austan  Lundeen, CDMP, PCM posted on the topic | LinkedIn">
            <a:extLst>
              <a:ext uri="{FF2B5EF4-FFF2-40B4-BE49-F238E27FC236}">
                <a16:creationId xmlns:a16="http://schemas.microsoft.com/office/drawing/2014/main" id="{BCA391B6-4504-3E98-117E-A26EC6D47F3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7497" y="1378407"/>
            <a:ext cx="577526" cy="5775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97111415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9ED268-C290-25F4-35B3-6744992EF8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5841"/>
            <a:ext cx="10515600" cy="767817"/>
          </a:xfrm>
        </p:spPr>
        <p:txBody>
          <a:bodyPr>
            <a:normAutofit/>
          </a:bodyPr>
          <a:lstStyle/>
          <a:p>
            <a:endParaRPr lang="en-IN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2FC80E-2FF2-F1B8-AA52-30C22D0BEF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 noProof="0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D3870A3E-DC7B-225C-62CA-C38046A6DC85}"/>
              </a:ext>
            </a:extLst>
          </p:cNvPr>
          <p:cNvGraphicFramePr>
            <a:graphicFrameLocks noGrp="1"/>
          </p:cNvGraphicFramePr>
          <p:nvPr/>
        </p:nvGraphicFramePr>
        <p:xfrm>
          <a:off x="246632" y="55841"/>
          <a:ext cx="11698736" cy="6649720"/>
        </p:xfrm>
        <a:graphic>
          <a:graphicData uri="http://schemas.openxmlformats.org/drawingml/2006/table">
            <a:tbl>
              <a:tblPr firstRow="1" bandRow="1">
                <a:tableStyleId>{72833802-FEF1-4C79-8D5D-14CF1EAF98D9}</a:tableStyleId>
              </a:tblPr>
              <a:tblGrid>
                <a:gridCol w="383908">
                  <a:extLst>
                    <a:ext uri="{9D8B030D-6E8A-4147-A177-3AD203B41FA5}">
                      <a16:colId xmlns:a16="http://schemas.microsoft.com/office/drawing/2014/main" val="4114190081"/>
                    </a:ext>
                  </a:extLst>
                </a:gridCol>
                <a:gridCol w="2252263">
                  <a:extLst>
                    <a:ext uri="{9D8B030D-6E8A-4147-A177-3AD203B41FA5}">
                      <a16:colId xmlns:a16="http://schemas.microsoft.com/office/drawing/2014/main" val="448936344"/>
                    </a:ext>
                  </a:extLst>
                </a:gridCol>
                <a:gridCol w="2135927">
                  <a:extLst>
                    <a:ext uri="{9D8B030D-6E8A-4147-A177-3AD203B41FA5}">
                      <a16:colId xmlns:a16="http://schemas.microsoft.com/office/drawing/2014/main" val="968096629"/>
                    </a:ext>
                  </a:extLst>
                </a:gridCol>
                <a:gridCol w="2540775">
                  <a:extLst>
                    <a:ext uri="{9D8B030D-6E8A-4147-A177-3AD203B41FA5}">
                      <a16:colId xmlns:a16="http://schemas.microsoft.com/office/drawing/2014/main" val="2007595872"/>
                    </a:ext>
                  </a:extLst>
                </a:gridCol>
                <a:gridCol w="2045185">
                  <a:extLst>
                    <a:ext uri="{9D8B030D-6E8A-4147-A177-3AD203B41FA5}">
                      <a16:colId xmlns:a16="http://schemas.microsoft.com/office/drawing/2014/main" val="1187256254"/>
                    </a:ext>
                  </a:extLst>
                </a:gridCol>
                <a:gridCol w="2340678">
                  <a:extLst>
                    <a:ext uri="{9D8B030D-6E8A-4147-A177-3AD203B41FA5}">
                      <a16:colId xmlns:a16="http://schemas.microsoft.com/office/drawing/2014/main" val="261563692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IN" sz="1400" noProof="0" dirty="0"/>
                        <a:t>#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400" noProof="0" dirty="0"/>
                        <a:t>Task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400" noProof="0" dirty="0"/>
                        <a:t>Design Pattern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400" noProof="0" dirty="0"/>
                        <a:t>Features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400" noProof="0" dirty="0"/>
                        <a:t>Improvements still to be done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400" noProof="0" dirty="0"/>
                        <a:t>Code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645311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sz="1400" noProof="0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400" noProof="0" dirty="0"/>
                        <a:t>A customer support bot that answers FAQs using a knowledge base and function calling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400" noProof="0" dirty="0"/>
                        <a:t>Information Retrieval Pattern: Pull an answer directly from a predefined source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400" noProof="0" dirty="0"/>
                        <a:t>Function (Tool) calling*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400" noProof="0" dirty="0"/>
                        <a:t>Knowledgebase is hardcoded, Customer queries are searched on keywords, UI is not good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200" noProof="0" dirty="0"/>
                        <a:t>2_2_openai_agent_tool_hardcoded_knowledge.py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0653611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sz="1400" noProof="0" dirty="0"/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400" noProof="0" dirty="0"/>
                        <a:t>Do not search the customer query based on keywords, but perform semantic search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400" noProof="0" dirty="0"/>
                        <a:t>Semantic Search Pattern: Understand meaning behind the user’s query, not just keywords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400" noProof="0" dirty="0"/>
                        <a:t>Compute embeddings for knowledge base and compare with embeddings for customer query*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400" noProof="0" dirty="0"/>
                        <a:t>Knowledgebase is hardcoded, UI is not good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200" noProof="0" dirty="0"/>
                        <a:t>2_3_openai_agent_hardcoded_semantic.py</a:t>
                      </a:r>
                    </a:p>
                    <a:p>
                      <a:endParaRPr lang="en-IN" sz="1200" noProof="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9595358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sz="1400" noProof="0" dirty="0"/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400" noProof="0" dirty="0"/>
                        <a:t>Use OpenAI’s Embeddings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400" noProof="0" dirty="0"/>
                        <a:t>RAG without we coding for it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400" noProof="0" dirty="0"/>
                        <a:t>Use OpenAI embeddings instead of Hugging Face/Chroma Embeddings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400" noProof="0" dirty="0"/>
                        <a:t>NA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sz="1200" noProof="0" dirty="0"/>
                        <a:t>2_4_openai_agent_openai_vectorstore.py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886515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sz="1400" noProof="0" dirty="0"/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400" noProof="0" dirty="0"/>
                        <a:t>Store our FAQs in </a:t>
                      </a:r>
                      <a:r>
                        <a:rPr lang="en-IN" sz="1400" noProof="0" dirty="0" err="1"/>
                        <a:t>Sqllite</a:t>
                      </a:r>
                      <a:r>
                        <a:rPr lang="en-IN" sz="1400" noProof="0" dirty="0"/>
                        <a:t> DB and then vectorize them and use them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400" noProof="0" dirty="0"/>
                        <a:t>RAG – Basic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400" noProof="0" dirty="0"/>
                        <a:t>We create our own vectorized database, but limited in size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400" noProof="0" dirty="0"/>
                        <a:t>Use real data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sz="1200" noProof="0" dirty="0"/>
                        <a:t>First run 2_openai_agent_create_faq_db.py and then 2_5_openai_agent_faq_db_vectorized.py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7011108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sz="1400" noProof="0" dirty="0"/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400" noProof="0" dirty="0"/>
                        <a:t>Make it like a chatbot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400" noProof="0" dirty="0"/>
                        <a:t>Not a pattern, but separating the UI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400" noProof="0" dirty="0"/>
                        <a:t>Added </a:t>
                      </a:r>
                      <a:r>
                        <a:rPr lang="en-IN" sz="1400" noProof="0" dirty="0" err="1"/>
                        <a:t>Gradio</a:t>
                      </a:r>
                      <a:endParaRPr lang="en-IN" sz="1400" noProof="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400" noProof="0" dirty="0"/>
                        <a:t>Make it RAG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200" noProof="0" dirty="0"/>
                        <a:t>2_6_openai_agent_rag.py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921987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sz="1400" noProof="0" dirty="0"/>
                        <a:t>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400" noProof="0" dirty="0"/>
                        <a:t>Add RAG Functionality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400" noProof="0" dirty="0"/>
                        <a:t>RAG (Insurance document)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400" noProof="0" dirty="0"/>
                        <a:t>Added RAG*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400" noProof="0" dirty="0"/>
                        <a:t>None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sz="1200" noProof="0" dirty="0"/>
                        <a:t>2_7_openai_agent_insurance.py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751797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sz="1400" noProof="0" dirty="0"/>
                        <a:t>6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400" noProof="0" dirty="0"/>
                        <a:t>Guardrails*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400" noProof="0" dirty="0"/>
                        <a:t>Guardrails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400" noProof="0" dirty="0"/>
                        <a:t>Different example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400" noProof="0" dirty="0"/>
                        <a:t>NA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sz="1200" noProof="0" dirty="0"/>
                        <a:t>2_10_openai_agent_guardrails.py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IN" sz="1200" noProof="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856940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sz="1400" noProof="0" dirty="0"/>
                        <a:t>7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400" noProof="0" dirty="0"/>
                        <a:t>Agents as Tools*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400" noProof="0" dirty="0"/>
                        <a:t>None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400" noProof="0" dirty="0"/>
                        <a:t>Convert agents into tools, which a high-level agent can use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400" noProof="0" dirty="0"/>
                        <a:t>NA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sz="1200" noProof="0" dirty="0"/>
                        <a:t>2_12_openai_agent_agent_as_tool.py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IN" sz="1200" noProof="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962244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sz="1400" noProof="0" dirty="0"/>
                        <a:t>8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400" noProof="0" dirty="0"/>
                        <a:t>Short Term Memory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400" noProof="0" dirty="0"/>
                        <a:t>Memory pattern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400" noProof="0" dirty="0"/>
                        <a:t>Default: Agents are stateless, Each call: New Agent, </a:t>
                      </a:r>
                      <a:r>
                        <a:rPr lang="en-IN" sz="1400" noProof="0"/>
                        <a:t>Change it</a:t>
                      </a:r>
                      <a:endParaRPr lang="en-IN" sz="1400" noProof="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400" noProof="0" dirty="0"/>
                        <a:t>Add long term memory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noProof="0" dirty="0"/>
                        <a:t>2_13_openai_agent_short_term_memory.py</a:t>
                      </a:r>
                      <a:endParaRPr lang="en-IN" sz="1200" noProof="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9779283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53891209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525ECD-3366-6E30-2947-87B0572FF6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Function (Tool) Calling Workflow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DBA928-EE00-4365-2C76-83C9BFC8B2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b="1" noProof="0" dirty="0"/>
              <a:t>Tool calling</a:t>
            </a:r>
            <a:r>
              <a:rPr lang="en-IN" noProof="0" dirty="0"/>
              <a:t>: Allows an LLM to </a:t>
            </a:r>
            <a:r>
              <a:rPr lang="en-IN" b="1" noProof="0" dirty="0"/>
              <a:t>delegate specific tasks</a:t>
            </a:r>
            <a:r>
              <a:rPr lang="en-IN" noProof="0" dirty="0"/>
              <a:t> to external functions, APIs, or knowledge sources, making them more useful for real-world tasks, beyond just text generation</a:t>
            </a:r>
          </a:p>
          <a:p>
            <a:r>
              <a:rPr lang="en-IN" noProof="0" dirty="0"/>
              <a:t>Components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3964F03B-37BF-D800-905E-75D623061CE1}"/>
              </a:ext>
            </a:extLst>
          </p:cNvPr>
          <p:cNvGraphicFramePr>
            <a:graphicFrameLocks noGrp="1"/>
          </p:cNvGraphicFramePr>
          <p:nvPr/>
        </p:nvGraphicFramePr>
        <p:xfrm>
          <a:off x="998744" y="3566795"/>
          <a:ext cx="10515600" cy="2286000"/>
        </p:xfrm>
        <a:graphic>
          <a:graphicData uri="http://schemas.openxmlformats.org/drawingml/2006/table">
            <a:tbl>
              <a:tblPr>
                <a:tableStyleId>{17292A2E-F333-43FB-9621-5CBBE7FDCDCB}</a:tableStyleId>
              </a:tblPr>
              <a:tblGrid>
                <a:gridCol w="3301031">
                  <a:extLst>
                    <a:ext uri="{9D8B030D-6E8A-4147-A177-3AD203B41FA5}">
                      <a16:colId xmlns:a16="http://schemas.microsoft.com/office/drawing/2014/main" val="1845314149"/>
                    </a:ext>
                  </a:extLst>
                </a:gridCol>
                <a:gridCol w="7214569">
                  <a:extLst>
                    <a:ext uri="{9D8B030D-6E8A-4147-A177-3AD203B41FA5}">
                      <a16:colId xmlns:a16="http://schemas.microsoft.com/office/drawing/2014/main" val="4125678451"/>
                    </a:ext>
                  </a:extLst>
                </a:gridCol>
              </a:tblGrid>
              <a:tr h="20950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noProof="0" dirty="0"/>
                        <a:t>Component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noProof="0" dirty="0"/>
                        <a:t>Role / Purpose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39335592"/>
                  </a:ext>
                </a:extLst>
              </a:tr>
              <a:tr h="36663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noProof="0" dirty="0"/>
                        <a:t>LLM (Agent)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Generates responses and decides when to call a tool. Uses instructions, context, and available tool schemas.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25284055"/>
                  </a:ext>
                </a:extLst>
              </a:tr>
              <a:tr h="52376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noProof="0" dirty="0"/>
                        <a:t>Tool / Function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Encapsulates a task the agent can perform. Has a name, description, and parameter schema. Provides a callback function to execute when called.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84711033"/>
                  </a:ext>
                </a:extLst>
              </a:tr>
              <a:tr h="52376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noProof="0" dirty="0"/>
                        <a:t>Runner / Executor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Middleware that passes the tool call from the agent to our function. Handles asynchronous execution, error handling, and return of results.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1547491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45571146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9DF947-4D32-DF06-401F-E5506E50D1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255" y="220353"/>
            <a:ext cx="3033915" cy="1325563"/>
          </a:xfrm>
        </p:spPr>
        <p:txBody>
          <a:bodyPr/>
          <a:lstStyle/>
          <a:p>
            <a:r>
              <a:rPr lang="en-IN" noProof="0" dirty="0"/>
              <a:t>Tool Workflow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534453BA-0C98-A8BD-1EA4-96036E3FBF1F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788757" y="1688226"/>
          <a:ext cx="10944879" cy="4589641"/>
        </p:xfrm>
        <a:graphic>
          <a:graphicData uri="http://schemas.openxmlformats.org/drawingml/2006/table">
            <a:tbl>
              <a:tblPr>
                <a:tableStyleId>{ED083AE6-46FA-4A59-8FB0-9F97EB10719F}</a:tableStyleId>
              </a:tblPr>
              <a:tblGrid>
                <a:gridCol w="1926522">
                  <a:extLst>
                    <a:ext uri="{9D8B030D-6E8A-4147-A177-3AD203B41FA5}">
                      <a16:colId xmlns:a16="http://schemas.microsoft.com/office/drawing/2014/main" val="558719537"/>
                    </a:ext>
                  </a:extLst>
                </a:gridCol>
                <a:gridCol w="4397497">
                  <a:extLst>
                    <a:ext uri="{9D8B030D-6E8A-4147-A177-3AD203B41FA5}">
                      <a16:colId xmlns:a16="http://schemas.microsoft.com/office/drawing/2014/main" val="1256724825"/>
                    </a:ext>
                  </a:extLst>
                </a:gridCol>
                <a:gridCol w="4620860">
                  <a:extLst>
                    <a:ext uri="{9D8B030D-6E8A-4147-A177-3AD203B41FA5}">
                      <a16:colId xmlns:a16="http://schemas.microsoft.com/office/drawing/2014/main" val="1463455223"/>
                    </a:ext>
                  </a:extLst>
                </a:gridCol>
              </a:tblGrid>
              <a:tr h="21756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b="1" noProof="0" dirty="0"/>
                        <a:t>Step</a:t>
                      </a:r>
                    </a:p>
                  </a:txBody>
                  <a:tcPr marL="54392" marR="54392" marT="27196" marB="2719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b="1" noProof="0" dirty="0"/>
                        <a:t>Description</a:t>
                      </a:r>
                    </a:p>
                  </a:txBody>
                  <a:tcPr marL="54392" marR="54392" marT="27196" marB="2719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b="1" noProof="0" dirty="0"/>
                        <a:t>Example / Notes</a:t>
                      </a:r>
                    </a:p>
                  </a:txBody>
                  <a:tcPr marL="54392" marR="54392" marT="27196" marB="27196" anchor="ctr"/>
                </a:tc>
                <a:extLst>
                  <a:ext uri="{0D108BD9-81ED-4DB2-BD59-A6C34878D82A}">
                    <a16:rowId xmlns:a16="http://schemas.microsoft.com/office/drawing/2014/main" val="1450517377"/>
                  </a:ext>
                </a:extLst>
              </a:tr>
              <a:tr h="54391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b="1" noProof="0" dirty="0"/>
                        <a:t>1. Agent receives user input</a:t>
                      </a:r>
                      <a:endParaRPr lang="en-IN" sz="1600" noProof="0" dirty="0"/>
                    </a:p>
                  </a:txBody>
                  <a:tcPr marL="54392" marR="54392" marT="27196" marB="2719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User types a message. Agent receives it along with instructions and context.</a:t>
                      </a:r>
                    </a:p>
                  </a:txBody>
                  <a:tcPr marL="54392" marR="54392" marT="27196" marB="2719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"What is the return policy?"</a:t>
                      </a:r>
                    </a:p>
                  </a:txBody>
                  <a:tcPr marL="54392" marR="54392" marT="27196" marB="27196" anchor="ctr"/>
                </a:tc>
                <a:extLst>
                  <a:ext uri="{0D108BD9-81ED-4DB2-BD59-A6C34878D82A}">
                    <a16:rowId xmlns:a16="http://schemas.microsoft.com/office/drawing/2014/main" val="2162382995"/>
                  </a:ext>
                </a:extLst>
              </a:tr>
              <a:tr h="54391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b="1" noProof="0" dirty="0"/>
                        <a:t>2. Agent decides whether to call a tool</a:t>
                      </a:r>
                      <a:endParaRPr lang="en-IN" sz="1600" noProof="0" dirty="0"/>
                    </a:p>
                  </a:txBody>
                  <a:tcPr marL="54392" marR="54392" marT="27196" marB="2719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Agent checks available tools. Decides whether to call a tool or answer internally.</a:t>
                      </a:r>
                    </a:p>
                  </a:txBody>
                  <a:tcPr marL="54392" marR="54392" marT="27196" marB="2719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Call </a:t>
                      </a:r>
                      <a:r>
                        <a:rPr lang="en-IN" sz="1600" noProof="0" dirty="0" err="1"/>
                        <a:t>get_faq_answer</a:t>
                      </a:r>
                      <a:r>
                        <a:rPr lang="en-IN" sz="1600" noProof="0" dirty="0"/>
                        <a:t> tool for known topic or answer directly.</a:t>
                      </a:r>
                    </a:p>
                  </a:txBody>
                  <a:tcPr marL="54392" marR="54392" marT="27196" marB="27196" anchor="ctr"/>
                </a:tc>
                <a:extLst>
                  <a:ext uri="{0D108BD9-81ED-4DB2-BD59-A6C34878D82A}">
                    <a16:rowId xmlns:a16="http://schemas.microsoft.com/office/drawing/2014/main" val="1271434506"/>
                  </a:ext>
                </a:extLst>
              </a:tr>
              <a:tr h="70709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b="1" noProof="0" dirty="0"/>
                        <a:t>3. Agent generates a tool call</a:t>
                      </a:r>
                      <a:endParaRPr lang="en-IN" sz="1600" noProof="0" dirty="0"/>
                    </a:p>
                  </a:txBody>
                  <a:tcPr marL="54392" marR="54392" marT="27196" marB="2719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Agent creates a structured function call matching the tool’s schema. Ensures required fields are present and types are correct.</a:t>
                      </a:r>
                    </a:p>
                  </a:txBody>
                  <a:tcPr marL="54392" marR="54392" marT="27196" marB="2719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{ "name": "</a:t>
                      </a:r>
                      <a:r>
                        <a:rPr lang="en-IN" sz="1600" noProof="0" dirty="0" err="1"/>
                        <a:t>get_faq_answer</a:t>
                      </a:r>
                      <a:r>
                        <a:rPr lang="en-IN" sz="1600" noProof="0" dirty="0"/>
                        <a:t>", "parameters": { "topic": "return policy" } }</a:t>
                      </a:r>
                    </a:p>
                  </a:txBody>
                  <a:tcPr marL="54392" marR="54392" marT="27196" marB="27196" anchor="ctr"/>
                </a:tc>
                <a:extLst>
                  <a:ext uri="{0D108BD9-81ED-4DB2-BD59-A6C34878D82A}">
                    <a16:rowId xmlns:a16="http://schemas.microsoft.com/office/drawing/2014/main" val="920948271"/>
                  </a:ext>
                </a:extLst>
              </a:tr>
              <a:tr h="54391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b="1" noProof="0" dirty="0"/>
                        <a:t>4. Runner executes the tool</a:t>
                      </a:r>
                      <a:endParaRPr lang="en-IN" sz="1600" noProof="0" dirty="0"/>
                    </a:p>
                  </a:txBody>
                  <a:tcPr marL="54392" marR="54392" marT="27196" marB="2719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Runner calls the registered callback function. Passes parameters and tool context (metadata).</a:t>
                      </a:r>
                    </a:p>
                  </a:txBody>
                  <a:tcPr marL="54392" marR="54392" marT="27196" marB="2719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params = {"topic": "return policy"} </a:t>
                      </a:r>
                      <a:r>
                        <a:rPr lang="en-IN" sz="1600" noProof="0" dirty="0" err="1"/>
                        <a:t>tool_context</a:t>
                      </a:r>
                      <a:r>
                        <a:rPr lang="en-IN" sz="1600" noProof="0" dirty="0"/>
                        <a:t> includes agent name, conversation ID, etc.</a:t>
                      </a:r>
                    </a:p>
                  </a:txBody>
                  <a:tcPr marL="54392" marR="54392" marT="27196" marB="27196" anchor="ctr"/>
                </a:tc>
                <a:extLst>
                  <a:ext uri="{0D108BD9-81ED-4DB2-BD59-A6C34878D82A}">
                    <a16:rowId xmlns:a16="http://schemas.microsoft.com/office/drawing/2014/main" val="2884221783"/>
                  </a:ext>
                </a:extLst>
              </a:tr>
              <a:tr h="70709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b="1" noProof="0" dirty="0"/>
                        <a:t>5. Tool returns results</a:t>
                      </a:r>
                      <a:endParaRPr lang="en-IN" sz="1600" noProof="0" dirty="0"/>
                    </a:p>
                  </a:txBody>
                  <a:tcPr marL="54392" marR="54392" marT="27196" marB="2719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Callback function fetches the answer from knowledge base or API. Runner passes it back to the agent.</a:t>
                      </a:r>
                    </a:p>
                  </a:txBody>
                  <a:tcPr marL="54392" marR="54392" marT="27196" marB="2719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"You can return any product within 30 days of delivery."</a:t>
                      </a:r>
                    </a:p>
                  </a:txBody>
                  <a:tcPr marL="54392" marR="54392" marT="27196" marB="27196" anchor="ctr"/>
                </a:tc>
                <a:extLst>
                  <a:ext uri="{0D108BD9-81ED-4DB2-BD59-A6C34878D82A}">
                    <a16:rowId xmlns:a16="http://schemas.microsoft.com/office/drawing/2014/main" val="108269785"/>
                  </a:ext>
                </a:extLst>
              </a:tr>
              <a:tr h="54391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b="1" noProof="0" dirty="0"/>
                        <a:t>6. Agent generates final response</a:t>
                      </a:r>
                      <a:endParaRPr lang="en-IN" sz="1600" noProof="0" dirty="0"/>
                    </a:p>
                  </a:txBody>
                  <a:tcPr marL="54392" marR="54392" marT="27196" marB="2719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Agent combines tool output with conversational context and formats response for the user.</a:t>
                      </a:r>
                    </a:p>
                  </a:txBody>
                  <a:tcPr marL="54392" marR="54392" marT="27196" marB="2719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Bot: You can return any product within 30 days of delivery.</a:t>
                      </a:r>
                    </a:p>
                  </a:txBody>
                  <a:tcPr marL="54392" marR="54392" marT="27196" marB="27196" anchor="ctr"/>
                </a:tc>
                <a:extLst>
                  <a:ext uri="{0D108BD9-81ED-4DB2-BD59-A6C34878D82A}">
                    <a16:rowId xmlns:a16="http://schemas.microsoft.com/office/drawing/2014/main" val="3799751729"/>
                  </a:ext>
                </a:extLst>
              </a:tr>
              <a:tr h="54391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b="1" noProof="0" dirty="0"/>
                        <a:t>7. Optional – Logging / Analytics</a:t>
                      </a:r>
                      <a:endParaRPr lang="en-IN" sz="1600" noProof="0" dirty="0"/>
                    </a:p>
                  </a:txBody>
                  <a:tcPr marL="54392" marR="54392" marT="27196" marB="2719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Tool calls, parameters, and results can be logged for auditing, analytics, or improving accuracy.</a:t>
                      </a:r>
                    </a:p>
                  </a:txBody>
                  <a:tcPr marL="54392" marR="54392" marT="27196" marB="2719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Useful for monitoring and refining agent </a:t>
                      </a:r>
                      <a:r>
                        <a:rPr lang="en-IN" sz="1600" noProof="0" dirty="0" err="1"/>
                        <a:t>behavior</a:t>
                      </a:r>
                      <a:r>
                        <a:rPr lang="en-IN" sz="1600" noProof="0" dirty="0"/>
                        <a:t>.</a:t>
                      </a:r>
                    </a:p>
                  </a:txBody>
                  <a:tcPr marL="54392" marR="54392" marT="27196" marB="27196" anchor="ctr"/>
                </a:tc>
                <a:extLst>
                  <a:ext uri="{0D108BD9-81ED-4DB2-BD59-A6C34878D82A}">
                    <a16:rowId xmlns:a16="http://schemas.microsoft.com/office/drawing/2014/main" val="2092289236"/>
                  </a:ext>
                </a:extLst>
              </a:tr>
            </a:tbl>
          </a:graphicData>
        </a:graphic>
      </p:graphicFrame>
      <p:sp>
        <p:nvSpPr>
          <p:cNvPr id="6" name="Arrow: Right 5">
            <a:extLst>
              <a:ext uri="{FF2B5EF4-FFF2-40B4-BE49-F238E27FC236}">
                <a16:creationId xmlns:a16="http://schemas.microsoft.com/office/drawing/2014/main" id="{72A02E99-1C66-37A6-3882-03AE2D8C2B14}"/>
              </a:ext>
            </a:extLst>
          </p:cNvPr>
          <p:cNvSpPr/>
          <p:nvPr/>
        </p:nvSpPr>
        <p:spPr>
          <a:xfrm>
            <a:off x="3846064" y="388591"/>
            <a:ext cx="342027" cy="223365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noProof="0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DB40AFB-FBC0-E39A-CF82-986319084B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88091" y="124101"/>
            <a:ext cx="844598" cy="801910"/>
          </a:xfrm>
          <a:prstGeom prst="rect">
            <a:avLst/>
          </a:prstGeom>
        </p:spPr>
      </p:pic>
      <p:sp>
        <p:nvSpPr>
          <p:cNvPr id="9" name="Arrow: Right 8">
            <a:extLst>
              <a:ext uri="{FF2B5EF4-FFF2-40B4-BE49-F238E27FC236}">
                <a16:creationId xmlns:a16="http://schemas.microsoft.com/office/drawing/2014/main" id="{F6AF3259-4FE3-394B-3E71-F7FC31CDC5D6}"/>
              </a:ext>
            </a:extLst>
          </p:cNvPr>
          <p:cNvSpPr/>
          <p:nvPr/>
        </p:nvSpPr>
        <p:spPr>
          <a:xfrm>
            <a:off x="5030652" y="388590"/>
            <a:ext cx="342027" cy="223365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noProof="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92897644-0652-0866-2BAD-78AFDD6ADC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97527" y="107409"/>
            <a:ext cx="821354" cy="835293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6D7CF5C6-5AE9-C0B7-6779-09C7BE168C7F}"/>
              </a:ext>
            </a:extLst>
          </p:cNvPr>
          <p:cNvSpPr txBox="1"/>
          <p:nvPr/>
        </p:nvSpPr>
        <p:spPr>
          <a:xfrm>
            <a:off x="5372679" y="977213"/>
            <a:ext cx="844598" cy="523220"/>
          </a:xfrm>
          <a:prstGeom prst="rect">
            <a:avLst/>
          </a:prstGeom>
          <a:solidFill>
            <a:srgbClr val="7030A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sz="1400" b="1" noProof="0" dirty="0">
                <a:solidFill>
                  <a:schemeClr val="bg1"/>
                </a:solidFill>
              </a:rPr>
              <a:t>Tool call needed</a:t>
            </a:r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6B917F78-BFAD-A3F8-2F6E-AA1BED87BBE2}"/>
              </a:ext>
            </a:extLst>
          </p:cNvPr>
          <p:cNvSpPr/>
          <p:nvPr/>
        </p:nvSpPr>
        <p:spPr>
          <a:xfrm>
            <a:off x="6268324" y="388589"/>
            <a:ext cx="342027" cy="223365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noProof="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44B7DE3-E620-47A2-0A2A-7F073DB22687}"/>
              </a:ext>
            </a:extLst>
          </p:cNvPr>
          <p:cNvSpPr txBox="1"/>
          <p:nvPr/>
        </p:nvSpPr>
        <p:spPr>
          <a:xfrm>
            <a:off x="7847973" y="228036"/>
            <a:ext cx="844598" cy="523220"/>
          </a:xfrm>
          <a:prstGeom prst="rect">
            <a:avLst/>
          </a:prstGeom>
          <a:solidFill>
            <a:schemeClr val="bg2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sz="1400" b="1" noProof="0" dirty="0"/>
              <a:t>Tool </a:t>
            </a:r>
          </a:p>
          <a:p>
            <a:pPr algn="ctr"/>
            <a:r>
              <a:rPr lang="en-IN" sz="1400" b="1" noProof="0" dirty="0"/>
              <a:t>call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95F3F1D-BFF3-8DA2-A7C6-3402D2C6F0CF}"/>
              </a:ext>
            </a:extLst>
          </p:cNvPr>
          <p:cNvSpPr txBox="1"/>
          <p:nvPr/>
        </p:nvSpPr>
        <p:spPr>
          <a:xfrm>
            <a:off x="7847973" y="951227"/>
            <a:ext cx="844598" cy="523220"/>
          </a:xfrm>
          <a:prstGeom prst="rect">
            <a:avLst/>
          </a:prstGeom>
          <a:solidFill>
            <a:srgbClr val="7030A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sz="1400" b="1" noProof="0" dirty="0">
                <a:solidFill>
                  <a:schemeClr val="bg1"/>
                </a:solidFill>
              </a:rPr>
              <a:t>Returns output</a:t>
            </a: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43E84A73-9678-6695-D126-D0333650563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59794" y="65758"/>
            <a:ext cx="607036" cy="918594"/>
          </a:xfrm>
          <a:prstGeom prst="rect">
            <a:avLst/>
          </a:prstGeom>
        </p:spPr>
      </p:pic>
      <p:sp>
        <p:nvSpPr>
          <p:cNvPr id="20" name="Arrow: Right 19">
            <a:extLst>
              <a:ext uri="{FF2B5EF4-FFF2-40B4-BE49-F238E27FC236}">
                <a16:creationId xmlns:a16="http://schemas.microsoft.com/office/drawing/2014/main" id="{E773F929-1768-B679-48FF-C8A3973394FA}"/>
              </a:ext>
            </a:extLst>
          </p:cNvPr>
          <p:cNvSpPr/>
          <p:nvPr/>
        </p:nvSpPr>
        <p:spPr>
          <a:xfrm>
            <a:off x="7454949" y="367316"/>
            <a:ext cx="342027" cy="223365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noProof="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3337761-5390-F4B0-CBB5-34C4A4DEEE78}"/>
              </a:ext>
            </a:extLst>
          </p:cNvPr>
          <p:cNvSpPr txBox="1"/>
          <p:nvPr/>
        </p:nvSpPr>
        <p:spPr>
          <a:xfrm>
            <a:off x="6556355" y="997677"/>
            <a:ext cx="844598" cy="307777"/>
          </a:xfrm>
          <a:prstGeom prst="rect">
            <a:avLst/>
          </a:prstGeom>
          <a:solidFill>
            <a:schemeClr val="bg2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sz="1400" b="1" noProof="0" dirty="0"/>
              <a:t>Runner</a:t>
            </a: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C9E5AFFB-85F3-C732-EC58-C443942C4D3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15496" y="78043"/>
            <a:ext cx="844598" cy="801910"/>
          </a:xfrm>
          <a:prstGeom prst="rect">
            <a:avLst/>
          </a:prstGeom>
        </p:spPr>
      </p:pic>
      <p:sp>
        <p:nvSpPr>
          <p:cNvPr id="23" name="Arrow: Right 22">
            <a:extLst>
              <a:ext uri="{FF2B5EF4-FFF2-40B4-BE49-F238E27FC236}">
                <a16:creationId xmlns:a16="http://schemas.microsoft.com/office/drawing/2014/main" id="{F7E0A9DC-6300-21A4-0341-6595A38B119B}"/>
              </a:ext>
            </a:extLst>
          </p:cNvPr>
          <p:cNvSpPr/>
          <p:nvPr/>
        </p:nvSpPr>
        <p:spPr>
          <a:xfrm>
            <a:off x="8773469" y="377963"/>
            <a:ext cx="342027" cy="223365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noProof="0" dirty="0"/>
          </a:p>
        </p:txBody>
      </p:sp>
      <p:sp>
        <p:nvSpPr>
          <p:cNvPr id="24" name="Arrow: Right 23">
            <a:extLst>
              <a:ext uri="{FF2B5EF4-FFF2-40B4-BE49-F238E27FC236}">
                <a16:creationId xmlns:a16="http://schemas.microsoft.com/office/drawing/2014/main" id="{83F2B870-DD8B-16B1-1058-840D829A84EC}"/>
              </a:ext>
            </a:extLst>
          </p:cNvPr>
          <p:cNvSpPr/>
          <p:nvPr/>
        </p:nvSpPr>
        <p:spPr>
          <a:xfrm>
            <a:off x="10032427" y="367315"/>
            <a:ext cx="342027" cy="223365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noProof="0" dirty="0"/>
          </a:p>
        </p:txBody>
      </p:sp>
      <p:pic>
        <p:nvPicPr>
          <p:cNvPr id="26" name="Graphic 25">
            <a:extLst>
              <a:ext uri="{FF2B5EF4-FFF2-40B4-BE49-F238E27FC236}">
                <a16:creationId xmlns:a16="http://schemas.microsoft.com/office/drawing/2014/main" id="{93A19F35-FCAC-0A4E-A3A0-DB378ACDE26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  <a:ext uri="{837473B0-CC2E-450A-ABE3-18F120FF3D39}">
                <a1611:picAttrSrcUrl xmlns:a1611="http://schemas.microsoft.com/office/drawing/2016/11/main" r:id="rId7"/>
              </a:ext>
            </a:extLst>
          </a:blip>
          <a:stretch>
            <a:fillRect/>
          </a:stretch>
        </p:blipFill>
        <p:spPr>
          <a:xfrm>
            <a:off x="3264757" y="124101"/>
            <a:ext cx="526693" cy="1054004"/>
          </a:xfrm>
          <a:prstGeom prst="rect">
            <a:avLst/>
          </a:prstGeom>
        </p:spPr>
      </p:pic>
      <p:pic>
        <p:nvPicPr>
          <p:cNvPr id="27" name="Graphic 26">
            <a:extLst>
              <a:ext uri="{FF2B5EF4-FFF2-40B4-BE49-F238E27FC236}">
                <a16:creationId xmlns:a16="http://schemas.microsoft.com/office/drawing/2014/main" id="{683C9539-FF2D-A546-11BB-410DBFE3DE5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  <a:ext uri="{837473B0-CC2E-450A-ABE3-18F120FF3D39}">
                <a1611:picAttrSrcUrl xmlns:a1611="http://schemas.microsoft.com/office/drawing/2016/11/main" r:id="rId7"/>
              </a:ext>
            </a:extLst>
          </a:blip>
          <a:stretch>
            <a:fillRect/>
          </a:stretch>
        </p:blipFill>
        <p:spPr>
          <a:xfrm>
            <a:off x="10437469" y="90848"/>
            <a:ext cx="526693" cy="10540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7799675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BB6773-F51B-24A1-A43E-444D087F1A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3856" y="80842"/>
            <a:ext cx="10515600" cy="639614"/>
          </a:xfrm>
        </p:spPr>
        <p:txBody>
          <a:bodyPr>
            <a:normAutofit fontScale="90000"/>
          </a:bodyPr>
          <a:lstStyle/>
          <a:p>
            <a:r>
              <a:rPr lang="en-IN" noProof="0" dirty="0"/>
              <a:t>Function (Tool) Calling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ECFC0D-BDA4-3086-CACB-D602D8BE027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EEF4B2D-B96C-5E8D-8A33-E283CF955E49}"/>
              </a:ext>
            </a:extLst>
          </p:cNvPr>
          <p:cNvSpPr txBox="1"/>
          <p:nvPr/>
        </p:nvSpPr>
        <p:spPr>
          <a:xfrm>
            <a:off x="1298309" y="720456"/>
            <a:ext cx="6282136" cy="249299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IN" b="1" noProof="0" dirty="0"/>
              <a:t>Step 1: Write the actual function</a:t>
            </a:r>
            <a:endParaRPr lang="en-IN" sz="1200" b="1" noProof="0" dirty="0"/>
          </a:p>
          <a:p>
            <a:endParaRPr lang="en-IN" sz="1200" noProof="0" dirty="0"/>
          </a:p>
          <a:p>
            <a:r>
              <a:rPr lang="en-IN" b="1" noProof="0" dirty="0">
                <a:solidFill>
                  <a:srgbClr val="FF0000"/>
                </a:solidFill>
              </a:rPr>
              <a:t>@function_tool</a:t>
            </a:r>
          </a:p>
          <a:p>
            <a:r>
              <a:rPr lang="en-US" dirty="0"/>
              <a:t>async def </a:t>
            </a:r>
            <a:r>
              <a:rPr lang="en-US" dirty="0" err="1"/>
              <a:t>add_numbers</a:t>
            </a:r>
            <a:r>
              <a:rPr lang="en-US" dirty="0"/>
              <a:t>(a: float, b: float) -&gt; float:</a:t>
            </a:r>
          </a:p>
          <a:p>
            <a:r>
              <a:rPr lang="en-US" b="1" dirty="0">
                <a:solidFill>
                  <a:srgbClr val="7030A0"/>
                </a:solidFill>
              </a:rPr>
              <a:t>    """</a:t>
            </a:r>
          </a:p>
          <a:p>
            <a:r>
              <a:rPr lang="en-US" b="1" dirty="0">
                <a:solidFill>
                  <a:srgbClr val="7030A0"/>
                </a:solidFill>
              </a:rPr>
              <a:t>    Add two numbers and return the result.</a:t>
            </a:r>
          </a:p>
          <a:p>
            <a:r>
              <a:rPr lang="en-US" b="1" dirty="0">
                <a:solidFill>
                  <a:srgbClr val="7030A0"/>
                </a:solidFill>
              </a:rPr>
              <a:t>    """</a:t>
            </a:r>
          </a:p>
          <a:p>
            <a:r>
              <a:rPr lang="en-US" dirty="0"/>
              <a:t>    return a + b</a:t>
            </a:r>
            <a:endParaRPr lang="en-IN" noProof="0" dirty="0"/>
          </a:p>
          <a:p>
            <a:r>
              <a:rPr lang="en-IN" noProof="0" dirty="0"/>
              <a:t>   </a:t>
            </a:r>
            <a:endParaRPr lang="en-IN" sz="1200" noProof="0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B6B1585-4EBB-CE30-32FE-FFA9B1095CDF}"/>
              </a:ext>
            </a:extLst>
          </p:cNvPr>
          <p:cNvSpPr txBox="1"/>
          <p:nvPr/>
        </p:nvSpPr>
        <p:spPr>
          <a:xfrm>
            <a:off x="1298309" y="3571207"/>
            <a:ext cx="6282136" cy="2769989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IN" b="1" noProof="0" dirty="0"/>
              <a:t>Step 2: Define the Agent with the Tool</a:t>
            </a:r>
            <a:endParaRPr lang="en-IN" sz="1200" b="1" noProof="0" dirty="0"/>
          </a:p>
          <a:p>
            <a:endParaRPr lang="en-IN" sz="1200" noProof="0" dirty="0"/>
          </a:p>
          <a:p>
            <a:r>
              <a:rPr lang="en-IN" noProof="0" dirty="0" err="1"/>
              <a:t>adder_agent</a:t>
            </a:r>
            <a:r>
              <a:rPr lang="en-IN" noProof="0" dirty="0"/>
              <a:t> = Agent(</a:t>
            </a:r>
          </a:p>
          <a:p>
            <a:r>
              <a:rPr lang="en-IN" noProof="0" dirty="0"/>
              <a:t>    name=“Adder Bot",</a:t>
            </a:r>
          </a:p>
          <a:p>
            <a:r>
              <a:rPr lang="en-IN" noProof="0" dirty="0"/>
              <a:t>    instructions=(</a:t>
            </a:r>
          </a:p>
          <a:p>
            <a:r>
              <a:rPr lang="en-IN" noProof="0" dirty="0"/>
              <a:t>        "You are a helpful customer support adder assistant. "</a:t>
            </a:r>
          </a:p>
          <a:p>
            <a:r>
              <a:rPr lang="en-IN" noProof="0" dirty="0"/>
              <a:t>        “Perform</a:t>
            </a:r>
            <a:r>
              <a:rPr lang="en-IN" dirty="0"/>
              <a:t> the addition when the user instructs.</a:t>
            </a:r>
            <a:r>
              <a:rPr lang="en-IN" noProof="0" dirty="0"/>
              <a:t>"</a:t>
            </a:r>
          </a:p>
          <a:p>
            <a:r>
              <a:rPr lang="en-IN" noProof="0" dirty="0"/>
              <a:t>    ),</a:t>
            </a:r>
          </a:p>
          <a:p>
            <a:r>
              <a:rPr lang="en-IN" noProof="0" dirty="0"/>
              <a:t>    </a:t>
            </a:r>
            <a:r>
              <a:rPr lang="en-IN" b="1" noProof="0" dirty="0">
                <a:solidFill>
                  <a:srgbClr val="FF0000"/>
                </a:solidFill>
              </a:rPr>
              <a:t>tools</a:t>
            </a:r>
            <a:r>
              <a:rPr lang="en-IN" noProof="0" dirty="0"/>
              <a:t>=[</a:t>
            </a:r>
            <a:r>
              <a:rPr lang="en-IN" noProof="0" dirty="0" err="1"/>
              <a:t>add_numbers</a:t>
            </a:r>
            <a:r>
              <a:rPr lang="en-IN" noProof="0" dirty="0"/>
              <a:t>]</a:t>
            </a:r>
          </a:p>
          <a:p>
            <a:r>
              <a:rPr lang="en-IN" noProof="0" dirty="0"/>
              <a:t>)</a:t>
            </a:r>
            <a:endParaRPr lang="en-IN" sz="1200" noProof="0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0011EE0-0D8B-5BAE-A811-6B3D07E5BDEA}"/>
              </a:ext>
            </a:extLst>
          </p:cNvPr>
          <p:cNvSpPr txBox="1"/>
          <p:nvPr/>
        </p:nvSpPr>
        <p:spPr>
          <a:xfrm>
            <a:off x="5551257" y="1899804"/>
            <a:ext cx="4793331" cy="646331"/>
          </a:xfrm>
          <a:prstGeom prst="rect">
            <a:avLst/>
          </a:prstGeom>
          <a:solidFill>
            <a:schemeClr val="accent3"/>
          </a:solidFill>
        </p:spPr>
        <p:txBody>
          <a:bodyPr wrap="square" rtlCol="0">
            <a:spAutoFit/>
          </a:bodyPr>
          <a:lstStyle/>
          <a:p>
            <a:r>
              <a:rPr lang="en-IN" dirty="0"/>
              <a:t>Provide very clear docstring – the agent uses this to decide whether to make a tool call</a:t>
            </a:r>
            <a:endParaRPr lang="en-GB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E73097EE-81AE-D8AE-889B-DB2D293FB274}"/>
              </a:ext>
            </a:extLst>
          </p:cNvPr>
          <p:cNvCxnSpPr/>
          <p:nvPr/>
        </p:nvCxnSpPr>
        <p:spPr>
          <a:xfrm flipH="1">
            <a:off x="593313" y="5863328"/>
            <a:ext cx="865539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0EA21EC-2FB0-E20F-8F1B-9578C937A6D5}"/>
              </a:ext>
            </a:extLst>
          </p:cNvPr>
          <p:cNvCxnSpPr>
            <a:cxnSpLocks/>
          </p:cNvCxnSpPr>
          <p:nvPr/>
        </p:nvCxnSpPr>
        <p:spPr>
          <a:xfrm flipV="1">
            <a:off x="586333" y="1354150"/>
            <a:ext cx="0" cy="4523139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5E11FC61-9D37-F68F-6FCF-BFB7F05122A0}"/>
              </a:ext>
            </a:extLst>
          </p:cNvPr>
          <p:cNvCxnSpPr>
            <a:cxnSpLocks/>
          </p:cNvCxnSpPr>
          <p:nvPr/>
        </p:nvCxnSpPr>
        <p:spPr>
          <a:xfrm>
            <a:off x="586333" y="1354150"/>
            <a:ext cx="781777" cy="0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91050269"/>
      </p:ext>
    </p:extLst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126141-D485-A77F-5012-5F1A80BCF6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IN" sz="3200" dirty="0" err="1"/>
              <a:t>LlamaIndex</a:t>
            </a:r>
            <a:r>
              <a:rPr lang="en-IN" sz="3200" dirty="0"/>
              <a:t> (</a:t>
            </a:r>
            <a:r>
              <a:rPr lang="it-IT" sz="3200" dirty="0"/>
              <a:t>C:\code\agenticai\9_general\rag\rag_7_llamaindex.py)</a:t>
            </a:r>
            <a:endParaRPr lang="en-GB" sz="32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6C947F-BE08-79CC-260B-93BA2A75CAE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Framework for connecting Large Language Models (LLMs) to our own data in a structured, reliable way</a:t>
            </a:r>
          </a:p>
          <a:p>
            <a:r>
              <a:rPr lang="en-US" dirty="0"/>
              <a:t>Sits between </a:t>
            </a:r>
            <a:r>
              <a:rPr lang="en-US" b="1" dirty="0"/>
              <a:t>raw data</a:t>
            </a:r>
            <a:r>
              <a:rPr lang="en-US" dirty="0"/>
              <a:t> and </a:t>
            </a:r>
            <a:r>
              <a:rPr lang="en-US" b="1" dirty="0"/>
              <a:t>LLMs</a:t>
            </a:r>
            <a:r>
              <a:rPr lang="en-US" dirty="0"/>
              <a:t>, turning data into something models can actually use</a:t>
            </a:r>
          </a:p>
        </p:txBody>
      </p:sp>
      <p:graphicFrame>
        <p:nvGraphicFramePr>
          <p:cNvPr id="5" name="Content Placeholder 3">
            <a:extLst>
              <a:ext uri="{FF2B5EF4-FFF2-40B4-BE49-F238E27FC236}">
                <a16:creationId xmlns:a16="http://schemas.microsoft.com/office/drawing/2014/main" id="{4AA757E2-178F-A3A1-0026-6D174AE21D93}"/>
              </a:ext>
            </a:extLst>
          </p:cNvPr>
          <p:cNvGraphicFramePr>
            <a:graphicFrameLocks/>
          </p:cNvGraphicFramePr>
          <p:nvPr/>
        </p:nvGraphicFramePr>
        <p:xfrm>
          <a:off x="949883" y="3591603"/>
          <a:ext cx="9531977" cy="2392680"/>
        </p:xfrm>
        <a:graphic>
          <a:graphicData uri="http://schemas.openxmlformats.org/drawingml/2006/table">
            <a:tbl>
              <a:tblPr firstRow="1" bandRow="1">
                <a:tableStyleId>{72833802-FEF1-4C79-8D5D-14CF1EAF98D9}</a:tableStyleId>
              </a:tblPr>
              <a:tblGrid>
                <a:gridCol w="1960841">
                  <a:extLst>
                    <a:ext uri="{9D8B030D-6E8A-4147-A177-3AD203B41FA5}">
                      <a16:colId xmlns:a16="http://schemas.microsoft.com/office/drawing/2014/main" val="1840395850"/>
                    </a:ext>
                  </a:extLst>
                </a:gridCol>
                <a:gridCol w="7571136">
                  <a:extLst>
                    <a:ext uri="{9D8B030D-6E8A-4147-A177-3AD203B41FA5}">
                      <a16:colId xmlns:a16="http://schemas.microsoft.com/office/drawing/2014/main" val="176761619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IN" dirty="0"/>
                        <a:t>Aspect</a:t>
                      </a:r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Details</a:t>
                      </a:r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319018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dirty="0"/>
                        <a:t>Ingestion</a:t>
                      </a:r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We load our data (PDFs, Text files, Databases etc) into </a:t>
                      </a:r>
                      <a:r>
                        <a:rPr lang="en-IN" dirty="0" err="1"/>
                        <a:t>LlamaIndex</a:t>
                      </a:r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5012944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dirty="0"/>
                        <a:t>Indexing</a:t>
                      </a:r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Breaks our data into chunks and creates searchable indexes, often using vector embeddings</a:t>
                      </a:r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6569695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dirty="0"/>
                        <a:t>Querying</a:t>
                      </a:r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When we ask a question, </a:t>
                      </a:r>
                      <a:r>
                        <a:rPr lang="en-US" dirty="0" err="1"/>
                        <a:t>LlamaIndex</a:t>
                      </a:r>
                      <a:r>
                        <a:rPr lang="en-US" dirty="0"/>
                        <a:t> finds the most relevant chunks from our data and sends them to the LLM along with our question</a:t>
                      </a:r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7079243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dirty="0"/>
                        <a:t>Response</a:t>
                      </a:r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LLM answers the question based on our actual data, not just its training</a:t>
                      </a:r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3593917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93947890"/>
      </p:ext>
    </p:extLst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5A9A20-5CBB-0C13-E221-81960AB98E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 err="1"/>
              <a:t>ChromaDB</a:t>
            </a:r>
            <a:r>
              <a:rPr lang="en-IN" dirty="0"/>
              <a:t> Versus </a:t>
            </a:r>
            <a:r>
              <a:rPr lang="en-IN" dirty="0" err="1"/>
              <a:t>LlamaIndex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30260A-A14D-DCC6-107F-91DE4B97904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Basic difference</a:t>
            </a:r>
          </a:p>
          <a:p>
            <a:endParaRPr lang="en-IN" dirty="0"/>
          </a:p>
          <a:p>
            <a:r>
              <a:rPr lang="en-IN" dirty="0"/>
              <a:t>Their position in RAG stack</a:t>
            </a:r>
            <a:endParaRPr lang="en-GB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0E2DEDF6-63D3-E386-A148-C62DAEDBFFF5}"/>
              </a:ext>
            </a:extLst>
          </p:cNvPr>
          <p:cNvGraphicFramePr>
            <a:graphicFrameLocks noGrp="1"/>
          </p:cNvGraphicFramePr>
          <p:nvPr/>
        </p:nvGraphicFramePr>
        <p:xfrm>
          <a:off x="3979269" y="1372568"/>
          <a:ext cx="7845110" cy="1097280"/>
        </p:xfrm>
        <a:graphic>
          <a:graphicData uri="http://schemas.openxmlformats.org/drawingml/2006/table">
            <a:tbl>
              <a:tblPr firstRow="1"/>
              <a:tblGrid>
                <a:gridCol w="1639755">
                  <a:extLst>
                    <a:ext uri="{9D8B030D-6E8A-4147-A177-3AD203B41FA5}">
                      <a16:colId xmlns:a16="http://schemas.microsoft.com/office/drawing/2014/main" val="2926125454"/>
                    </a:ext>
                  </a:extLst>
                </a:gridCol>
                <a:gridCol w="6205355">
                  <a:extLst>
                    <a:ext uri="{9D8B030D-6E8A-4147-A177-3AD203B41FA5}">
                      <a16:colId xmlns:a16="http://schemas.microsoft.com/office/drawing/2014/main" val="203577845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b="1" dirty="0"/>
                        <a:t>Tool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b="1" dirty="0"/>
                        <a:t>What it is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35538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b="1"/>
                        <a:t>ChromaDB</a:t>
                      </a:r>
                      <a:endParaRPr lang="en-GB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A </a:t>
                      </a:r>
                      <a:r>
                        <a:rPr lang="en-US" b="1" dirty="0"/>
                        <a:t>vector database</a:t>
                      </a:r>
                      <a:r>
                        <a:rPr lang="en-US" dirty="0"/>
                        <a:t> (storage + similarity search) = Library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4714265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b="1"/>
                        <a:t>LlamaIndex</a:t>
                      </a:r>
                      <a:endParaRPr lang="en-GB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/>
                        <a:t>A </a:t>
                      </a:r>
                      <a:r>
                        <a:rPr lang="en-GB" b="1" dirty="0"/>
                        <a:t>RAG framework</a:t>
                      </a:r>
                      <a:r>
                        <a:rPr lang="en-GB" dirty="0"/>
                        <a:t> (ingestion → retrieval → synthesis) = Librarian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06345336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02D765D6-DFB9-C23B-A9AC-5952CDBEEA5E}"/>
              </a:ext>
            </a:extLst>
          </p:cNvPr>
          <p:cNvSpPr txBox="1"/>
          <p:nvPr/>
        </p:nvSpPr>
        <p:spPr>
          <a:xfrm>
            <a:off x="244305" y="3561623"/>
            <a:ext cx="1389051" cy="369332"/>
          </a:xfrm>
          <a:prstGeom prst="rect">
            <a:avLst/>
          </a:prstGeom>
          <a:solidFill>
            <a:schemeClr val="accent4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b="1" dirty="0"/>
              <a:t>Documents</a:t>
            </a:r>
            <a:endParaRPr lang="en-GB" b="1" dirty="0"/>
          </a:p>
        </p:txBody>
      </p:sp>
      <p:sp>
        <p:nvSpPr>
          <p:cNvPr id="6" name="Arrow: Right 5">
            <a:extLst>
              <a:ext uri="{FF2B5EF4-FFF2-40B4-BE49-F238E27FC236}">
                <a16:creationId xmlns:a16="http://schemas.microsoft.com/office/drawing/2014/main" id="{86C7F5DC-DC2E-4E06-8647-A05695A36224}"/>
              </a:ext>
            </a:extLst>
          </p:cNvPr>
          <p:cNvSpPr/>
          <p:nvPr/>
        </p:nvSpPr>
        <p:spPr>
          <a:xfrm>
            <a:off x="1619396" y="3722165"/>
            <a:ext cx="328067" cy="90742"/>
          </a:xfrm>
          <a:prstGeom prst="rightArrow">
            <a:avLst/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AD335DD-1588-277F-248E-DEA0A81393A0}"/>
              </a:ext>
            </a:extLst>
          </p:cNvPr>
          <p:cNvSpPr txBox="1"/>
          <p:nvPr/>
        </p:nvSpPr>
        <p:spPr>
          <a:xfrm>
            <a:off x="1933503" y="3561623"/>
            <a:ext cx="1389051" cy="369332"/>
          </a:xfrm>
          <a:prstGeom prst="rect">
            <a:avLst/>
          </a:prstGeom>
          <a:solidFill>
            <a:schemeClr val="accent4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b="1" dirty="0"/>
              <a:t>Chunking</a:t>
            </a:r>
            <a:endParaRPr lang="en-GB" b="1" dirty="0"/>
          </a:p>
        </p:txBody>
      </p:sp>
      <p:sp>
        <p:nvSpPr>
          <p:cNvPr id="9" name="Arrow: Right 8">
            <a:extLst>
              <a:ext uri="{FF2B5EF4-FFF2-40B4-BE49-F238E27FC236}">
                <a16:creationId xmlns:a16="http://schemas.microsoft.com/office/drawing/2014/main" id="{9DFA3A93-3D3F-15B5-E2A5-1E93B7447EAC}"/>
              </a:ext>
            </a:extLst>
          </p:cNvPr>
          <p:cNvSpPr/>
          <p:nvPr/>
        </p:nvSpPr>
        <p:spPr>
          <a:xfrm>
            <a:off x="3308594" y="3722165"/>
            <a:ext cx="328067" cy="90742"/>
          </a:xfrm>
          <a:prstGeom prst="rightArrow">
            <a:avLst/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1038CA1-F677-53AF-0407-1F38DA76D01E}"/>
              </a:ext>
            </a:extLst>
          </p:cNvPr>
          <p:cNvSpPr txBox="1"/>
          <p:nvPr/>
        </p:nvSpPr>
        <p:spPr>
          <a:xfrm>
            <a:off x="3629681" y="3561623"/>
            <a:ext cx="1389051" cy="369332"/>
          </a:xfrm>
          <a:prstGeom prst="rect">
            <a:avLst/>
          </a:prstGeom>
          <a:solidFill>
            <a:schemeClr val="accent4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b="1" dirty="0"/>
              <a:t>Embedding</a:t>
            </a:r>
            <a:endParaRPr lang="en-GB" b="1" dirty="0"/>
          </a:p>
        </p:txBody>
      </p:sp>
      <p:sp>
        <p:nvSpPr>
          <p:cNvPr id="11" name="Arrow: Right 10">
            <a:extLst>
              <a:ext uri="{FF2B5EF4-FFF2-40B4-BE49-F238E27FC236}">
                <a16:creationId xmlns:a16="http://schemas.microsoft.com/office/drawing/2014/main" id="{B86DB45E-FBA1-13A2-D2BC-A89ADF293D57}"/>
              </a:ext>
            </a:extLst>
          </p:cNvPr>
          <p:cNvSpPr/>
          <p:nvPr/>
        </p:nvSpPr>
        <p:spPr>
          <a:xfrm>
            <a:off x="5004772" y="3722165"/>
            <a:ext cx="328067" cy="90742"/>
          </a:xfrm>
          <a:prstGeom prst="rightArrow">
            <a:avLst/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93007F0-F2E3-06E8-E58C-C0AFA5BE7E97}"/>
              </a:ext>
            </a:extLst>
          </p:cNvPr>
          <p:cNvSpPr txBox="1"/>
          <p:nvPr/>
        </p:nvSpPr>
        <p:spPr>
          <a:xfrm>
            <a:off x="5325859" y="3303360"/>
            <a:ext cx="1389051" cy="923330"/>
          </a:xfrm>
          <a:prstGeom prst="rect">
            <a:avLst/>
          </a:prstGeom>
          <a:solidFill>
            <a:srgbClr val="C000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b="1" dirty="0">
                <a:solidFill>
                  <a:schemeClr val="bg1"/>
                </a:solidFill>
              </a:rPr>
              <a:t>Vector Storage and Search</a:t>
            </a:r>
            <a:endParaRPr lang="en-GB" b="1" dirty="0">
              <a:solidFill>
                <a:schemeClr val="bg1"/>
              </a:solidFill>
            </a:endParaRPr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50FA6AE1-8263-DA30-C826-A912C853AC1E}"/>
              </a:ext>
            </a:extLst>
          </p:cNvPr>
          <p:cNvSpPr/>
          <p:nvPr/>
        </p:nvSpPr>
        <p:spPr>
          <a:xfrm>
            <a:off x="6707930" y="3722165"/>
            <a:ext cx="328067" cy="90742"/>
          </a:xfrm>
          <a:prstGeom prst="rightArrow">
            <a:avLst/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47617AC-E845-0FAA-4F74-F37FFBB037FE}"/>
              </a:ext>
            </a:extLst>
          </p:cNvPr>
          <p:cNvSpPr txBox="1"/>
          <p:nvPr/>
        </p:nvSpPr>
        <p:spPr>
          <a:xfrm>
            <a:off x="7022037" y="3429000"/>
            <a:ext cx="1389051" cy="646331"/>
          </a:xfrm>
          <a:prstGeom prst="rect">
            <a:avLst/>
          </a:prstGeom>
          <a:solidFill>
            <a:schemeClr val="accent4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b="1" dirty="0"/>
              <a:t>Retrieval Logic</a:t>
            </a:r>
            <a:endParaRPr lang="en-GB" b="1" dirty="0"/>
          </a:p>
        </p:txBody>
      </p:sp>
      <p:sp>
        <p:nvSpPr>
          <p:cNvPr id="15" name="Arrow: Right 14">
            <a:extLst>
              <a:ext uri="{FF2B5EF4-FFF2-40B4-BE49-F238E27FC236}">
                <a16:creationId xmlns:a16="http://schemas.microsoft.com/office/drawing/2014/main" id="{F3F0AF6D-3A2E-CFF6-E837-D2A0DEA6DD95}"/>
              </a:ext>
            </a:extLst>
          </p:cNvPr>
          <p:cNvSpPr/>
          <p:nvPr/>
        </p:nvSpPr>
        <p:spPr>
          <a:xfrm>
            <a:off x="8404108" y="3722165"/>
            <a:ext cx="328067" cy="90742"/>
          </a:xfrm>
          <a:prstGeom prst="rightArrow">
            <a:avLst/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328F66C-3F56-20BC-D002-70A879C0D5CC}"/>
              </a:ext>
            </a:extLst>
          </p:cNvPr>
          <p:cNvSpPr txBox="1"/>
          <p:nvPr/>
        </p:nvSpPr>
        <p:spPr>
          <a:xfrm>
            <a:off x="8718215" y="3429000"/>
            <a:ext cx="1444310" cy="646331"/>
          </a:xfrm>
          <a:prstGeom prst="rect">
            <a:avLst/>
          </a:prstGeom>
          <a:solidFill>
            <a:schemeClr val="accent4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b="1" dirty="0"/>
              <a:t>Prompt Construction</a:t>
            </a:r>
            <a:endParaRPr lang="en-GB" b="1" dirty="0"/>
          </a:p>
        </p:txBody>
      </p:sp>
      <p:sp>
        <p:nvSpPr>
          <p:cNvPr id="17" name="Arrow: Right 16">
            <a:extLst>
              <a:ext uri="{FF2B5EF4-FFF2-40B4-BE49-F238E27FC236}">
                <a16:creationId xmlns:a16="http://schemas.microsoft.com/office/drawing/2014/main" id="{ABD32448-3409-EB2B-D48C-40BBF68BFBDE}"/>
              </a:ext>
            </a:extLst>
          </p:cNvPr>
          <p:cNvSpPr/>
          <p:nvPr/>
        </p:nvSpPr>
        <p:spPr>
          <a:xfrm>
            <a:off x="10162525" y="3722165"/>
            <a:ext cx="328067" cy="90742"/>
          </a:xfrm>
          <a:prstGeom prst="rightArrow">
            <a:avLst/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FB36E66-FDDA-D41C-9FA9-0106023F3F90}"/>
              </a:ext>
            </a:extLst>
          </p:cNvPr>
          <p:cNvSpPr txBox="1"/>
          <p:nvPr/>
        </p:nvSpPr>
        <p:spPr>
          <a:xfrm>
            <a:off x="10490592" y="3429000"/>
            <a:ext cx="1444310" cy="646331"/>
          </a:xfrm>
          <a:prstGeom prst="rect">
            <a:avLst/>
          </a:prstGeom>
          <a:solidFill>
            <a:srgbClr val="C00000"/>
          </a:solidFill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b="1">
                <a:solidFill>
                  <a:schemeClr val="bg1"/>
                </a:solidFill>
              </a:defRPr>
            </a:lvl1pPr>
          </a:lstStyle>
          <a:p>
            <a:r>
              <a:rPr lang="en-IN" dirty="0"/>
              <a:t>LLM Answer Synthesis</a:t>
            </a:r>
            <a:endParaRPr lang="en-GB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373B70E-039A-88F1-C78F-CBC3F33A5CE9}"/>
              </a:ext>
            </a:extLst>
          </p:cNvPr>
          <p:cNvSpPr txBox="1"/>
          <p:nvPr/>
        </p:nvSpPr>
        <p:spPr>
          <a:xfrm>
            <a:off x="5325859" y="4271856"/>
            <a:ext cx="1389051" cy="646331"/>
          </a:xfrm>
          <a:prstGeom prst="rect">
            <a:avLst/>
          </a:prstGeom>
          <a:solidFill>
            <a:schemeClr val="bg2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dirty="0" err="1"/>
              <a:t>ChromaDB</a:t>
            </a:r>
            <a:r>
              <a:rPr lang="en-IN" dirty="0"/>
              <a:t> is here</a:t>
            </a:r>
            <a:endParaRPr lang="en-GB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04F13DA-7984-D318-C2D3-794779852EF5}"/>
              </a:ext>
            </a:extLst>
          </p:cNvPr>
          <p:cNvSpPr txBox="1"/>
          <p:nvPr/>
        </p:nvSpPr>
        <p:spPr>
          <a:xfrm>
            <a:off x="10490592" y="4277673"/>
            <a:ext cx="1389051" cy="646331"/>
          </a:xfrm>
          <a:prstGeom prst="rect">
            <a:avLst/>
          </a:prstGeom>
          <a:solidFill>
            <a:schemeClr val="bg2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dirty="0" err="1"/>
              <a:t>LLamaIndex</a:t>
            </a:r>
            <a:r>
              <a:rPr lang="en-IN" dirty="0"/>
              <a:t> is here</a:t>
            </a:r>
            <a:endParaRPr lang="en-GB" dirty="0"/>
          </a:p>
        </p:txBody>
      </p:sp>
      <p:graphicFrame>
        <p:nvGraphicFramePr>
          <p:cNvPr id="21" name="Table 20">
            <a:extLst>
              <a:ext uri="{FF2B5EF4-FFF2-40B4-BE49-F238E27FC236}">
                <a16:creationId xmlns:a16="http://schemas.microsoft.com/office/drawing/2014/main" id="{380B991A-2F12-DC3C-8667-1CFCE66C2CC2}"/>
              </a:ext>
            </a:extLst>
          </p:cNvPr>
          <p:cNvGraphicFramePr>
            <a:graphicFrameLocks noGrp="1"/>
          </p:cNvGraphicFramePr>
          <p:nvPr/>
        </p:nvGraphicFramePr>
        <p:xfrm>
          <a:off x="743679" y="5123306"/>
          <a:ext cx="11080700" cy="1645920"/>
        </p:xfrm>
        <a:graphic>
          <a:graphicData uri="http://schemas.openxmlformats.org/drawingml/2006/table">
            <a:tbl>
              <a:tblPr firstRow="1"/>
              <a:tblGrid>
                <a:gridCol w="1293170">
                  <a:extLst>
                    <a:ext uri="{9D8B030D-6E8A-4147-A177-3AD203B41FA5}">
                      <a16:colId xmlns:a16="http://schemas.microsoft.com/office/drawing/2014/main" val="2926125454"/>
                    </a:ext>
                  </a:extLst>
                </a:gridCol>
                <a:gridCol w="3079603">
                  <a:extLst>
                    <a:ext uri="{9D8B030D-6E8A-4147-A177-3AD203B41FA5}">
                      <a16:colId xmlns:a16="http://schemas.microsoft.com/office/drawing/2014/main" val="2035778452"/>
                    </a:ext>
                  </a:extLst>
                </a:gridCol>
                <a:gridCol w="6707927">
                  <a:extLst>
                    <a:ext uri="{9D8B030D-6E8A-4147-A177-3AD203B41FA5}">
                      <a16:colId xmlns:a16="http://schemas.microsoft.com/office/drawing/2014/main" val="361509772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b="1" dirty="0"/>
                        <a:t>Tool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b="1" dirty="0"/>
                        <a:t>What it is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dirty="0"/>
                        <a:t>What it does NOT do</a:t>
                      </a:r>
                      <a:endParaRPr lang="en-GB" b="1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35538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b="1"/>
                        <a:t>ChromaDB</a:t>
                      </a:r>
                      <a:endParaRPr lang="en-GB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Vector storage + Search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Chunking, Deciding retrieval strategies, Construct prompts, talk to LLMs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4714265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b="1"/>
                        <a:t>LlamaIndex</a:t>
                      </a:r>
                      <a:endParaRPr lang="en-GB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/>
                        <a:t>Retrieval + Prompt construction + LLM interaction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Scale vector storage like a DB, Replace dedicated vector DBs</a:t>
                      </a:r>
                      <a:endParaRPr lang="en-GB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0634533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4809977"/>
      </p:ext>
    </p:extLst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84E1C8-24C5-26BD-1B70-FA0AAEB232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Combining </a:t>
            </a:r>
            <a:r>
              <a:rPr lang="en-IN" dirty="0" err="1"/>
              <a:t>LlamaIndex</a:t>
            </a:r>
            <a:r>
              <a:rPr lang="en-IN" dirty="0"/>
              <a:t> and </a:t>
            </a:r>
            <a:r>
              <a:rPr lang="en-IN" dirty="0" err="1"/>
              <a:t>ChromaDB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671FFA-1072-109A-56AC-726BC34643F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C:\code\agenticai\9_general\rag\rag_8_chroma_db_with_llamaindex.py</a:t>
            </a:r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r>
              <a:rPr lang="en-IN" dirty="0"/>
              <a:t>Note: We did not configure embeddings – </a:t>
            </a:r>
            <a:r>
              <a:rPr lang="en-IN" dirty="0" err="1"/>
              <a:t>LllamaIndex</a:t>
            </a:r>
            <a:r>
              <a:rPr lang="en-IN" dirty="0"/>
              <a:t> handles them</a:t>
            </a:r>
          </a:p>
          <a:p>
            <a:endParaRPr lang="en-GB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C47D762-2B86-7444-378C-2401F535EE72}"/>
              </a:ext>
            </a:extLst>
          </p:cNvPr>
          <p:cNvSpPr txBox="1"/>
          <p:nvPr/>
        </p:nvSpPr>
        <p:spPr>
          <a:xfrm>
            <a:off x="481631" y="2737965"/>
            <a:ext cx="1389051" cy="369332"/>
          </a:xfrm>
          <a:prstGeom prst="rect">
            <a:avLst/>
          </a:prstGeom>
          <a:solidFill>
            <a:schemeClr val="accent4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b="1" dirty="0"/>
              <a:t>Text file</a:t>
            </a:r>
            <a:endParaRPr lang="en-GB" b="1" dirty="0"/>
          </a:p>
        </p:txBody>
      </p:sp>
      <p:sp>
        <p:nvSpPr>
          <p:cNvPr id="5" name="Arrow: Right 4">
            <a:extLst>
              <a:ext uri="{FF2B5EF4-FFF2-40B4-BE49-F238E27FC236}">
                <a16:creationId xmlns:a16="http://schemas.microsoft.com/office/drawing/2014/main" id="{DF6AEEA6-635E-8E82-9503-5465F8CC1539}"/>
              </a:ext>
            </a:extLst>
          </p:cNvPr>
          <p:cNvSpPr/>
          <p:nvPr/>
        </p:nvSpPr>
        <p:spPr>
          <a:xfrm>
            <a:off x="1856722" y="2898507"/>
            <a:ext cx="328067" cy="90742"/>
          </a:xfrm>
          <a:prstGeom prst="rightArrow">
            <a:avLst/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1016EF7-D3BD-71DA-16FD-E2A2F5A5EDF1}"/>
              </a:ext>
            </a:extLst>
          </p:cNvPr>
          <p:cNvSpPr txBox="1"/>
          <p:nvPr/>
        </p:nvSpPr>
        <p:spPr>
          <a:xfrm>
            <a:off x="2177809" y="2582321"/>
            <a:ext cx="3075337" cy="646331"/>
          </a:xfrm>
          <a:prstGeom prst="rect">
            <a:avLst/>
          </a:prstGeom>
          <a:solidFill>
            <a:srgbClr val="C000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b="1" dirty="0" err="1">
                <a:solidFill>
                  <a:schemeClr val="bg1"/>
                </a:solidFill>
              </a:rPr>
              <a:t>LlamaIndex</a:t>
            </a:r>
            <a:endParaRPr lang="en-IN" b="1" dirty="0">
              <a:solidFill>
                <a:schemeClr val="bg1"/>
              </a:solidFill>
            </a:endParaRPr>
          </a:p>
          <a:p>
            <a:pPr algn="ctr"/>
            <a:r>
              <a:rPr lang="en-IN" b="1" dirty="0">
                <a:solidFill>
                  <a:schemeClr val="bg1"/>
                </a:solidFill>
              </a:rPr>
              <a:t>Load, Chunk, Embed, Retrieve</a:t>
            </a:r>
            <a:endParaRPr lang="en-GB" b="1" dirty="0">
              <a:solidFill>
                <a:schemeClr val="bg1"/>
              </a:solidFill>
            </a:endParaRPr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9C247523-10A8-D7AF-20D9-E8D15A9B2B88}"/>
              </a:ext>
            </a:extLst>
          </p:cNvPr>
          <p:cNvSpPr/>
          <p:nvPr/>
        </p:nvSpPr>
        <p:spPr>
          <a:xfrm>
            <a:off x="5253146" y="2891527"/>
            <a:ext cx="328067" cy="90742"/>
          </a:xfrm>
          <a:prstGeom prst="rightArrow">
            <a:avLst/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3CC2B6F-2632-0682-F59E-D37628C9133F}"/>
              </a:ext>
            </a:extLst>
          </p:cNvPr>
          <p:cNvSpPr txBox="1"/>
          <p:nvPr/>
        </p:nvSpPr>
        <p:spPr>
          <a:xfrm>
            <a:off x="5574233" y="2575341"/>
            <a:ext cx="3075337" cy="646331"/>
          </a:xfrm>
          <a:prstGeom prst="rect">
            <a:avLst/>
          </a:prstGeom>
          <a:solidFill>
            <a:srgbClr val="C000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b="1" dirty="0" err="1">
                <a:solidFill>
                  <a:schemeClr val="bg1"/>
                </a:solidFill>
              </a:rPr>
              <a:t>ChromaDB</a:t>
            </a:r>
            <a:endParaRPr lang="en-IN" b="1" dirty="0">
              <a:solidFill>
                <a:schemeClr val="bg1"/>
              </a:solidFill>
            </a:endParaRPr>
          </a:p>
          <a:p>
            <a:pPr algn="ctr"/>
            <a:r>
              <a:rPr lang="en-IN" b="1" dirty="0">
                <a:solidFill>
                  <a:schemeClr val="bg1"/>
                </a:solidFill>
              </a:rPr>
              <a:t>Store Vectors, Persist to Disk</a:t>
            </a:r>
            <a:endParaRPr lang="en-GB" b="1" dirty="0">
              <a:solidFill>
                <a:schemeClr val="bg1"/>
              </a:solidFill>
            </a:endParaRPr>
          </a:p>
        </p:txBody>
      </p:sp>
      <p:sp>
        <p:nvSpPr>
          <p:cNvPr id="9" name="Arrow: Right 8">
            <a:extLst>
              <a:ext uri="{FF2B5EF4-FFF2-40B4-BE49-F238E27FC236}">
                <a16:creationId xmlns:a16="http://schemas.microsoft.com/office/drawing/2014/main" id="{43159250-01CC-7A1A-8D7D-2D18082EB080}"/>
              </a:ext>
            </a:extLst>
          </p:cNvPr>
          <p:cNvSpPr/>
          <p:nvPr/>
        </p:nvSpPr>
        <p:spPr>
          <a:xfrm>
            <a:off x="8656550" y="2877260"/>
            <a:ext cx="328067" cy="90742"/>
          </a:xfrm>
          <a:prstGeom prst="rightArrow">
            <a:avLst/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88E1F3F-89B4-9DD0-3DF4-A4BCB0B846EE}"/>
              </a:ext>
            </a:extLst>
          </p:cNvPr>
          <p:cNvSpPr txBox="1"/>
          <p:nvPr/>
        </p:nvSpPr>
        <p:spPr>
          <a:xfrm>
            <a:off x="8988107" y="2575340"/>
            <a:ext cx="1988183" cy="646331"/>
          </a:xfrm>
          <a:prstGeom prst="rect">
            <a:avLst/>
          </a:prstGeom>
          <a:solidFill>
            <a:schemeClr val="accent4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b="1" dirty="0"/>
              <a:t>LLM</a:t>
            </a:r>
          </a:p>
          <a:p>
            <a:pPr algn="ctr"/>
            <a:r>
              <a:rPr lang="en-IN" b="1" dirty="0"/>
              <a:t>Synthetic answer</a:t>
            </a:r>
            <a:endParaRPr lang="en-GB" b="1" dirty="0"/>
          </a:p>
        </p:txBody>
      </p:sp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2AEED734-750C-3732-6E84-8999058A0968}"/>
              </a:ext>
            </a:extLst>
          </p:cNvPr>
          <p:cNvGraphicFramePr>
            <a:graphicFrameLocks noGrp="1"/>
          </p:cNvGraphicFramePr>
          <p:nvPr/>
        </p:nvGraphicFramePr>
        <p:xfrm>
          <a:off x="572954" y="3404283"/>
          <a:ext cx="10515600" cy="1828800"/>
        </p:xfrm>
        <a:graphic>
          <a:graphicData uri="http://schemas.openxmlformats.org/drawingml/2006/table">
            <a:tbl>
              <a:tblPr firstRow="1">
                <a:tableStyleId>{69012ECD-51FC-41F1-AA8D-1B2483CD663E}</a:tableStyleId>
              </a:tblPr>
              <a:tblGrid>
                <a:gridCol w="3782661">
                  <a:extLst>
                    <a:ext uri="{9D8B030D-6E8A-4147-A177-3AD203B41FA5}">
                      <a16:colId xmlns:a16="http://schemas.microsoft.com/office/drawing/2014/main" val="1627635569"/>
                    </a:ext>
                  </a:extLst>
                </a:gridCol>
                <a:gridCol w="6732939">
                  <a:extLst>
                    <a:ext uri="{9D8B030D-6E8A-4147-A177-3AD203B41FA5}">
                      <a16:colId xmlns:a16="http://schemas.microsoft.com/office/drawing/2014/main" val="79260443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/>
                        <a:t>Package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Role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2619613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llama-index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RAG framework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397485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chromadb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Vector database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023675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llama-index-vector-stores-chroma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Adapter between LlamaIndex ↔ Chroma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0842257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openai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/>
                        <a:t>LLM + embeddings backend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2774941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75368624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4E6BAA-E6B1-3997-2789-847EE5FB0D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IN" sz="3600" dirty="0"/>
              <a:t>Cohere (</a:t>
            </a:r>
            <a:r>
              <a:rPr lang="it-IT" sz="3600" dirty="0"/>
              <a:t>C:\code\agenticai\9_general\rag\rag_9_cohere.py)</a:t>
            </a:r>
            <a:endParaRPr lang="en-IN" sz="3600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51A9F98-AEB9-3C2B-CB66-EEAD6494FFA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Cohere is a company that offers LLMs and high-quality embedding/reranking models optimized for search, RAG, and enterprise NLP</a:t>
            </a:r>
          </a:p>
          <a:p>
            <a:r>
              <a:rPr lang="en-US" dirty="0"/>
              <a:t>OpenAI = General-purpose, frontier LLMs</a:t>
            </a:r>
          </a:p>
          <a:p>
            <a:r>
              <a:rPr lang="en-US" dirty="0"/>
              <a:t>Cohere = Enterprise-focused language and embedding models</a:t>
            </a:r>
          </a:p>
          <a:p>
            <a:endParaRPr lang="en-GB" dirty="0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12ABE0ED-4589-CE04-3D31-17BB360DF8C6}"/>
              </a:ext>
            </a:extLst>
          </p:cNvPr>
          <p:cNvGraphicFramePr>
            <a:graphicFrameLocks noGrp="1"/>
          </p:cNvGraphicFramePr>
          <p:nvPr/>
        </p:nvGraphicFramePr>
        <p:xfrm>
          <a:off x="1250029" y="4117340"/>
          <a:ext cx="10616231" cy="2743200"/>
        </p:xfrm>
        <a:graphic>
          <a:graphicData uri="http://schemas.openxmlformats.org/drawingml/2006/table">
            <a:tbl>
              <a:tblPr firstRow="1">
                <a:tableStyleId>{912C8C85-51F0-491E-9774-3900AFEF0FD7}</a:tableStyleId>
              </a:tblPr>
              <a:tblGrid>
                <a:gridCol w="2198166">
                  <a:extLst>
                    <a:ext uri="{9D8B030D-6E8A-4147-A177-3AD203B41FA5}">
                      <a16:colId xmlns:a16="http://schemas.microsoft.com/office/drawing/2014/main" val="3761211305"/>
                    </a:ext>
                  </a:extLst>
                </a:gridCol>
                <a:gridCol w="8418065">
                  <a:extLst>
                    <a:ext uri="{9D8B030D-6E8A-4147-A177-3AD203B41FA5}">
                      <a16:colId xmlns:a16="http://schemas.microsoft.com/office/drawing/2014/main" val="166471719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/>
                        <a:t>Capability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Description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1518653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b="1"/>
                        <a:t>Generate models</a:t>
                      </a:r>
                      <a:endParaRPr lang="en-GB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/>
                        <a:t>Text generation and reasoning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2625478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b="1" dirty="0">
                          <a:solidFill>
                            <a:srgbClr val="FF0000"/>
                          </a:solidFill>
                        </a:rPr>
                        <a:t>Embed models</a:t>
                      </a:r>
                      <a:endParaRPr lang="en-GB" dirty="0">
                        <a:solidFill>
                          <a:srgbClr val="FF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>
                          <a:solidFill>
                            <a:srgbClr val="FF0000"/>
                          </a:solidFill>
                        </a:rPr>
                        <a:t>Convert text → vectors (Best feature), Often outperforms OpenAI embeddings for search, document retrieval, </a:t>
                      </a:r>
                      <a:r>
                        <a:rPr lang="en-GB" dirty="0" err="1">
                          <a:solidFill>
                            <a:srgbClr val="FF0000"/>
                          </a:solidFill>
                        </a:rPr>
                        <a:t>QandA</a:t>
                      </a:r>
                      <a:endParaRPr lang="en-GB" dirty="0">
                        <a:solidFill>
                          <a:srgbClr val="FF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7202108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b="1" dirty="0" err="1">
                          <a:solidFill>
                            <a:srgbClr val="FF0000"/>
                          </a:solidFill>
                        </a:rPr>
                        <a:t>Rerank</a:t>
                      </a:r>
                      <a:r>
                        <a:rPr lang="en-GB" b="1" dirty="0">
                          <a:solidFill>
                            <a:srgbClr val="FF0000"/>
                          </a:solidFill>
                        </a:rPr>
                        <a:t> models</a:t>
                      </a:r>
                      <a:endParaRPr lang="en-GB" dirty="0">
                        <a:solidFill>
                          <a:srgbClr val="FF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>
                          <a:solidFill>
                            <a:srgbClr val="FF0000"/>
                          </a:solidFill>
                        </a:rPr>
                        <a:t>Reorder retrieved documents (Best feature), Takes query and top-k retrieved documents and outputs reordered documents by relevance (Dramatically improves RAG quality)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4960193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b="1"/>
                        <a:t>Classify models</a:t>
                      </a:r>
                      <a:endParaRPr lang="en-GB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Topic / intent classification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6777755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b="1"/>
                        <a:t>Command models</a:t>
                      </a:r>
                      <a:endParaRPr lang="en-GB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/>
                        <a:t>Instruction-following LLMs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9103460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3614655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croll: Vertical 6">
            <a:extLst>
              <a:ext uri="{FF2B5EF4-FFF2-40B4-BE49-F238E27FC236}">
                <a16:creationId xmlns:a16="http://schemas.microsoft.com/office/drawing/2014/main" id="{5C13F327-2010-A5C5-816C-827132B098DB}"/>
              </a:ext>
            </a:extLst>
          </p:cNvPr>
          <p:cNvSpPr/>
          <p:nvPr/>
        </p:nvSpPr>
        <p:spPr>
          <a:xfrm>
            <a:off x="4145628" y="153564"/>
            <a:ext cx="8160381" cy="2929175"/>
          </a:xfrm>
          <a:prstGeom prst="verticalScroll">
            <a:avLst/>
          </a:prstGeom>
          <a:solidFill>
            <a:srgbClr val="FFFF00">
              <a:alpha val="2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3192046-CA27-6AF7-528D-FD6B52EE4F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Agents as Tools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8CCA2F-30F7-5624-44D6-E9396897655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0" y="1825625"/>
            <a:ext cx="4145628" cy="4351338"/>
          </a:xfrm>
        </p:spPr>
        <p:txBody>
          <a:bodyPr>
            <a:normAutofit fontScale="70000" lnSpcReduction="20000"/>
          </a:bodyPr>
          <a:lstStyle/>
          <a:p>
            <a:r>
              <a:rPr lang="en-IN" dirty="0"/>
              <a:t>Idea: OpenAI Agents SDK has a function </a:t>
            </a:r>
            <a:r>
              <a:rPr lang="en-IN" sz="2400" dirty="0" err="1">
                <a:latin typeface="Cascadia Mono Light" panose="020B0609020000020004" pitchFamily="49" charset="0"/>
                <a:cs typeface="Cascadia Mono Light" panose="020B0609020000020004" pitchFamily="49" charset="0"/>
              </a:rPr>
              <a:t>as_tool</a:t>
            </a:r>
            <a:r>
              <a:rPr lang="en-IN" sz="2400" dirty="0">
                <a:latin typeface="Cascadia Mono Light" panose="020B0609020000020004" pitchFamily="49" charset="0"/>
                <a:cs typeface="Cascadia Mono Light" panose="020B0609020000020004" pitchFamily="49" charset="0"/>
              </a:rPr>
              <a:t>()</a:t>
            </a:r>
            <a:r>
              <a:rPr lang="en-IN" dirty="0"/>
              <a:t>, that turns an agent into a callable tool (“Make an agent behave like a function”)</a:t>
            </a:r>
          </a:p>
          <a:p>
            <a:r>
              <a:rPr lang="en-IN" dirty="0"/>
              <a:t>How: Wraps an Agent inside a tool interface</a:t>
            </a:r>
          </a:p>
          <a:p>
            <a:r>
              <a:rPr lang="en-IN" dirty="0"/>
              <a:t>Why: Another agent can use this agent just like any other tool now</a:t>
            </a:r>
          </a:p>
          <a:p>
            <a:r>
              <a:rPr lang="en-IN" dirty="0"/>
              <a:t>Result: </a:t>
            </a:r>
            <a:r>
              <a:rPr lang="en-IN" b="1" dirty="0"/>
              <a:t>Hierarchical agents</a:t>
            </a:r>
            <a:r>
              <a:rPr lang="en-IN" dirty="0"/>
              <a:t> are possible</a:t>
            </a:r>
          </a:p>
          <a:p>
            <a:r>
              <a:rPr lang="en-IN" dirty="0"/>
              <a:t>Example</a:t>
            </a:r>
          </a:p>
          <a:p>
            <a:pPr marL="457200" lvl="1" indent="0">
              <a:buNone/>
            </a:pPr>
            <a:r>
              <a:rPr lang="en-US" dirty="0"/>
              <a:t>Loan Decision Agent</a:t>
            </a:r>
          </a:p>
          <a:p>
            <a:pPr marL="457200" lvl="1" indent="0">
              <a:buNone/>
            </a:pPr>
            <a:r>
              <a:rPr lang="en-US" dirty="0"/>
              <a:t>   ├── Customer Profile Agent (as tool)</a:t>
            </a:r>
          </a:p>
          <a:p>
            <a:pPr marL="457200" lvl="1" indent="0">
              <a:buNone/>
            </a:pPr>
            <a:r>
              <a:rPr lang="en-US" dirty="0"/>
              <a:t>   ├── Risk Evaluation Agent (as tool)</a:t>
            </a:r>
          </a:p>
          <a:p>
            <a:pPr marL="457200" lvl="1" indent="0">
              <a:buNone/>
            </a:pPr>
            <a:r>
              <a:rPr lang="en-US" dirty="0"/>
              <a:t>   └── Policy Rules (prompt)</a:t>
            </a:r>
            <a:endParaRPr lang="en-GB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AB8E700-C1D8-E426-D47B-0AE812A5FFE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039670" y="1825625"/>
            <a:ext cx="6314130" cy="4351338"/>
          </a:xfrm>
        </p:spPr>
        <p:txBody>
          <a:bodyPr>
            <a:normAutofit fontScale="70000" lnSpcReduction="20000"/>
          </a:bodyPr>
          <a:lstStyle/>
          <a:p>
            <a:endParaRPr lang="en-GB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7063FFB-5A08-9BEA-7FAC-170FAB605801}"/>
              </a:ext>
            </a:extLst>
          </p:cNvPr>
          <p:cNvSpPr txBox="1"/>
          <p:nvPr/>
        </p:nvSpPr>
        <p:spPr>
          <a:xfrm>
            <a:off x="5109470" y="1750258"/>
            <a:ext cx="6589264" cy="1200329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sz="1200" b="1" dirty="0" err="1">
                <a:solidFill>
                  <a:srgbClr val="FF0000"/>
                </a:solidFill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customer_profile_agent</a:t>
            </a:r>
            <a:r>
              <a:rPr lang="en-US" sz="1200" b="1" dirty="0"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 = </a:t>
            </a:r>
            <a:r>
              <a:rPr lang="en-US" sz="1200" b="1" dirty="0">
                <a:solidFill>
                  <a:srgbClr val="FF0000"/>
                </a:solidFill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Agent</a:t>
            </a:r>
            <a:r>
              <a:rPr lang="en-US" sz="1200" b="1" dirty="0"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(</a:t>
            </a:r>
          </a:p>
          <a:p>
            <a:r>
              <a:rPr lang="en-US" sz="1200" b="1" dirty="0"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    name="Customer Profile Agent",</a:t>
            </a:r>
          </a:p>
          <a:p>
            <a:r>
              <a:rPr lang="en-US" sz="1200" b="1" dirty="0"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    instructions="You fetch customer financial profile. Return structured information only.",</a:t>
            </a:r>
          </a:p>
          <a:p>
            <a:r>
              <a:rPr lang="en-US" sz="1200" b="1" dirty="0"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    </a:t>
            </a:r>
            <a:r>
              <a:rPr lang="en-US" sz="1200" b="1" dirty="0">
                <a:solidFill>
                  <a:srgbClr val="FF0000"/>
                </a:solidFill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tools=[</a:t>
            </a:r>
            <a:r>
              <a:rPr lang="en-US" sz="1200" b="1" dirty="0" err="1">
                <a:solidFill>
                  <a:srgbClr val="FF0000"/>
                </a:solidFill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get_customer_profile</a:t>
            </a:r>
            <a:r>
              <a:rPr lang="en-US" sz="1200" b="1" dirty="0">
                <a:solidFill>
                  <a:srgbClr val="FF0000"/>
                </a:solidFill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]</a:t>
            </a:r>
            <a:r>
              <a:rPr lang="en-US" sz="1200" b="1" dirty="0"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,</a:t>
            </a:r>
          </a:p>
          <a:p>
            <a:r>
              <a:rPr lang="en-US" sz="1200" b="1" dirty="0"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)</a:t>
            </a:r>
            <a:endParaRPr lang="en-GB" sz="1200" b="1" dirty="0">
              <a:latin typeface="Cascadia Code SemiBold" panose="020B0609020000020004" pitchFamily="49" charset="0"/>
              <a:cs typeface="Cascadia Code SemiBold" panose="020B06090200000200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02FB2D8-028C-841C-DE46-FFFD365BD601}"/>
              </a:ext>
            </a:extLst>
          </p:cNvPr>
          <p:cNvSpPr txBox="1"/>
          <p:nvPr/>
        </p:nvSpPr>
        <p:spPr>
          <a:xfrm>
            <a:off x="5109471" y="681037"/>
            <a:ext cx="6589264" cy="1015663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600" b="1">
                <a:solidFill>
                  <a:schemeClr val="tx1"/>
                </a:solidFill>
                <a:latin typeface="Cascadia Code SemiBold" panose="020B0609020000020004" pitchFamily="49" charset="0"/>
                <a:cs typeface="Cascadia Code SemiBold" panose="020B0609020000020004" pitchFamily="49" charset="0"/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  <a:lvl6pPr>
              <a:defRPr>
                <a:solidFill>
                  <a:schemeClr val="tx1"/>
                </a:solidFill>
              </a:defRPr>
            </a:lvl6pPr>
            <a:lvl7pPr>
              <a:defRPr>
                <a:solidFill>
                  <a:schemeClr val="tx1"/>
                </a:solidFill>
              </a:defRPr>
            </a:lvl7pPr>
            <a:lvl8pPr>
              <a:defRPr>
                <a:solidFill>
                  <a:schemeClr val="tx1"/>
                </a:solidFill>
              </a:defRPr>
            </a:lvl8pPr>
            <a:lvl9pPr>
              <a:defRPr>
                <a:solidFill>
                  <a:schemeClr val="tx1"/>
                </a:solidFill>
              </a:defRPr>
            </a:lvl9pPr>
          </a:lstStyle>
          <a:p>
            <a:r>
              <a:rPr lang="en-US" sz="1200" dirty="0">
                <a:solidFill>
                  <a:srgbClr val="FF0000"/>
                </a:solidFill>
              </a:rPr>
              <a:t>@function_tool</a:t>
            </a:r>
          </a:p>
          <a:p>
            <a:r>
              <a:rPr lang="en-US" sz="1200" dirty="0"/>
              <a:t>def </a:t>
            </a:r>
            <a:r>
              <a:rPr lang="en-US" sz="1200" dirty="0" err="1">
                <a:solidFill>
                  <a:srgbClr val="FF0000"/>
                </a:solidFill>
              </a:rPr>
              <a:t>get_customer_profile</a:t>
            </a:r>
            <a:r>
              <a:rPr lang="en-US" sz="1200" dirty="0"/>
              <a:t>(</a:t>
            </a:r>
            <a:r>
              <a:rPr lang="en-US" sz="1200" dirty="0" err="1"/>
              <a:t>customer_id</a:t>
            </a:r>
            <a:r>
              <a:rPr lang="en-US" sz="1200" dirty="0"/>
              <a:t>: str) -&gt; </a:t>
            </a:r>
            <a:r>
              <a:rPr lang="en-US" sz="1200" dirty="0" err="1"/>
              <a:t>dict</a:t>
            </a:r>
            <a:r>
              <a:rPr lang="en-US" sz="1200" dirty="0"/>
              <a:t>:</a:t>
            </a:r>
          </a:p>
          <a:p>
            <a:r>
              <a:rPr lang="en-US" sz="1200" dirty="0"/>
              <a:t>    """Fetch customer loan and income details."""</a:t>
            </a:r>
          </a:p>
          <a:p>
            <a:r>
              <a:rPr lang="en-US" sz="1200" dirty="0"/>
              <a:t>    profile = </a:t>
            </a:r>
            <a:r>
              <a:rPr lang="en-US" sz="1200" dirty="0" err="1"/>
              <a:t>CUSTOMER_DB.get</a:t>
            </a:r>
            <a:r>
              <a:rPr lang="en-US" sz="1200" dirty="0"/>
              <a:t>(</a:t>
            </a:r>
            <a:r>
              <a:rPr lang="en-US" sz="1200" dirty="0" err="1"/>
              <a:t>customer_id</a:t>
            </a:r>
            <a:r>
              <a:rPr lang="en-US" sz="1200" dirty="0"/>
              <a:t>, {})</a:t>
            </a:r>
          </a:p>
          <a:p>
            <a:r>
              <a:rPr lang="en-US" sz="1200" dirty="0"/>
              <a:t>    …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CF6FEDA-506C-7FF3-BABD-C41CC0C6DB98}"/>
              </a:ext>
            </a:extLst>
          </p:cNvPr>
          <p:cNvSpPr txBox="1"/>
          <p:nvPr/>
        </p:nvSpPr>
        <p:spPr>
          <a:xfrm>
            <a:off x="7051697" y="205816"/>
            <a:ext cx="2704811" cy="369332"/>
          </a:xfrm>
          <a:prstGeom prst="rect">
            <a:avLst/>
          </a:prstGeom>
          <a:solidFill>
            <a:schemeClr val="bg1">
              <a:alpha val="4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IN" b="1" dirty="0">
                <a:solidFill>
                  <a:srgbClr val="7030A0"/>
                </a:solidFill>
              </a:rPr>
              <a:t>Original Agent with a tool</a:t>
            </a:r>
            <a:endParaRPr lang="en-GB" b="1" dirty="0">
              <a:solidFill>
                <a:srgbClr val="7030A0"/>
              </a:solidFill>
            </a:endParaRPr>
          </a:p>
        </p:txBody>
      </p:sp>
      <p:sp>
        <p:nvSpPr>
          <p:cNvPr id="9" name="Callout: Down Arrow 8">
            <a:extLst>
              <a:ext uri="{FF2B5EF4-FFF2-40B4-BE49-F238E27FC236}">
                <a16:creationId xmlns:a16="http://schemas.microsoft.com/office/drawing/2014/main" id="{4F181C97-AB97-B5BF-64DA-1954DE4C88CD}"/>
              </a:ext>
            </a:extLst>
          </p:cNvPr>
          <p:cNvSpPr/>
          <p:nvPr/>
        </p:nvSpPr>
        <p:spPr>
          <a:xfrm>
            <a:off x="4538845" y="3128151"/>
            <a:ext cx="7224458" cy="788757"/>
          </a:xfrm>
          <a:prstGeom prst="downArrowCallout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dirty="0"/>
              <a:t>This itself is now converted into a tool, so that the top-level agent can use it</a:t>
            </a:r>
            <a:endParaRPr lang="en-GB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5EA6336-6A38-EB00-3A9E-7F6B6582554C}"/>
              </a:ext>
            </a:extLst>
          </p:cNvPr>
          <p:cNvSpPr txBox="1"/>
          <p:nvPr/>
        </p:nvSpPr>
        <p:spPr>
          <a:xfrm>
            <a:off x="4248005" y="3962320"/>
            <a:ext cx="7678168" cy="1077218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sz="1600" b="1" dirty="0" err="1">
                <a:solidFill>
                  <a:srgbClr val="FF0000"/>
                </a:solidFill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customer_profile_tool</a:t>
            </a:r>
            <a:r>
              <a:rPr lang="en-US" sz="1600" b="1" dirty="0"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 = </a:t>
            </a:r>
            <a:r>
              <a:rPr lang="en-US" sz="1600" b="1" dirty="0" err="1">
                <a:solidFill>
                  <a:srgbClr val="FF0000"/>
                </a:solidFill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customer_profile_agent</a:t>
            </a:r>
            <a:r>
              <a:rPr lang="en-US" sz="1600" b="1" dirty="0" err="1"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.</a:t>
            </a:r>
            <a:r>
              <a:rPr lang="en-US" sz="1600" dirty="0" err="1">
                <a:solidFill>
                  <a:srgbClr val="FF0000"/>
                </a:solidFill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as_tool</a:t>
            </a:r>
            <a:r>
              <a:rPr lang="en-US" sz="1600" b="1" dirty="0"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(</a:t>
            </a:r>
          </a:p>
          <a:p>
            <a:r>
              <a:rPr lang="en-US" sz="1600" b="1" dirty="0"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    </a:t>
            </a:r>
            <a:r>
              <a:rPr lang="en-US" sz="1600" b="1" dirty="0" err="1">
                <a:solidFill>
                  <a:srgbClr val="FF0000"/>
                </a:solidFill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tool_name</a:t>
            </a:r>
            <a:r>
              <a:rPr lang="en-US" sz="1600" b="1" dirty="0">
                <a:solidFill>
                  <a:srgbClr val="FF0000"/>
                </a:solidFill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="customer-profile"</a:t>
            </a:r>
            <a:r>
              <a:rPr lang="en-US" sz="1600" b="1" dirty="0"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,</a:t>
            </a:r>
          </a:p>
          <a:p>
            <a:r>
              <a:rPr lang="en-US" sz="1600" b="1" dirty="0"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    </a:t>
            </a:r>
            <a:r>
              <a:rPr lang="en-US" sz="1600" b="1" dirty="0" err="1"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tool_description</a:t>
            </a:r>
            <a:r>
              <a:rPr lang="en-US" sz="1600" b="1" dirty="0"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="Fetch customer loan and income details",</a:t>
            </a:r>
          </a:p>
          <a:p>
            <a:r>
              <a:rPr lang="en-US" sz="1600" b="1" dirty="0"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3512704-511E-F2BE-4ED9-FAF59E72D348}"/>
              </a:ext>
            </a:extLst>
          </p:cNvPr>
          <p:cNvSpPr txBox="1"/>
          <p:nvPr/>
        </p:nvSpPr>
        <p:spPr>
          <a:xfrm>
            <a:off x="6925476" y="5656393"/>
            <a:ext cx="5000697" cy="1077218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GB" sz="1600" b="1" dirty="0" err="1">
                <a:solidFill>
                  <a:schemeClr val="bg1"/>
                </a:solidFill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loan_decision_agent</a:t>
            </a:r>
            <a:r>
              <a:rPr lang="en-GB" sz="1600" b="1" dirty="0">
                <a:solidFill>
                  <a:schemeClr val="bg1"/>
                </a:solidFill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 = Agent(</a:t>
            </a:r>
          </a:p>
          <a:p>
            <a:r>
              <a:rPr lang="en-GB" sz="1600" b="1" dirty="0">
                <a:solidFill>
                  <a:schemeClr val="bg1"/>
                </a:solidFill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	name="Loan Decision Agent", …</a:t>
            </a:r>
          </a:p>
          <a:p>
            <a:r>
              <a:rPr lang="en-GB" sz="1600" b="1" dirty="0">
                <a:solidFill>
                  <a:schemeClr val="bg1"/>
                </a:solidFill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	tools=[</a:t>
            </a:r>
            <a:r>
              <a:rPr lang="en-GB" sz="1600" b="1" dirty="0" err="1">
                <a:solidFill>
                  <a:schemeClr val="bg1"/>
                </a:solidFill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customer_profile_tool</a:t>
            </a:r>
            <a:r>
              <a:rPr lang="en-GB" sz="1600" b="1" dirty="0">
                <a:solidFill>
                  <a:schemeClr val="bg1"/>
                </a:solidFill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]</a:t>
            </a:r>
          </a:p>
          <a:p>
            <a:r>
              <a:rPr lang="en-GB" sz="1600" b="1" dirty="0">
                <a:solidFill>
                  <a:schemeClr val="bg1"/>
                </a:solidFill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)</a:t>
            </a:r>
          </a:p>
        </p:txBody>
      </p:sp>
      <p:sp>
        <p:nvSpPr>
          <p:cNvPr id="13" name="Callout: Up Arrow 12">
            <a:extLst>
              <a:ext uri="{FF2B5EF4-FFF2-40B4-BE49-F238E27FC236}">
                <a16:creationId xmlns:a16="http://schemas.microsoft.com/office/drawing/2014/main" id="{A7D4EFF5-F430-7C0C-28F7-16832C5EED39}"/>
              </a:ext>
            </a:extLst>
          </p:cNvPr>
          <p:cNvSpPr/>
          <p:nvPr/>
        </p:nvSpPr>
        <p:spPr>
          <a:xfrm>
            <a:off x="8809829" y="5039538"/>
            <a:ext cx="725936" cy="572505"/>
          </a:xfrm>
          <a:prstGeom prst="upArrowCallout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dirty="0"/>
              <a:t>Uses</a:t>
            </a:r>
            <a:endParaRPr lang="en-GB" dirty="0"/>
          </a:p>
        </p:txBody>
      </p:sp>
      <p:sp>
        <p:nvSpPr>
          <p:cNvPr id="14" name="Speech Bubble: Rectangle with Corners Rounded 13">
            <a:extLst>
              <a:ext uri="{FF2B5EF4-FFF2-40B4-BE49-F238E27FC236}">
                <a16:creationId xmlns:a16="http://schemas.microsoft.com/office/drawing/2014/main" id="{E4EC204E-BB63-F8DC-F8DF-ED0812B83A77}"/>
              </a:ext>
            </a:extLst>
          </p:cNvPr>
          <p:cNvSpPr/>
          <p:nvPr/>
        </p:nvSpPr>
        <p:spPr>
          <a:xfrm>
            <a:off x="3070685" y="5475398"/>
            <a:ext cx="3748924" cy="1403129"/>
          </a:xfrm>
          <a:prstGeom prst="wedgeRoundRectCallout">
            <a:avLst>
              <a:gd name="adj1" fmla="val 23697"/>
              <a:gd name="adj2" fmla="val -76916"/>
              <a:gd name="adj3" fmla="val 16667"/>
            </a:avLst>
          </a:prstGeom>
          <a:solidFill>
            <a:schemeClr val="accent2">
              <a:lumMod val="75000"/>
            </a:schemeClr>
          </a:solidFill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400" b="1" dirty="0" err="1"/>
              <a:t>Customer_profile_tool</a:t>
            </a:r>
            <a:r>
              <a:rPr lang="en-IN" sz="1400" b="1" dirty="0"/>
              <a:t> = Python variable, wraps the tool</a:t>
            </a:r>
          </a:p>
          <a:p>
            <a:pPr algn="ctr"/>
            <a:endParaRPr lang="en-IN" sz="1400" b="1" dirty="0"/>
          </a:p>
          <a:p>
            <a:pPr algn="ctr"/>
            <a:r>
              <a:rPr lang="en-IN" sz="1400" b="1" dirty="0"/>
              <a:t>customer-profile  = Identifier exposed to OpenAI, used when the LLM decides to make a tool call</a:t>
            </a:r>
            <a:endParaRPr lang="en-GB" sz="1400" b="1" dirty="0"/>
          </a:p>
        </p:txBody>
      </p:sp>
    </p:spTree>
    <p:extLst>
      <p:ext uri="{BB962C8B-B14F-4D97-AF65-F5344CB8AC3E}">
        <p14:creationId xmlns:p14="http://schemas.microsoft.com/office/powerpoint/2010/main" val="289719043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1053</TotalTime>
  <Words>13519</Words>
  <Application>Microsoft Office PowerPoint</Application>
  <PresentationFormat>Widescreen</PresentationFormat>
  <Paragraphs>2208</Paragraphs>
  <Slides>120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120</vt:i4>
      </vt:variant>
    </vt:vector>
  </HeadingPairs>
  <TitlesOfParts>
    <vt:vector size="131" baseType="lpstr">
      <vt:lpstr>Arial</vt:lpstr>
      <vt:lpstr>Calibri</vt:lpstr>
      <vt:lpstr>Calibri Light</vt:lpstr>
      <vt:lpstr>Cambria Math</vt:lpstr>
      <vt:lpstr>Cascadia Code</vt:lpstr>
      <vt:lpstr>Cascadia Code SemiBold</vt:lpstr>
      <vt:lpstr>Cascadia Mono</vt:lpstr>
      <vt:lpstr>Cascadia Mono Light</vt:lpstr>
      <vt:lpstr>Cascadia Mono SemiBold</vt:lpstr>
      <vt:lpstr>Courier New</vt:lpstr>
      <vt:lpstr>Office Theme</vt:lpstr>
      <vt:lpstr>Agentic AI</vt:lpstr>
      <vt:lpstr>Module 1: Agentic AI Fundamentals and LLM Access</vt:lpstr>
      <vt:lpstr>AI Agent</vt:lpstr>
      <vt:lpstr>Real World Need of AI Agents</vt:lpstr>
      <vt:lpstr>Traditional, Generative, Agentic AI</vt:lpstr>
      <vt:lpstr>Agent Types</vt:lpstr>
      <vt:lpstr>Summary: Agent Types</vt:lpstr>
      <vt:lpstr>Foundational Components of an AI Agent</vt:lpstr>
      <vt:lpstr>Industry Trends</vt:lpstr>
      <vt:lpstr>Hands-on: Directly Accessing LLMs </vt:lpstr>
      <vt:lpstr>Using LLMs: OpenAI</vt:lpstr>
      <vt:lpstr>Building the First Agent</vt:lpstr>
      <vt:lpstr>Building the First Agent</vt:lpstr>
      <vt:lpstr>Hugging Face</vt:lpstr>
      <vt:lpstr>Hugging Face</vt:lpstr>
      <vt:lpstr>Using LLMs: Hugging Face</vt:lpstr>
      <vt:lpstr>Creating a Simple Utility Agent Using OpenAI API (No Frameworks)</vt:lpstr>
      <vt:lpstr>Building a Multi-Assistant Agent Step-by-Step</vt:lpstr>
      <vt:lpstr>Building a Multi-Assistant Agent Step-by-Step</vt:lpstr>
      <vt:lpstr>Building a Multi-Assistant Agent Step-by-Step</vt:lpstr>
      <vt:lpstr>Building a Multi-Assistant Agent Step-by-Step</vt:lpstr>
      <vt:lpstr>Building a Multi-Assistant Agent Step-by-Step</vt:lpstr>
      <vt:lpstr>Building a Multi-Assistant Agent Step-by-Step</vt:lpstr>
      <vt:lpstr>Building a Multi-Assistant Agent Step-by-Step</vt:lpstr>
      <vt:lpstr>Building a Mult-Assistant Agent Step-by-Step</vt:lpstr>
      <vt:lpstr>asyncio in Python</vt:lpstr>
      <vt:lpstr>asyncio Code Example</vt:lpstr>
      <vt:lpstr>Module 2: LangChain</vt:lpstr>
      <vt:lpstr>LangChain</vt:lpstr>
      <vt:lpstr>Evolution of Approaches to Work with LLMs</vt:lpstr>
      <vt:lpstr>Comparison of the Approaches</vt:lpstr>
      <vt:lpstr>LangChain and LangGraph</vt:lpstr>
      <vt:lpstr>Code Examples (C:\code\agenticai_realpage\module_2)</vt:lpstr>
      <vt:lpstr>Loaders in LangChain</vt:lpstr>
      <vt:lpstr>LangChain Embeddings –  RAG and Vector Databases</vt:lpstr>
      <vt:lpstr>What is RAG?</vt:lpstr>
      <vt:lpstr>Agentic RAG</vt:lpstr>
      <vt:lpstr>Embedding and Vector</vt:lpstr>
      <vt:lpstr>2D Vector Embeddings Example</vt:lpstr>
      <vt:lpstr>Cosine Similarity</vt:lpstr>
      <vt:lpstr>Euclidean Distance</vt:lpstr>
      <vt:lpstr>Why Cosine Similarity is Better in NLP?</vt:lpstr>
      <vt:lpstr>Euclidean Distance vs Cosine Distance</vt:lpstr>
      <vt:lpstr>Code Examples</vt:lpstr>
      <vt:lpstr>Embedding Models</vt:lpstr>
      <vt:lpstr>Vector Databases</vt:lpstr>
      <vt:lpstr>Vector Database (Code: C:\code\agenticai_realpage\module_2\2_langchain_vector_db_chroma.py )</vt:lpstr>
      <vt:lpstr>Chains</vt:lpstr>
      <vt:lpstr>LCEL</vt:lpstr>
      <vt:lpstr>Runnables and LCEL</vt:lpstr>
      <vt:lpstr>LangServe</vt:lpstr>
      <vt:lpstr>LangServe: How to Use?</vt:lpstr>
      <vt:lpstr>Build a Q&amp;A Bot from PDFs</vt:lpstr>
      <vt:lpstr>Chroma Versus FAISS</vt:lpstr>
      <vt:lpstr>Module 3: LangGraph for Stateful Agents and HITL</vt:lpstr>
      <vt:lpstr>LangChain versus LangGraph</vt:lpstr>
      <vt:lpstr>LangGraph:  Key Components</vt:lpstr>
      <vt:lpstr>First LangGraph Application (3_1_langgraph_basic.py)</vt:lpstr>
      <vt:lpstr>First LangGraph Application (3_1_langgraph_basic.py)</vt:lpstr>
      <vt:lpstr>First LangGraph Application (3_1_langgraph_basic.py)</vt:lpstr>
      <vt:lpstr>First LangGraph Application (3_1_langgraph_basic.py)</vt:lpstr>
      <vt:lpstr>LangGraph Reducer  (3_2_langgraph_without_reducer.py, 3_3_langgraph_without_reducer.py)</vt:lpstr>
      <vt:lpstr>Using Reducer with LLM</vt:lpstr>
      <vt:lpstr>Looping in LangGraph (3_5_langgraph_loop.py)</vt:lpstr>
      <vt:lpstr>LangGraph Looping Patterns</vt:lpstr>
      <vt:lpstr>Human Control and Override Workflows</vt:lpstr>
      <vt:lpstr>Human In The Loop (HITL) Pattern</vt:lpstr>
      <vt:lpstr>Human In The Loop (HITL) Pattern</vt:lpstr>
      <vt:lpstr>LangGraph Memory Options</vt:lpstr>
      <vt:lpstr>Memory Details</vt:lpstr>
      <vt:lpstr>Memory: Bank Example</vt:lpstr>
      <vt:lpstr>Guardrails</vt:lpstr>
      <vt:lpstr>Module 4: OpenAI Agents SDK</vt:lpstr>
      <vt:lpstr>1) OpenAI API</vt:lpstr>
      <vt:lpstr>Basic Terms</vt:lpstr>
      <vt:lpstr>OpenAI API</vt:lpstr>
      <vt:lpstr>OpenAI API Comparison – Part 1</vt:lpstr>
      <vt:lpstr>OpenAI API Comparison – Part 2</vt:lpstr>
      <vt:lpstr>1.1) OpenAI Chat Completions API</vt:lpstr>
      <vt:lpstr>Chat Completions API</vt:lpstr>
      <vt:lpstr>Temperature Ranges</vt:lpstr>
      <vt:lpstr>Chat Completions API: Constructing messages</vt:lpstr>
      <vt:lpstr>Syntax Explanation</vt:lpstr>
      <vt:lpstr>Chat Completions API (What We Used)</vt:lpstr>
      <vt:lpstr>Now Using Open Source LLM</vt:lpstr>
      <vt:lpstr>Same Example Using Google Gemini LLM</vt:lpstr>
      <vt:lpstr>1.2) OpenAI Responses API</vt:lpstr>
      <vt:lpstr>OpenAI Responses API – The Basics</vt:lpstr>
      <vt:lpstr>Understanding Code Differences</vt:lpstr>
      <vt:lpstr>Using OpenAI Responses API</vt:lpstr>
      <vt:lpstr>Structured Output with Pydantic</vt:lpstr>
      <vt:lpstr>Tools</vt:lpstr>
      <vt:lpstr>Tool Calling</vt:lpstr>
      <vt:lpstr>2) OpenAI Agents API</vt:lpstr>
      <vt:lpstr>Agents API</vt:lpstr>
      <vt:lpstr>Agents API Basics</vt:lpstr>
      <vt:lpstr>OpenAI Agents SDK</vt:lpstr>
      <vt:lpstr>Agents API: Sync or Async?</vt:lpstr>
      <vt:lpstr>Sync versus Async: Sample Code</vt:lpstr>
      <vt:lpstr>First Agent SDK Example (Sync Approach)</vt:lpstr>
      <vt:lpstr>asyncio in Python</vt:lpstr>
      <vt:lpstr>asyncio Code Example</vt:lpstr>
      <vt:lpstr>Sync Versus Async Processing in Agents</vt:lpstr>
      <vt:lpstr>Design Patterns Using Agents API</vt:lpstr>
      <vt:lpstr>Tool Use Pattern</vt:lpstr>
      <vt:lpstr>Planning Pattern</vt:lpstr>
      <vt:lpstr>ReAct Pattern</vt:lpstr>
      <vt:lpstr>Reflection  Pattern</vt:lpstr>
      <vt:lpstr>ReAct Verus Reflection</vt:lpstr>
      <vt:lpstr>ReWOO Pattern</vt:lpstr>
      <vt:lpstr>Multi-agent Pattern</vt:lpstr>
      <vt:lpstr>PowerPoint Presentation</vt:lpstr>
      <vt:lpstr>Function (Tool) Calling Workflow</vt:lpstr>
      <vt:lpstr>Tool Workflow</vt:lpstr>
      <vt:lpstr>Function (Tool) Calling</vt:lpstr>
      <vt:lpstr>LlamaIndex (C:\code\agenticai\9_general\rag\rag_7_llamaindex.py)</vt:lpstr>
      <vt:lpstr>ChromaDB Versus LlamaIndex</vt:lpstr>
      <vt:lpstr>Combining LlamaIndex and ChromaDB</vt:lpstr>
      <vt:lpstr>Cohere (C:\code\agenticai\9_general\rag\rag_9_cohere.py)</vt:lpstr>
      <vt:lpstr>Agents as Tools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Atul Kahate</dc:creator>
  <cp:lastModifiedBy>Atul Kahate</cp:lastModifiedBy>
  <cp:revision>27</cp:revision>
  <dcterms:created xsi:type="dcterms:W3CDTF">2026-01-14T06:51:35Z</dcterms:created>
  <dcterms:modified xsi:type="dcterms:W3CDTF">2026-01-26T08:19:17Z</dcterms:modified>
</cp:coreProperties>
</file>